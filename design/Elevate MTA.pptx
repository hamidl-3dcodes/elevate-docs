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23"/>
  </p:notesMasterIdLst>
  <p:sldIdLst>
    <p:sldId id="418" r:id="rId2"/>
    <p:sldId id="422" r:id="rId3"/>
    <p:sldId id="423" r:id="rId4"/>
    <p:sldId id="424" r:id="rId5"/>
    <p:sldId id="425" r:id="rId6"/>
    <p:sldId id="426" r:id="rId7"/>
    <p:sldId id="419" r:id="rId8"/>
    <p:sldId id="417" r:id="rId9"/>
    <p:sldId id="360" r:id="rId10"/>
    <p:sldId id="375" r:id="rId11"/>
    <p:sldId id="383" r:id="rId12"/>
    <p:sldId id="409" r:id="rId13"/>
    <p:sldId id="408" r:id="rId14"/>
    <p:sldId id="402" r:id="rId15"/>
    <p:sldId id="403" r:id="rId16"/>
    <p:sldId id="384" r:id="rId17"/>
    <p:sldId id="387" r:id="rId18"/>
    <p:sldId id="382" r:id="rId19"/>
    <p:sldId id="416" r:id="rId20"/>
    <p:sldId id="385" r:id="rId21"/>
    <p:sldId id="39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8310D1-520F-E340-9DC9-983DD70B5F84}">
          <p14:sldIdLst>
            <p14:sldId id="418"/>
            <p14:sldId id="422"/>
            <p14:sldId id="423"/>
            <p14:sldId id="424"/>
            <p14:sldId id="425"/>
            <p14:sldId id="426"/>
            <p14:sldId id="419"/>
            <p14:sldId id="417"/>
            <p14:sldId id="360"/>
            <p14:sldId id="375"/>
            <p14:sldId id="383"/>
            <p14:sldId id="409"/>
            <p14:sldId id="408"/>
            <p14:sldId id="402"/>
            <p14:sldId id="403"/>
            <p14:sldId id="384"/>
            <p14:sldId id="387"/>
            <p14:sldId id="382"/>
            <p14:sldId id="416"/>
            <p14:sldId id="385"/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2FD"/>
    <a:srgbClr val="B9AE30"/>
    <a:srgbClr val="B8AC2F"/>
    <a:srgbClr val="FDBCDA"/>
    <a:srgbClr val="FDD0E7"/>
    <a:srgbClr val="F8CEFD"/>
    <a:srgbClr val="A0C0E1"/>
    <a:srgbClr val="6BA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56"/>
    <p:restoredTop sz="96827"/>
  </p:normalViewPr>
  <p:slideViewPr>
    <p:cSldViewPr snapToGrid="0" snapToObjects="1">
      <p:cViewPr varScale="1">
        <p:scale>
          <a:sx n="113" d="100"/>
          <a:sy n="113" d="100"/>
        </p:scale>
        <p:origin x="336" y="4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3B5E4-7B7D-514D-B202-4AAF6B51BB93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4701D-FC48-104F-98C6-7719D862D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9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754F-93B5-BF61-A675-AF3CDDAF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D9F1A-CB1D-E407-E719-A922C9FBD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F4421-679F-DA3B-A1C7-B6BD1EEF1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D7096-D071-6A81-9241-21D1718D3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49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4CC1-A4CE-DCEC-4FC8-E890876D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35736-84AE-937A-2722-23313A796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4363A-6C4B-F236-73A1-E0F59D446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CCFBB-B99E-FCD8-123A-B302EC4BF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25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EA154-795E-B390-47D6-F8B80B7E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0F480-5983-1E84-5397-6BBEE260C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DCE08-90DE-E640-08FF-24D8C899B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EE1D3-9108-BF5B-CDB8-D14E90AD2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43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7BA37-9338-55DF-A474-EF82B708F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83919-86A2-92E0-EF18-695FFCB14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41D43-CF22-E84F-E2AC-2E3DC6030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11ACF-B422-76EE-EB8A-B5ECE0070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73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5F78-801C-F968-B877-B82826CF9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25969-08EE-6FCB-AD31-D0244AF31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6BCEA-DCC4-0E66-43A6-1735A0BB5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0B36D-D553-3D04-DEC7-E7395CE9D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58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1271-824C-890C-B0BF-D2EE759D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8AEFF-DEF6-C399-4848-6CA2007C3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E8ED5-3DEC-14AB-197F-CCBCFD909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A9203-A76F-AEF2-C857-9CD374819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91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2EA3E-44B3-DFDE-87D8-2C517A448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41983-9E0F-4654-F684-99B78F3EC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88D24-43F5-658A-2691-C93EB0EBF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DD166-9D04-1F13-4CC2-2F162372B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42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4E658-0DF4-BAA0-7A29-BF325315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CFFFF-B8CB-1F2F-64ED-F8B2436A9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6BF17-EB3C-F24B-83F3-99F14149D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18459-60B5-E9E3-D707-FCD55146E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42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C49C-EC36-3AE8-28BA-02A9DECD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50279-7968-969B-662A-216E157C9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D38D4-3320-F02E-E5B5-C59026811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1D786-2B77-CA54-83B6-EF460F40E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88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3B176-2ABE-EBC3-B145-1756D6CE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A8C74-DA66-48A5-B87B-4E73D843A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B930D-C8FC-614A-AFEC-5D8A97E98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FEB52-3BFB-6770-F7D8-B3B5FD8B8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54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5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5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1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0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5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9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5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3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661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88" r:id="rId2"/>
    <p:sldLayoutId id="2147483690" r:id="rId3"/>
    <p:sldLayoutId id="2147483691" r:id="rId4"/>
    <p:sldLayoutId id="2147483692" r:id="rId5"/>
    <p:sldLayoutId id="2147483693" r:id="rId6"/>
    <p:sldLayoutId id="2147483698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3" Type="http://schemas.openxmlformats.org/officeDocument/2006/relationships/image" Target="../media/image8.svg"/><Relationship Id="rId21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23" Type="http://schemas.openxmlformats.org/officeDocument/2006/relationships/image" Target="../media/image28.sv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mplify.aws/nextjs/build-a-backend/data/set-up-data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DF68-2E8C-F1C6-7A74-62D065FB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282" y="1249679"/>
            <a:ext cx="10450629" cy="823912"/>
          </a:xfrm>
        </p:spPr>
        <p:txBody>
          <a:bodyPr/>
          <a:lstStyle/>
          <a:p>
            <a:r>
              <a:rPr lang="en-GB" dirty="0"/>
              <a:t>Multi-tenancy vs White-labelling -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51C4F-D05C-C266-FACC-AD0C84726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Multi-tenancy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A89C9-0F82-737F-3967-FE216B4F4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5" y="3115949"/>
            <a:ext cx="5220233" cy="307371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Security &amp; data boundary</a:t>
            </a:r>
          </a:p>
          <a:p>
            <a:r>
              <a:rPr lang="en-GB" dirty="0"/>
              <a:t>Run many businesses on one platform</a:t>
            </a:r>
          </a:p>
          <a:p>
            <a:r>
              <a:rPr lang="en-GB" dirty="0"/>
              <a:t>Ensures isolation of platform customers</a:t>
            </a:r>
          </a:p>
          <a:p>
            <a:r>
              <a:rPr lang="en-GB" dirty="0"/>
              <a:t>Shared infrastructure + scalability</a:t>
            </a:r>
          </a:p>
          <a:p>
            <a:r>
              <a:rPr lang="en-GB" dirty="0"/>
              <a:t>Who is allowed to see/do what?</a:t>
            </a:r>
          </a:p>
          <a:p>
            <a:r>
              <a:rPr lang="en-GB" dirty="0"/>
              <a:t>Tenant aware services </a:t>
            </a:r>
          </a:p>
          <a:p>
            <a:r>
              <a:rPr lang="en-GB" dirty="0"/>
              <a:t>Operational separation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8F062-C6BB-2B1F-8958-E1E177A16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White-labelling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3B54EB-BAE1-9196-AAA9-6302FF21C7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112348" cy="307371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Brand and experience boundary</a:t>
            </a:r>
          </a:p>
          <a:p>
            <a:r>
              <a:rPr lang="en-GB" dirty="0"/>
              <a:t>Businesses present the platform as their own </a:t>
            </a:r>
          </a:p>
          <a:p>
            <a:r>
              <a:rPr lang="en-GB" dirty="0"/>
              <a:t>Ensures isolation of brands at runtime</a:t>
            </a:r>
          </a:p>
          <a:p>
            <a:r>
              <a:rPr lang="en-GB" dirty="0"/>
              <a:t>Capabilities presented differently</a:t>
            </a:r>
          </a:p>
          <a:p>
            <a:r>
              <a:rPr lang="en-GB" dirty="0"/>
              <a:t>Configurable product look &amp; feel</a:t>
            </a:r>
          </a:p>
          <a:p>
            <a:r>
              <a:rPr lang="en-GB" dirty="0"/>
              <a:t>Brand identity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29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F2EB5-E720-3E11-A212-96B9EC86C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A03B-C5A2-BCFE-3820-27A0D61C7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Elevate core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EC62D-DD89-C8CD-D05D-11B839797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Wallets &amp; Accounts</a:t>
            </a:r>
          </a:p>
          <a:p>
            <a:r>
              <a:rPr lang="en-GB" dirty="0"/>
              <a:t>Double-entry accounting</a:t>
            </a:r>
          </a:p>
          <a:p>
            <a:r>
              <a:rPr lang="en-GB" dirty="0"/>
              <a:t>Payments and transfers</a:t>
            </a:r>
          </a:p>
          <a:p>
            <a:r>
              <a:rPr lang="en-GB" dirty="0"/>
              <a:t>FX &amp; fees</a:t>
            </a:r>
          </a:p>
          <a:p>
            <a:r>
              <a:rPr lang="en-GB" dirty="0"/>
              <a:t>Reconciliation &amp; reporting</a:t>
            </a:r>
          </a:p>
          <a:p>
            <a:r>
              <a:rPr lang="en-GB" dirty="0"/>
              <a:t>Operational portal</a:t>
            </a:r>
          </a:p>
          <a:p>
            <a:r>
              <a:rPr lang="en-GB" dirty="0"/>
              <a:t>Compliance &amp; audit</a:t>
            </a:r>
          </a:p>
          <a:p>
            <a:r>
              <a:rPr lang="en-GB" i="1" dirty="0"/>
              <a:t>Card authorisation &amp; settlement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E5D9C7-9FEE-7F83-8573-6914BED42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845" y="393481"/>
            <a:ext cx="7772400" cy="93734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95A8A81-F658-D63E-0D2B-568958EAFC28}"/>
              </a:ext>
            </a:extLst>
          </p:cNvPr>
          <p:cNvSpPr txBox="1">
            <a:spLocks/>
          </p:cNvSpPr>
          <p:nvPr/>
        </p:nvSpPr>
        <p:spPr>
          <a:xfrm>
            <a:off x="5462473" y="3672167"/>
            <a:ext cx="5201481" cy="7438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FF0000"/>
                </a:solidFill>
              </a:rPr>
              <a:t>Elevate is single-tenant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6FC8A7-22FD-C5F9-BAC6-682668B08F92}"/>
              </a:ext>
            </a:extLst>
          </p:cNvPr>
          <p:cNvSpPr txBox="1">
            <a:spLocks/>
          </p:cNvSpPr>
          <p:nvPr/>
        </p:nvSpPr>
        <p:spPr>
          <a:xfrm>
            <a:off x="5387496" y="4415997"/>
            <a:ext cx="5201481" cy="2289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One logical customer base</a:t>
            </a:r>
          </a:p>
          <a:p>
            <a:r>
              <a:rPr lang="en-GB" dirty="0"/>
              <a:t>One general ledger</a:t>
            </a:r>
          </a:p>
          <a:p>
            <a:r>
              <a:rPr lang="en-GB" dirty="0"/>
              <a:t>One operational boundary</a:t>
            </a:r>
          </a:p>
          <a:p>
            <a:r>
              <a:rPr lang="en-GB" dirty="0"/>
              <a:t>One brand</a:t>
            </a:r>
          </a:p>
          <a:p>
            <a:r>
              <a:rPr lang="en-GB" dirty="0"/>
              <a:t>Implicit EMI (Frontier Pay)</a:t>
            </a:r>
          </a:p>
        </p:txBody>
      </p:sp>
    </p:spTree>
    <p:extLst>
      <p:ext uri="{BB962C8B-B14F-4D97-AF65-F5344CB8AC3E}">
        <p14:creationId xmlns:p14="http://schemas.microsoft.com/office/powerpoint/2010/main" val="2498021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BEAA1-6BD1-BE70-45A6-C27DAAFD3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610D-DA2A-98D9-6542-4F4E78FF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Multi-tenancy = Single-tenancy 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847DB-9F43-4A0D-50C2-BD9A92F18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Explicit tenant identity</a:t>
            </a:r>
          </a:p>
          <a:p>
            <a:r>
              <a:rPr lang="en-GB" dirty="0"/>
              <a:t>Tenant aware authorisation</a:t>
            </a:r>
          </a:p>
          <a:p>
            <a:r>
              <a:rPr lang="en-GB" dirty="0"/>
              <a:t>Hard isolation</a:t>
            </a:r>
          </a:p>
          <a:p>
            <a:r>
              <a:rPr lang="en-GB" dirty="0"/>
              <a:t>Per tenant reporting</a:t>
            </a:r>
          </a:p>
          <a:p>
            <a:r>
              <a:rPr lang="en-GB" dirty="0"/>
              <a:t>Auditable separation of customer data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8FE111-6CBA-B896-CAC8-8444664D9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489" y="360461"/>
            <a:ext cx="7772400" cy="51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4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2723F-34D9-AB1C-1418-E2B574B79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1AE3-6D50-1F46-1B2E-0C092FAF3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8043333" cy="1325563"/>
          </a:xfrm>
        </p:spPr>
        <p:txBody>
          <a:bodyPr>
            <a:normAutofit/>
          </a:bodyPr>
          <a:lstStyle/>
          <a:p>
            <a:r>
              <a:rPr lang="en-GB" dirty="0"/>
              <a:t>White-Labelling = Multi-Tenancy 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9D8D0-F099-17DD-6DCE-9B98F202D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Brand identity</a:t>
            </a:r>
          </a:p>
          <a:p>
            <a:r>
              <a:rPr lang="en-GB" dirty="0"/>
              <a:t>Domain &amp; routing</a:t>
            </a:r>
          </a:p>
          <a:p>
            <a:r>
              <a:rPr lang="en-GB" dirty="0"/>
              <a:t>Brand specific communication</a:t>
            </a:r>
          </a:p>
          <a:p>
            <a:r>
              <a:rPr lang="en-GB" dirty="0"/>
              <a:t>Brand specific product packaging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E7F17-4EDC-68B3-C7C8-2CB2DE7DE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534" y="422128"/>
            <a:ext cx="7772400" cy="51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46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C3599-60D7-2011-6C39-FEF21B84B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09D6-1B62-C721-48DD-54CB9FEBE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52" y="169334"/>
            <a:ext cx="7685037" cy="830856"/>
          </a:xfrm>
        </p:spPr>
        <p:txBody>
          <a:bodyPr>
            <a:normAutofit/>
          </a:bodyPr>
          <a:lstStyle/>
          <a:p>
            <a:r>
              <a:rPr lang="en-GB" dirty="0"/>
              <a:t>Migration roadmap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CF8378-2423-CED7-998B-C29526309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5" y="1878477"/>
            <a:ext cx="11999250" cy="91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93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4562A-8F89-C2D1-9595-9939B488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7823-D3D8-9D1C-17AA-03224B4F1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52" y="169334"/>
            <a:ext cx="7685037" cy="830856"/>
          </a:xfrm>
        </p:spPr>
        <p:txBody>
          <a:bodyPr>
            <a:normAutofit/>
          </a:bodyPr>
          <a:lstStyle/>
          <a:p>
            <a:r>
              <a:rPr lang="en-GB" dirty="0"/>
              <a:t>Detailed milestone breakdown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3AF0F0-D136-B69F-A314-6CD14AA28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643000"/>
              </p:ext>
            </p:extLst>
          </p:nvPr>
        </p:nvGraphicFramePr>
        <p:xfrm>
          <a:off x="383822" y="1148643"/>
          <a:ext cx="8128000" cy="380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4581925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83310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Effort (person –days)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531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Discovery &amp;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5-7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81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Tenant Identity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410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Tenant-aware authorisation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5-7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309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Tenant-partitioned schema &amp; migrations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02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Enforced isolation (GraphQL + services)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10-14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288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Multi-tenant readiness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5-7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330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Brand layer (domain-&gt;brand-&gt;tenant)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5-7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225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White-labelling (UI, comms, packaging)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52902"/>
                  </a:ext>
                </a:extLst>
              </a:tr>
              <a:tr h="469618">
                <a:tc>
                  <a:txBody>
                    <a:bodyPr/>
                    <a:lstStyle/>
                    <a:p>
                      <a:r>
                        <a:rPr lang="en-GB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56-79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245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42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D86E9-C3CE-AB0E-12CD-D548A8BA6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CB4C-5762-9E74-F3C5-828E2FC8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5487"/>
            <a:ext cx="10450629" cy="823912"/>
          </a:xfrm>
        </p:spPr>
        <p:txBody>
          <a:bodyPr>
            <a:normAutofit fontScale="90000"/>
          </a:bodyPr>
          <a:lstStyle/>
          <a:p>
            <a:r>
              <a:rPr lang="en-GB" dirty="0"/>
              <a:t>Multi-tenancy vs White-labelling - Dimensions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B9A1545-9E75-0F5F-06DE-D8B9C8955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153464"/>
              </p:ext>
            </p:extLst>
          </p:nvPr>
        </p:nvGraphicFramePr>
        <p:xfrm>
          <a:off x="544844" y="1724501"/>
          <a:ext cx="81279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343248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7520287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787013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11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Core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Shared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28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Data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Mandatory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Mandatory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477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Branding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Custom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849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Custom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966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Business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Custom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366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Pricing /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Custom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829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Regulatory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941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Single Ops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Brand specific Ops 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73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Development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Config heavy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90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295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A7FA5-84EC-4A41-DCD7-6E72CC371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4F0F9B-B37B-4919-504E-EB1A8E5B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4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FE9B8-ED2A-661F-D460-79B5360E8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0B354AD-CDE2-160B-D424-511C948BB731}"/>
              </a:ext>
            </a:extLst>
          </p:cNvPr>
          <p:cNvSpPr/>
          <p:nvPr/>
        </p:nvSpPr>
        <p:spPr>
          <a:xfrm>
            <a:off x="8407761" y="665495"/>
            <a:ext cx="2477111" cy="52456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1"/>
            <a:endParaRPr lang="en-GB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77E959-7C0C-3821-4846-118014D6218D}"/>
              </a:ext>
            </a:extLst>
          </p:cNvPr>
          <p:cNvSpPr/>
          <p:nvPr/>
        </p:nvSpPr>
        <p:spPr>
          <a:xfrm>
            <a:off x="1777083" y="789364"/>
            <a:ext cx="6169491" cy="56467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600" b="1" dirty="0">
                <a:solidFill>
                  <a:schemeClr val="bg1"/>
                </a:solidFill>
              </a:rPr>
              <a:t>Elevate </a:t>
            </a:r>
            <a:br>
              <a:rPr lang="en-GB" sz="1600" b="1" dirty="0">
                <a:solidFill>
                  <a:schemeClr val="bg1"/>
                </a:solidFill>
              </a:rPr>
            </a:br>
            <a:r>
              <a:rPr lang="en-GB" sz="1600" b="1" dirty="0">
                <a:solidFill>
                  <a:schemeClr val="bg1"/>
                </a:solidFill>
              </a:rPr>
              <a:t>Core Banking</a:t>
            </a:r>
          </a:p>
        </p:txBody>
      </p:sp>
      <p:sp>
        <p:nvSpPr>
          <p:cNvPr id="23" name="Can 22">
            <a:extLst>
              <a:ext uri="{FF2B5EF4-FFF2-40B4-BE49-F238E27FC236}">
                <a16:creationId xmlns:a16="http://schemas.microsoft.com/office/drawing/2014/main" id="{7EF51BA9-4DFE-0AC7-8CEB-09501E05BAB9}"/>
              </a:ext>
            </a:extLst>
          </p:cNvPr>
          <p:cNvSpPr/>
          <p:nvPr/>
        </p:nvSpPr>
        <p:spPr>
          <a:xfrm>
            <a:off x="2264799" y="5180141"/>
            <a:ext cx="1201911" cy="935014"/>
          </a:xfrm>
          <a:prstGeom prst="can">
            <a:avLst/>
          </a:prstGeom>
          <a:solidFill>
            <a:srgbClr val="00B0F0"/>
          </a:solidFill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Orchestration Rules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15C7AB5-B746-64B9-27C4-58397C373846}"/>
              </a:ext>
            </a:extLst>
          </p:cNvPr>
          <p:cNvSpPr/>
          <p:nvPr/>
        </p:nvSpPr>
        <p:spPr>
          <a:xfrm>
            <a:off x="2805770" y="927093"/>
            <a:ext cx="1121422" cy="574585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Web Portal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D0132A3-B65D-76FD-5518-16E5F9CE83C2}"/>
              </a:ext>
            </a:extLst>
          </p:cNvPr>
          <p:cNvSpPr/>
          <p:nvPr/>
        </p:nvSpPr>
        <p:spPr>
          <a:xfrm>
            <a:off x="5819392" y="915858"/>
            <a:ext cx="1100571" cy="574585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BI/Analytics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21490A8-CB27-308F-3108-6F38E68D3D3A}"/>
              </a:ext>
            </a:extLst>
          </p:cNvPr>
          <p:cNvSpPr/>
          <p:nvPr/>
        </p:nvSpPr>
        <p:spPr>
          <a:xfrm>
            <a:off x="3436478" y="3503017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Account Management</a:t>
            </a:r>
          </a:p>
        </p:txBody>
      </p:sp>
      <p:sp>
        <p:nvSpPr>
          <p:cNvPr id="21" name="Can 20">
            <a:extLst>
              <a:ext uri="{FF2B5EF4-FFF2-40B4-BE49-F238E27FC236}">
                <a16:creationId xmlns:a16="http://schemas.microsoft.com/office/drawing/2014/main" id="{62403619-6813-3B13-CED9-4188519EBDE1}"/>
              </a:ext>
            </a:extLst>
          </p:cNvPr>
          <p:cNvSpPr/>
          <p:nvPr/>
        </p:nvSpPr>
        <p:spPr>
          <a:xfrm>
            <a:off x="6403032" y="5180141"/>
            <a:ext cx="1062178" cy="935014"/>
          </a:xfrm>
          <a:prstGeom prst="can">
            <a:avLst/>
          </a:prstGeom>
          <a:solidFill>
            <a:srgbClr val="00B0F0"/>
          </a:solidFill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Accounts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3BF83A1-2D44-18A3-0C1C-3C6411FDDB4C}"/>
              </a:ext>
            </a:extLst>
          </p:cNvPr>
          <p:cNvSpPr/>
          <p:nvPr/>
        </p:nvSpPr>
        <p:spPr>
          <a:xfrm rot="16200000">
            <a:off x="6672476" y="3239986"/>
            <a:ext cx="2988329" cy="327098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Payment Services Connectors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F4C225C-4753-0C95-AFD6-E8F62BB15F59}"/>
              </a:ext>
            </a:extLst>
          </p:cNvPr>
          <p:cNvSpPr/>
          <p:nvPr/>
        </p:nvSpPr>
        <p:spPr>
          <a:xfrm>
            <a:off x="9341187" y="1217136"/>
            <a:ext cx="1270076" cy="434224"/>
          </a:xfrm>
          <a:prstGeom prst="ellipse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Virtual IBANs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C16F993-C59A-81FD-EC9C-ABD49A7DFDD1}"/>
              </a:ext>
            </a:extLst>
          </p:cNvPr>
          <p:cNvSpPr/>
          <p:nvPr/>
        </p:nvSpPr>
        <p:spPr>
          <a:xfrm>
            <a:off x="9341187" y="2367360"/>
            <a:ext cx="1270076" cy="434224"/>
          </a:xfrm>
          <a:prstGeom prst="ellipse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FX Services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0F9E965-0382-F768-19F1-19ABBD4C6B27}"/>
              </a:ext>
            </a:extLst>
          </p:cNvPr>
          <p:cNvSpPr/>
          <p:nvPr/>
        </p:nvSpPr>
        <p:spPr>
          <a:xfrm>
            <a:off x="9341187" y="2942472"/>
            <a:ext cx="1270076" cy="434224"/>
          </a:xfrm>
          <a:prstGeom prst="ellipse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Domestic Payments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87BF0D6-2356-C37B-9D53-047E467A52F8}"/>
              </a:ext>
            </a:extLst>
          </p:cNvPr>
          <p:cNvSpPr/>
          <p:nvPr/>
        </p:nvSpPr>
        <p:spPr>
          <a:xfrm>
            <a:off x="9341187" y="3517584"/>
            <a:ext cx="1270076" cy="434224"/>
          </a:xfrm>
          <a:prstGeom prst="ellipse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Cross-border Payments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D3EBD9-286D-D67E-C072-CFF356DA49DE}"/>
              </a:ext>
            </a:extLst>
          </p:cNvPr>
          <p:cNvSpPr/>
          <p:nvPr/>
        </p:nvSpPr>
        <p:spPr>
          <a:xfrm>
            <a:off x="9341187" y="4092696"/>
            <a:ext cx="1270076" cy="434224"/>
          </a:xfrm>
          <a:prstGeom prst="ellipse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Settlement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DD4124A-C471-64AC-C2B6-A4DC6F3CCFA9}"/>
              </a:ext>
            </a:extLst>
          </p:cNvPr>
          <p:cNvSpPr/>
          <p:nvPr/>
        </p:nvSpPr>
        <p:spPr>
          <a:xfrm>
            <a:off x="9341187" y="4667808"/>
            <a:ext cx="1270076" cy="434224"/>
          </a:xfrm>
          <a:prstGeom prst="ellipse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BACS, CHAPS, FPS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88129EC-F45C-BAA6-9109-9BCA0A9F2E8D}"/>
              </a:ext>
            </a:extLst>
          </p:cNvPr>
          <p:cNvSpPr/>
          <p:nvPr/>
        </p:nvSpPr>
        <p:spPr>
          <a:xfrm>
            <a:off x="9341187" y="5242918"/>
            <a:ext cx="1270076" cy="434224"/>
          </a:xfrm>
          <a:prstGeom prst="ellipse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SEPA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4C845D5-1DD4-37EB-966C-EE3D02D9F92C}"/>
              </a:ext>
            </a:extLst>
          </p:cNvPr>
          <p:cNvSpPr/>
          <p:nvPr/>
        </p:nvSpPr>
        <p:spPr>
          <a:xfrm>
            <a:off x="6488536" y="2796754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Integration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84AA157-75F0-2E59-5BE7-625A60F5D1D3}"/>
              </a:ext>
            </a:extLst>
          </p:cNvPr>
          <p:cNvSpPr/>
          <p:nvPr/>
        </p:nvSpPr>
        <p:spPr>
          <a:xfrm>
            <a:off x="3436478" y="2796754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Settlement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85295-7159-4D52-7C95-7C581B4A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6" y="26233"/>
            <a:ext cx="3134786" cy="478214"/>
          </a:xfrm>
        </p:spPr>
        <p:txBody>
          <a:bodyPr>
            <a:normAutofit/>
          </a:bodyPr>
          <a:lstStyle/>
          <a:p>
            <a:r>
              <a:rPr lang="en-GB" sz="2400" dirty="0"/>
              <a:t>Payment Capabilities</a:t>
            </a:r>
            <a:endParaRPr lang="en-GB" sz="2400" i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D0D7572-E0E0-B610-B3EB-8E69DD92FD11}"/>
              </a:ext>
            </a:extLst>
          </p:cNvPr>
          <p:cNvSpPr/>
          <p:nvPr/>
        </p:nvSpPr>
        <p:spPr>
          <a:xfrm>
            <a:off x="4962507" y="2090490"/>
            <a:ext cx="1196198" cy="650851"/>
          </a:xfrm>
          <a:prstGeom prst="ellipse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TX Monitoring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7D32D8-0BAC-848F-6BBB-DE0DA859CE69}"/>
              </a:ext>
            </a:extLst>
          </p:cNvPr>
          <p:cNvSpPr/>
          <p:nvPr/>
        </p:nvSpPr>
        <p:spPr>
          <a:xfrm>
            <a:off x="3436478" y="2090490"/>
            <a:ext cx="1196198" cy="650851"/>
          </a:xfrm>
          <a:prstGeom prst="ellipse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Onboarding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D09B21A-851C-EF50-EC01-5828003F025B}"/>
              </a:ext>
            </a:extLst>
          </p:cNvPr>
          <p:cNvSpPr/>
          <p:nvPr/>
        </p:nvSpPr>
        <p:spPr>
          <a:xfrm>
            <a:off x="1910449" y="2090490"/>
            <a:ext cx="1196198" cy="650851"/>
          </a:xfrm>
          <a:prstGeom prst="ellipse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KYC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B550F1-40A3-174A-8F21-7C8E2B8326E2}"/>
              </a:ext>
            </a:extLst>
          </p:cNvPr>
          <p:cNvSpPr/>
          <p:nvPr/>
        </p:nvSpPr>
        <p:spPr>
          <a:xfrm>
            <a:off x="6488536" y="2090490"/>
            <a:ext cx="1196198" cy="650851"/>
          </a:xfrm>
          <a:prstGeom prst="ellipse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Audit/SAR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0BF588-7DA8-9980-5D6C-4C46F3EE5711}"/>
              </a:ext>
            </a:extLst>
          </p:cNvPr>
          <p:cNvSpPr/>
          <p:nvPr/>
        </p:nvSpPr>
        <p:spPr>
          <a:xfrm>
            <a:off x="8559388" y="1927301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Banking Circle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58C4E92-423E-FC82-8306-E088EB687842}"/>
              </a:ext>
            </a:extLst>
          </p:cNvPr>
          <p:cNvSpPr/>
          <p:nvPr/>
        </p:nvSpPr>
        <p:spPr>
          <a:xfrm>
            <a:off x="8559388" y="4440842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Clowd9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9F2C37-6121-4C33-537C-6A9E457A05E5}"/>
              </a:ext>
            </a:extLst>
          </p:cNvPr>
          <p:cNvSpPr/>
          <p:nvPr/>
        </p:nvSpPr>
        <p:spPr>
          <a:xfrm>
            <a:off x="8559388" y="3184071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Equals Money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ACA7C64-5CF5-AC76-AF38-803AEE5F4C41}"/>
              </a:ext>
            </a:extLst>
          </p:cNvPr>
          <p:cNvSpPr/>
          <p:nvPr/>
        </p:nvSpPr>
        <p:spPr>
          <a:xfrm>
            <a:off x="8559388" y="2555686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Bank of London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4099D9-D4CE-0558-2800-9A75FBC8AF5C}"/>
              </a:ext>
            </a:extLst>
          </p:cNvPr>
          <p:cNvSpPr/>
          <p:nvPr/>
        </p:nvSpPr>
        <p:spPr>
          <a:xfrm>
            <a:off x="8559388" y="3812456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Convera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57EE20F0-6E66-B2F0-8224-02AC95F0EF55}"/>
              </a:ext>
            </a:extLst>
          </p:cNvPr>
          <p:cNvSpPr/>
          <p:nvPr/>
        </p:nvSpPr>
        <p:spPr>
          <a:xfrm>
            <a:off x="8303302" y="2725832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1D7C32B1-0D5C-32F0-B1F2-22B0120BB2C4}"/>
              </a:ext>
            </a:extLst>
          </p:cNvPr>
          <p:cNvSpPr/>
          <p:nvPr/>
        </p:nvSpPr>
        <p:spPr>
          <a:xfrm>
            <a:off x="8324635" y="2081823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6A51B67C-743A-5D4F-D420-2DA08BDD420B}"/>
              </a:ext>
            </a:extLst>
          </p:cNvPr>
          <p:cNvSpPr/>
          <p:nvPr/>
        </p:nvSpPr>
        <p:spPr>
          <a:xfrm>
            <a:off x="8301764" y="4587458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62082A55-3CF7-693B-DBED-2DCC65A28313}"/>
              </a:ext>
            </a:extLst>
          </p:cNvPr>
          <p:cNvSpPr/>
          <p:nvPr/>
        </p:nvSpPr>
        <p:spPr>
          <a:xfrm>
            <a:off x="8309881" y="4030673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0DF06E2B-4E47-BD96-A4EF-A30DD919C1AA}"/>
              </a:ext>
            </a:extLst>
          </p:cNvPr>
          <p:cNvSpPr/>
          <p:nvPr/>
        </p:nvSpPr>
        <p:spPr>
          <a:xfrm>
            <a:off x="8317089" y="3386664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9945353-5CFE-40A2-1128-3B2ACBB96E53}"/>
              </a:ext>
            </a:extLst>
          </p:cNvPr>
          <p:cNvSpPr/>
          <p:nvPr/>
        </p:nvSpPr>
        <p:spPr>
          <a:xfrm>
            <a:off x="786020" y="2408162"/>
            <a:ext cx="881771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Wire Wand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9353D2-C74A-931B-D978-A4B6F6C84610}"/>
              </a:ext>
            </a:extLst>
          </p:cNvPr>
          <p:cNvSpPr/>
          <p:nvPr/>
        </p:nvSpPr>
        <p:spPr>
          <a:xfrm>
            <a:off x="786020" y="3504710"/>
            <a:ext cx="881771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Credit Safe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FA5DCD6-09CB-97CA-795B-7E21A43B29E0}"/>
              </a:ext>
            </a:extLst>
          </p:cNvPr>
          <p:cNvSpPr/>
          <p:nvPr/>
        </p:nvSpPr>
        <p:spPr>
          <a:xfrm>
            <a:off x="786020" y="2954096"/>
            <a:ext cx="881771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Company’s House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71B1A80-95C0-E08F-1D64-9A2F1F5FD2FF}"/>
              </a:ext>
            </a:extLst>
          </p:cNvPr>
          <p:cNvSpPr/>
          <p:nvPr/>
        </p:nvSpPr>
        <p:spPr>
          <a:xfrm>
            <a:off x="786020" y="4055517"/>
            <a:ext cx="881771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NCA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69841D7-1A14-9B9F-223B-E814C2C54F67}"/>
              </a:ext>
            </a:extLst>
          </p:cNvPr>
          <p:cNvSpPr/>
          <p:nvPr/>
        </p:nvSpPr>
        <p:spPr>
          <a:xfrm>
            <a:off x="4962507" y="3503017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Multi-currency Wallet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7068DDA7-35D3-C231-9E35-FE0189AE14CD}"/>
              </a:ext>
            </a:extLst>
          </p:cNvPr>
          <p:cNvSpPr/>
          <p:nvPr/>
        </p:nvSpPr>
        <p:spPr>
          <a:xfrm>
            <a:off x="3644210" y="5180141"/>
            <a:ext cx="1201911" cy="935014"/>
          </a:xfrm>
          <a:prstGeom prst="can">
            <a:avLst/>
          </a:prstGeom>
          <a:solidFill>
            <a:srgbClr val="00B0F0"/>
          </a:solidFill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Ledger DB</a:t>
            </a:r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93916F7E-CF7C-6983-9B3C-7240FC72E78D}"/>
              </a:ext>
            </a:extLst>
          </p:cNvPr>
          <p:cNvSpPr/>
          <p:nvPr/>
        </p:nvSpPr>
        <p:spPr>
          <a:xfrm>
            <a:off x="5023621" y="5180141"/>
            <a:ext cx="1201911" cy="935014"/>
          </a:xfrm>
          <a:prstGeom prst="can">
            <a:avLst/>
          </a:prstGeom>
          <a:solidFill>
            <a:srgbClr val="00B0F0"/>
          </a:solidFill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Operational Datastore (ODS)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994BF5C-FD27-20F9-8056-497C3FD67B47}"/>
              </a:ext>
            </a:extLst>
          </p:cNvPr>
          <p:cNvSpPr/>
          <p:nvPr/>
        </p:nvSpPr>
        <p:spPr>
          <a:xfrm>
            <a:off x="1989389" y="4224691"/>
            <a:ext cx="5782799" cy="862821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just"/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957CB7-35EC-FD13-F9A5-2904F7E7BD01}"/>
              </a:ext>
            </a:extLst>
          </p:cNvPr>
          <p:cNvSpPr/>
          <p:nvPr/>
        </p:nvSpPr>
        <p:spPr>
          <a:xfrm>
            <a:off x="2122203" y="4441001"/>
            <a:ext cx="788114" cy="4398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Payments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557EE-5F1D-CE72-6DD2-280E3F15AEAC}"/>
              </a:ext>
            </a:extLst>
          </p:cNvPr>
          <p:cNvSpPr/>
          <p:nvPr/>
        </p:nvSpPr>
        <p:spPr>
          <a:xfrm>
            <a:off x="3708369" y="4441001"/>
            <a:ext cx="788114" cy="4398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Debit Cards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9D667B2-2D6D-8B32-93A9-B9788929DDDB}"/>
              </a:ext>
            </a:extLst>
          </p:cNvPr>
          <p:cNvSpPr/>
          <p:nvPr/>
        </p:nvSpPr>
        <p:spPr>
          <a:xfrm>
            <a:off x="1910449" y="3503017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Orchestration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4044F5-E746-C753-3907-6C79F2FABEB4}"/>
              </a:ext>
            </a:extLst>
          </p:cNvPr>
          <p:cNvSpPr/>
          <p:nvPr/>
        </p:nvSpPr>
        <p:spPr>
          <a:xfrm>
            <a:off x="1910449" y="2796754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Reporting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05BFBB-0466-0585-E6BD-6B9689EC8E8A}"/>
              </a:ext>
            </a:extLst>
          </p:cNvPr>
          <p:cNvSpPr/>
          <p:nvPr/>
        </p:nvSpPr>
        <p:spPr>
          <a:xfrm>
            <a:off x="6880701" y="4441001"/>
            <a:ext cx="788114" cy="4398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Crypto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BCD4FAF-5FF8-CEA4-CA96-2454B815698C}"/>
              </a:ext>
            </a:extLst>
          </p:cNvPr>
          <p:cNvSpPr/>
          <p:nvPr/>
        </p:nvSpPr>
        <p:spPr>
          <a:xfrm>
            <a:off x="6488536" y="3503017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General Ledger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5A51AFB-AF1D-29C9-1D9A-ED5677C4B667}"/>
              </a:ext>
            </a:extLst>
          </p:cNvPr>
          <p:cNvSpPr/>
          <p:nvPr/>
        </p:nvSpPr>
        <p:spPr>
          <a:xfrm>
            <a:off x="4962507" y="2796754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Reconciliation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DC70BD-05EE-0B2C-2FE6-782D8ED52767}"/>
              </a:ext>
            </a:extLst>
          </p:cNvPr>
          <p:cNvSpPr/>
          <p:nvPr/>
        </p:nvSpPr>
        <p:spPr>
          <a:xfrm>
            <a:off x="9341187" y="1792248"/>
            <a:ext cx="1270076" cy="434224"/>
          </a:xfrm>
          <a:prstGeom prst="ellipse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Card Processing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E6FD9-CAFC-D637-193B-C551DAC0FE29}"/>
              </a:ext>
            </a:extLst>
          </p:cNvPr>
          <p:cNvSpPr/>
          <p:nvPr/>
        </p:nvSpPr>
        <p:spPr>
          <a:xfrm>
            <a:off x="5294535" y="4438785"/>
            <a:ext cx="788114" cy="4398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Foreign Exchange</a:t>
            </a:r>
          </a:p>
        </p:txBody>
      </p:sp>
    </p:spTree>
    <p:extLst>
      <p:ext uri="{BB962C8B-B14F-4D97-AF65-F5344CB8AC3E}">
        <p14:creationId xmlns:p14="http://schemas.microsoft.com/office/powerpoint/2010/main" val="3159136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6EBF5-1EB5-AA24-B587-615DE885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205864B-1C00-55FE-20D2-95EE42608C1D}"/>
              </a:ext>
            </a:extLst>
          </p:cNvPr>
          <p:cNvSpPr/>
          <p:nvPr/>
        </p:nvSpPr>
        <p:spPr>
          <a:xfrm>
            <a:off x="8288421" y="409455"/>
            <a:ext cx="2477111" cy="52456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1"/>
            <a:endParaRPr lang="en-GB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AF0AC5D-677D-5835-5BEE-1E24B3B563E5}"/>
              </a:ext>
            </a:extLst>
          </p:cNvPr>
          <p:cNvSpPr/>
          <p:nvPr/>
        </p:nvSpPr>
        <p:spPr>
          <a:xfrm>
            <a:off x="2330581" y="437181"/>
            <a:ext cx="1121422" cy="494831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Front-end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44A672B-BB5F-A18C-55CF-467F08C90142}"/>
              </a:ext>
            </a:extLst>
          </p:cNvPr>
          <p:cNvSpPr/>
          <p:nvPr/>
        </p:nvSpPr>
        <p:spPr>
          <a:xfrm rot="16200000">
            <a:off x="6293161" y="2941757"/>
            <a:ext cx="3508280" cy="327098"/>
          </a:xfrm>
          <a:prstGeom prst="roundRect">
            <a:avLst/>
          </a:prstGeom>
          <a:solidFill>
            <a:schemeClr val="accent2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Connectors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E833F65-2AAF-93B9-195E-29395A377921}"/>
              </a:ext>
            </a:extLst>
          </p:cNvPr>
          <p:cNvSpPr/>
          <p:nvPr/>
        </p:nvSpPr>
        <p:spPr>
          <a:xfrm>
            <a:off x="9251107" y="68279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Virtual IBANs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FF5E94C-22EC-2301-F73D-383379F488CB}"/>
              </a:ext>
            </a:extLst>
          </p:cNvPr>
          <p:cNvSpPr/>
          <p:nvPr/>
        </p:nvSpPr>
        <p:spPr>
          <a:xfrm>
            <a:off x="9251107" y="128534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FX Services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BDB537E-A6FF-3571-A0F9-5569F370926A}"/>
              </a:ext>
            </a:extLst>
          </p:cNvPr>
          <p:cNvSpPr/>
          <p:nvPr/>
        </p:nvSpPr>
        <p:spPr>
          <a:xfrm>
            <a:off x="9251107" y="188788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Domestic Payments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A6F69D0-4454-B0A3-7CE4-916955C3AC29}"/>
              </a:ext>
            </a:extLst>
          </p:cNvPr>
          <p:cNvSpPr/>
          <p:nvPr/>
        </p:nvSpPr>
        <p:spPr>
          <a:xfrm>
            <a:off x="9251107" y="249043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Cross-border Payments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C1397CA-6042-8951-AD7D-872237FBE92E}"/>
              </a:ext>
            </a:extLst>
          </p:cNvPr>
          <p:cNvSpPr/>
          <p:nvPr/>
        </p:nvSpPr>
        <p:spPr>
          <a:xfrm>
            <a:off x="9251107" y="309297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Settlement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6E965E0-B13B-D7F9-49C7-0CBCCB1EB006}"/>
              </a:ext>
            </a:extLst>
          </p:cNvPr>
          <p:cNvSpPr/>
          <p:nvPr/>
        </p:nvSpPr>
        <p:spPr>
          <a:xfrm>
            <a:off x="9251107" y="369552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BACS, CHAPS, FPS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F11235C-93E6-CB1E-D7AB-255A400DD326}"/>
              </a:ext>
            </a:extLst>
          </p:cNvPr>
          <p:cNvSpPr/>
          <p:nvPr/>
        </p:nvSpPr>
        <p:spPr>
          <a:xfrm>
            <a:off x="9251107" y="429806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SEPA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90A0690-C6AB-FF4D-66CF-EEC042EC4284}"/>
              </a:ext>
            </a:extLst>
          </p:cNvPr>
          <p:cNvSpPr/>
          <p:nvPr/>
        </p:nvSpPr>
        <p:spPr>
          <a:xfrm>
            <a:off x="2855157" y="2514801"/>
            <a:ext cx="1652502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Orchestrator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0A265-F42F-BDCD-DF7C-D6ADC39F6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4" y="69316"/>
            <a:ext cx="4953601" cy="385321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Payment Event Processing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38C81C-89EA-812A-58C9-744D372E159C}"/>
              </a:ext>
            </a:extLst>
          </p:cNvPr>
          <p:cNvSpPr/>
          <p:nvPr/>
        </p:nvSpPr>
        <p:spPr>
          <a:xfrm>
            <a:off x="8440048" y="1289603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Banking Circle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9FF4A5-225C-836E-3155-6415EFBDA09A}"/>
              </a:ext>
            </a:extLst>
          </p:cNvPr>
          <p:cNvSpPr/>
          <p:nvPr/>
        </p:nvSpPr>
        <p:spPr>
          <a:xfrm>
            <a:off x="8440048" y="3608324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Bank of London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C33A34-3AAA-148A-3D74-CA7C9280795B}"/>
              </a:ext>
            </a:extLst>
          </p:cNvPr>
          <p:cNvSpPr/>
          <p:nvPr/>
        </p:nvSpPr>
        <p:spPr>
          <a:xfrm>
            <a:off x="8440048" y="2062510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Equals Money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42EE75-4A4C-6182-CFE6-CF7699B83CA9}"/>
              </a:ext>
            </a:extLst>
          </p:cNvPr>
          <p:cNvSpPr/>
          <p:nvPr/>
        </p:nvSpPr>
        <p:spPr>
          <a:xfrm>
            <a:off x="8440048" y="2835417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Convera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0F0490B-E52F-B803-9544-D24C95440C68}"/>
              </a:ext>
            </a:extLst>
          </p:cNvPr>
          <p:cNvSpPr/>
          <p:nvPr/>
        </p:nvSpPr>
        <p:spPr>
          <a:xfrm>
            <a:off x="8147794" y="1444125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BA03799E-DBCA-4C54-0001-6A94F5924D35}"/>
              </a:ext>
            </a:extLst>
          </p:cNvPr>
          <p:cNvSpPr/>
          <p:nvPr/>
        </p:nvSpPr>
        <p:spPr>
          <a:xfrm>
            <a:off x="8147794" y="3771311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EC8AA10B-B233-5643-C92D-E1ED7847EB95}"/>
              </a:ext>
            </a:extLst>
          </p:cNvPr>
          <p:cNvSpPr/>
          <p:nvPr/>
        </p:nvSpPr>
        <p:spPr>
          <a:xfrm>
            <a:off x="8147794" y="2218637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454D2D-C82F-DF62-B245-F149AF1B51F7}"/>
              </a:ext>
            </a:extLst>
          </p:cNvPr>
          <p:cNvSpPr/>
          <p:nvPr/>
        </p:nvSpPr>
        <p:spPr>
          <a:xfrm>
            <a:off x="1468850" y="5065064"/>
            <a:ext cx="4798828" cy="877228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lvl="1" algn="just"/>
            <a:r>
              <a:rPr lang="en-GB" sz="1000" b="1" dirty="0">
                <a:solidFill>
                  <a:schemeClr val="bg1"/>
                </a:solidFill>
              </a:rPr>
              <a:t>Supporting Layer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ED3474-E2A1-1A4D-668C-0D5F73E2145E}"/>
              </a:ext>
            </a:extLst>
          </p:cNvPr>
          <p:cNvSpPr/>
          <p:nvPr/>
        </p:nvSpPr>
        <p:spPr>
          <a:xfrm>
            <a:off x="1670031" y="5193594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KYC Service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046910-1E5C-82F6-9F8C-487193AB448A}"/>
              </a:ext>
            </a:extLst>
          </p:cNvPr>
          <p:cNvSpPr/>
          <p:nvPr/>
        </p:nvSpPr>
        <p:spPr>
          <a:xfrm>
            <a:off x="4049143" y="5193594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Analytics Service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3877FB-5983-E692-E76E-7B3B1D9BA2BC}"/>
              </a:ext>
            </a:extLst>
          </p:cNvPr>
          <p:cNvSpPr/>
          <p:nvPr/>
        </p:nvSpPr>
        <p:spPr>
          <a:xfrm>
            <a:off x="2859587" y="5193594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Fraud Detection Service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585ADC6-538D-700D-4757-64BB96EEADC7}"/>
              </a:ext>
            </a:extLst>
          </p:cNvPr>
          <p:cNvSpPr/>
          <p:nvPr/>
        </p:nvSpPr>
        <p:spPr>
          <a:xfrm>
            <a:off x="5238698" y="5193594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Logging &amp; Monitoring Service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CC3277-599A-2A35-5304-F6A30BAD42FE}"/>
              </a:ext>
            </a:extLst>
          </p:cNvPr>
          <p:cNvSpPr/>
          <p:nvPr/>
        </p:nvSpPr>
        <p:spPr>
          <a:xfrm>
            <a:off x="5238697" y="6137914"/>
            <a:ext cx="788115" cy="489657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Operation Portal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900F9A8-FC0E-2C99-875E-7BBD2B9183D8}"/>
              </a:ext>
            </a:extLst>
          </p:cNvPr>
          <p:cNvCxnSpPr>
            <a:cxnSpLocks/>
            <a:stCxn id="41" idx="2"/>
            <a:endCxn id="8" idx="0"/>
          </p:cNvCxnSpPr>
          <p:nvPr/>
        </p:nvCxnSpPr>
        <p:spPr>
          <a:xfrm>
            <a:off x="5632755" y="5683548"/>
            <a:ext cx="0" cy="45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529B6049-F64F-0FFE-0B88-CD0619BEDA93}"/>
              </a:ext>
            </a:extLst>
          </p:cNvPr>
          <p:cNvSpPr/>
          <p:nvPr/>
        </p:nvSpPr>
        <p:spPr>
          <a:xfrm>
            <a:off x="4049143" y="6137914"/>
            <a:ext cx="788115" cy="489657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Analytics Portal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2228392-742D-5F97-0FF7-B1E8BE9001C4}"/>
              </a:ext>
            </a:extLst>
          </p:cNvPr>
          <p:cNvCxnSpPr>
            <a:cxnSpLocks/>
            <a:stCxn id="19" idx="2"/>
            <a:endCxn id="54" idx="0"/>
          </p:cNvCxnSpPr>
          <p:nvPr/>
        </p:nvCxnSpPr>
        <p:spPr>
          <a:xfrm>
            <a:off x="4443200" y="5683548"/>
            <a:ext cx="1" cy="45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4FCDE23D-D343-0309-8A2B-F45AB189D515}"/>
              </a:ext>
            </a:extLst>
          </p:cNvPr>
          <p:cNvSpPr/>
          <p:nvPr/>
        </p:nvSpPr>
        <p:spPr>
          <a:xfrm rot="16200000">
            <a:off x="-905291" y="2471936"/>
            <a:ext cx="3503420" cy="12625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lvl="1" algn="just"/>
            <a:r>
              <a:rPr lang="en-GB" sz="1000" b="1" dirty="0">
                <a:solidFill>
                  <a:schemeClr val="bg1"/>
                </a:solidFill>
              </a:rPr>
              <a:t>Front End Services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733113E-4247-724A-68D5-87A4BD4D9287}"/>
              </a:ext>
            </a:extLst>
          </p:cNvPr>
          <p:cNvSpPr/>
          <p:nvPr/>
        </p:nvSpPr>
        <p:spPr>
          <a:xfrm>
            <a:off x="465725" y="1842763"/>
            <a:ext cx="854791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User Service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211762E-E847-A4F5-3062-848504C56EF9}"/>
              </a:ext>
            </a:extLst>
          </p:cNvPr>
          <p:cNvSpPr/>
          <p:nvPr/>
        </p:nvSpPr>
        <p:spPr>
          <a:xfrm>
            <a:off x="465725" y="2471646"/>
            <a:ext cx="854791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Notification Service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82E60EB-8A80-DB9D-2D0B-F3DA3A5AD8E7}"/>
              </a:ext>
            </a:extLst>
          </p:cNvPr>
          <p:cNvSpPr/>
          <p:nvPr/>
        </p:nvSpPr>
        <p:spPr>
          <a:xfrm>
            <a:off x="499063" y="6056289"/>
            <a:ext cx="788115" cy="489657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User Portal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569F855-AB8A-858C-8190-381356CCAAAF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>
            <a:off x="893121" y="2961600"/>
            <a:ext cx="0" cy="3094689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A5FA9AD6-2A07-FD00-0CC1-848F803309C6}"/>
              </a:ext>
            </a:extLst>
          </p:cNvPr>
          <p:cNvSpPr/>
          <p:nvPr/>
        </p:nvSpPr>
        <p:spPr>
          <a:xfrm rot="16200000">
            <a:off x="4837568" y="2448638"/>
            <a:ext cx="3897259" cy="1335592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0"/>
          <a:lstStyle/>
          <a:p>
            <a:pPr lvl="1" algn="just"/>
            <a:r>
              <a:rPr lang="en-GB" sz="1000" b="1" dirty="0">
                <a:solidFill>
                  <a:schemeClr val="bg1"/>
                </a:solidFill>
              </a:rPr>
              <a:t>Middle Tier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A7890E4-EE8B-80E9-7AF4-4A74EDFE8767}"/>
              </a:ext>
            </a:extLst>
          </p:cNvPr>
          <p:cNvCxnSpPr>
            <a:cxnSpLocks/>
            <a:stCxn id="47" idx="4"/>
            <a:endCxn id="34" idx="0"/>
          </p:cNvCxnSpPr>
          <p:nvPr/>
        </p:nvCxnSpPr>
        <p:spPr>
          <a:xfrm rot="5400000">
            <a:off x="2593285" y="4105470"/>
            <a:ext cx="1748483" cy="427764"/>
          </a:xfrm>
          <a:prstGeom prst="curved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EF84A64-20A2-F02C-088C-8B50771F22D2}"/>
              </a:ext>
            </a:extLst>
          </p:cNvPr>
          <p:cNvCxnSpPr>
            <a:cxnSpLocks/>
            <a:stCxn id="47" idx="4"/>
            <a:endCxn id="19" idx="0"/>
          </p:cNvCxnSpPr>
          <p:nvPr/>
        </p:nvCxnSpPr>
        <p:spPr>
          <a:xfrm rot="16200000" flipH="1">
            <a:off x="3188063" y="3938456"/>
            <a:ext cx="1748483" cy="761792"/>
          </a:xfrm>
          <a:prstGeom prst="curved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1216044-76C3-5A23-4A73-26F66EEB8F62}"/>
              </a:ext>
            </a:extLst>
          </p:cNvPr>
          <p:cNvCxnSpPr>
            <a:cxnSpLocks/>
            <a:stCxn id="47" idx="4"/>
            <a:endCxn id="41" idx="0"/>
          </p:cNvCxnSpPr>
          <p:nvPr/>
        </p:nvCxnSpPr>
        <p:spPr>
          <a:xfrm rot="16200000" flipH="1">
            <a:off x="3782840" y="3343678"/>
            <a:ext cx="1748483" cy="1951347"/>
          </a:xfrm>
          <a:prstGeom prst="curved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B3C995C-0C09-082F-9BE9-2C6B4825B94C}"/>
              </a:ext>
            </a:extLst>
          </p:cNvPr>
          <p:cNvCxnSpPr>
            <a:cxnSpLocks/>
            <a:stCxn id="47" idx="2"/>
            <a:endCxn id="63" idx="3"/>
          </p:cNvCxnSpPr>
          <p:nvPr/>
        </p:nvCxnSpPr>
        <p:spPr>
          <a:xfrm rot="10800000">
            <a:off x="1320517" y="2716624"/>
            <a:ext cx="1534641" cy="263333"/>
          </a:xfrm>
          <a:prstGeom prst="curved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25238D1-5AB0-3354-FA44-750DF97F9431}"/>
              </a:ext>
            </a:extLst>
          </p:cNvPr>
          <p:cNvCxnSpPr>
            <a:cxnSpLocks/>
            <a:stCxn id="13" idx="1"/>
            <a:endCxn id="62" idx="0"/>
          </p:cNvCxnSpPr>
          <p:nvPr/>
        </p:nvCxnSpPr>
        <p:spPr>
          <a:xfrm rot="10800000" flipV="1">
            <a:off x="893122" y="1507151"/>
            <a:ext cx="957073" cy="335612"/>
          </a:xfrm>
          <a:prstGeom prst="curved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BCDD6C4-8CC5-4C62-2BCE-0133C1E072EC}"/>
              </a:ext>
            </a:extLst>
          </p:cNvPr>
          <p:cNvCxnSpPr>
            <a:cxnSpLocks/>
            <a:stCxn id="62" idx="2"/>
            <a:endCxn id="16" idx="0"/>
          </p:cNvCxnSpPr>
          <p:nvPr/>
        </p:nvCxnSpPr>
        <p:spPr>
          <a:xfrm rot="16200000" flipH="1">
            <a:off x="48166" y="3177671"/>
            <a:ext cx="2860877" cy="1170967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E9F62540-3509-6B7D-A733-9E7996F10D42}"/>
              </a:ext>
            </a:extLst>
          </p:cNvPr>
          <p:cNvSpPr txBox="1"/>
          <p:nvPr/>
        </p:nvSpPr>
        <p:spPr>
          <a:xfrm>
            <a:off x="1499181" y="4196567"/>
            <a:ext cx="61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Verify Identity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16F0CFF-3655-23CF-4AB5-F282FF151D97}"/>
              </a:ext>
            </a:extLst>
          </p:cNvPr>
          <p:cNvCxnSpPr>
            <a:cxnSpLocks/>
            <a:stCxn id="62" idx="3"/>
            <a:endCxn id="47" idx="1"/>
          </p:cNvCxnSpPr>
          <p:nvPr/>
        </p:nvCxnSpPr>
        <p:spPr>
          <a:xfrm>
            <a:off x="1320516" y="2087740"/>
            <a:ext cx="1776644" cy="563302"/>
          </a:xfrm>
          <a:prstGeom prst="curved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53563F63-18C4-3A58-D371-3B5F90A77234}"/>
              </a:ext>
            </a:extLst>
          </p:cNvPr>
          <p:cNvSpPr txBox="1"/>
          <p:nvPr/>
        </p:nvSpPr>
        <p:spPr>
          <a:xfrm>
            <a:off x="2064088" y="2230814"/>
            <a:ext cx="61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User created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2F7FF27-43D8-477B-ED36-A0F1FE976245}"/>
              </a:ext>
            </a:extLst>
          </p:cNvPr>
          <p:cNvSpPr txBox="1"/>
          <p:nvPr/>
        </p:nvSpPr>
        <p:spPr>
          <a:xfrm>
            <a:off x="3459320" y="3416182"/>
            <a:ext cx="6183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Events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C0677F9-1246-6E49-6FA7-98BFF65A0165}"/>
              </a:ext>
            </a:extLst>
          </p:cNvPr>
          <p:cNvSpPr/>
          <p:nvPr/>
        </p:nvSpPr>
        <p:spPr>
          <a:xfrm>
            <a:off x="6202930" y="1980969"/>
            <a:ext cx="9869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Transaction Processing Service</a:t>
            </a:r>
          </a:p>
        </p:txBody>
      </p:sp>
      <p:cxnSp>
        <p:nvCxnSpPr>
          <p:cNvPr id="150" name="Straight Arrow Connector 82">
            <a:extLst>
              <a:ext uri="{FF2B5EF4-FFF2-40B4-BE49-F238E27FC236}">
                <a16:creationId xmlns:a16="http://schemas.microsoft.com/office/drawing/2014/main" id="{B08D2A64-97E5-1531-DB15-1B2A4449290B}"/>
              </a:ext>
            </a:extLst>
          </p:cNvPr>
          <p:cNvCxnSpPr>
            <a:cxnSpLocks/>
            <a:stCxn id="13" idx="3"/>
            <a:endCxn id="143" idx="1"/>
          </p:cNvCxnSpPr>
          <p:nvPr/>
        </p:nvCxnSpPr>
        <p:spPr>
          <a:xfrm>
            <a:off x="5689902" y="1507151"/>
            <a:ext cx="513028" cy="718795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82">
            <a:extLst>
              <a:ext uri="{FF2B5EF4-FFF2-40B4-BE49-F238E27FC236}">
                <a16:creationId xmlns:a16="http://schemas.microsoft.com/office/drawing/2014/main" id="{C8AE02AF-74CC-C2DA-0CB0-6B64F1249A62}"/>
              </a:ext>
            </a:extLst>
          </p:cNvPr>
          <p:cNvCxnSpPr>
            <a:cxnSpLocks/>
            <a:stCxn id="13" idx="3"/>
            <a:endCxn id="69" idx="1"/>
          </p:cNvCxnSpPr>
          <p:nvPr/>
        </p:nvCxnSpPr>
        <p:spPr>
          <a:xfrm>
            <a:off x="5689902" y="1507151"/>
            <a:ext cx="513028" cy="107051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D0BFC54D-C769-E2C0-2BEB-8F31593A30E2}"/>
              </a:ext>
            </a:extLst>
          </p:cNvPr>
          <p:cNvSpPr/>
          <p:nvPr/>
        </p:nvSpPr>
        <p:spPr>
          <a:xfrm>
            <a:off x="4039169" y="454637"/>
            <a:ext cx="1121422" cy="494831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Service Provider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DD9635A-3852-3FD9-98AA-508DC8BF5673}"/>
              </a:ext>
            </a:extLst>
          </p:cNvPr>
          <p:cNvSpPr txBox="1"/>
          <p:nvPr/>
        </p:nvSpPr>
        <p:spPr>
          <a:xfrm>
            <a:off x="1820897" y="2885940"/>
            <a:ext cx="6183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Events</a:t>
            </a:r>
          </a:p>
        </p:txBody>
      </p:sp>
      <p:cxnSp>
        <p:nvCxnSpPr>
          <p:cNvPr id="186" name="Straight Arrow Connector 82">
            <a:extLst>
              <a:ext uri="{FF2B5EF4-FFF2-40B4-BE49-F238E27FC236}">
                <a16:creationId xmlns:a16="http://schemas.microsoft.com/office/drawing/2014/main" id="{F366AD3A-AD1E-61BE-464B-42AED301497D}"/>
              </a:ext>
            </a:extLst>
          </p:cNvPr>
          <p:cNvCxnSpPr>
            <a:cxnSpLocks/>
            <a:stCxn id="68" idx="0"/>
            <a:endCxn id="47" idx="6"/>
          </p:cNvCxnSpPr>
          <p:nvPr/>
        </p:nvCxnSpPr>
        <p:spPr>
          <a:xfrm rot="10800000">
            <a:off x="4507660" y="2979956"/>
            <a:ext cx="1610743" cy="136478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70E264D9-FB95-29C4-19B7-2F26612B6C98}"/>
              </a:ext>
            </a:extLst>
          </p:cNvPr>
          <p:cNvSpPr/>
          <p:nvPr/>
        </p:nvSpPr>
        <p:spPr>
          <a:xfrm>
            <a:off x="6202930" y="3816201"/>
            <a:ext cx="9869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Ledger Service</a:t>
            </a:r>
          </a:p>
        </p:txBody>
      </p:sp>
      <p:cxnSp>
        <p:nvCxnSpPr>
          <p:cNvPr id="190" name="Straight Arrow Connector 75">
            <a:extLst>
              <a:ext uri="{FF2B5EF4-FFF2-40B4-BE49-F238E27FC236}">
                <a16:creationId xmlns:a16="http://schemas.microsoft.com/office/drawing/2014/main" id="{65D5F7AE-5E53-C20D-B97D-A21B63D2F663}"/>
              </a:ext>
            </a:extLst>
          </p:cNvPr>
          <p:cNvCxnSpPr>
            <a:cxnSpLocks/>
            <a:stCxn id="47" idx="5"/>
            <a:endCxn id="189" idx="1"/>
          </p:cNvCxnSpPr>
          <p:nvPr/>
        </p:nvCxnSpPr>
        <p:spPr>
          <a:xfrm rot="16200000" flipH="1">
            <a:off x="4858139" y="2716387"/>
            <a:ext cx="752308" cy="1937274"/>
          </a:xfrm>
          <a:prstGeom prst="curved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82">
            <a:extLst>
              <a:ext uri="{FF2B5EF4-FFF2-40B4-BE49-F238E27FC236}">
                <a16:creationId xmlns:a16="http://schemas.microsoft.com/office/drawing/2014/main" id="{78BD3958-725E-EB5B-6896-4F0020AAD1E8}"/>
              </a:ext>
            </a:extLst>
          </p:cNvPr>
          <p:cNvCxnSpPr>
            <a:cxnSpLocks/>
            <a:stCxn id="143" idx="2"/>
            <a:endCxn id="47" idx="7"/>
          </p:cNvCxnSpPr>
          <p:nvPr/>
        </p:nvCxnSpPr>
        <p:spPr>
          <a:xfrm rot="5400000">
            <a:off x="5390962" y="1345618"/>
            <a:ext cx="180119" cy="2430729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ED726937-A360-5795-E4ED-C9E6A46A8F1E}"/>
              </a:ext>
            </a:extLst>
          </p:cNvPr>
          <p:cNvSpPr txBox="1"/>
          <p:nvPr/>
        </p:nvSpPr>
        <p:spPr>
          <a:xfrm>
            <a:off x="4651702" y="2304702"/>
            <a:ext cx="1036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Transaction event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E57F5C7-5EDE-8C43-3ED8-3DF6801D2A61}"/>
              </a:ext>
            </a:extLst>
          </p:cNvPr>
          <p:cNvSpPr txBox="1"/>
          <p:nvPr/>
        </p:nvSpPr>
        <p:spPr>
          <a:xfrm>
            <a:off x="4650712" y="2743938"/>
            <a:ext cx="9212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Funding events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5C4DE1-F85C-7389-04F1-506178D76BEF}"/>
              </a:ext>
            </a:extLst>
          </p:cNvPr>
          <p:cNvSpPr/>
          <p:nvPr/>
        </p:nvSpPr>
        <p:spPr>
          <a:xfrm>
            <a:off x="6202930" y="3204457"/>
            <a:ext cx="9869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980C2B-62B7-0D31-4C9F-DE0BC1CCDB9B}"/>
              </a:ext>
            </a:extLst>
          </p:cNvPr>
          <p:cNvSpPr/>
          <p:nvPr/>
        </p:nvSpPr>
        <p:spPr>
          <a:xfrm>
            <a:off x="8440048" y="4381233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Card Processor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863D80-86A4-498C-3CA7-EF0870CBBD8F}"/>
              </a:ext>
            </a:extLst>
          </p:cNvPr>
          <p:cNvSpPr/>
          <p:nvPr/>
        </p:nvSpPr>
        <p:spPr>
          <a:xfrm>
            <a:off x="9289636" y="490061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Cards Network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FE34CDD-09AC-30F8-6B18-DAE122FBDEE3}"/>
              </a:ext>
            </a:extLst>
          </p:cNvPr>
          <p:cNvSpPr/>
          <p:nvPr/>
        </p:nvSpPr>
        <p:spPr>
          <a:xfrm>
            <a:off x="8147794" y="4507380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2DE3568C-B136-5D5F-0809-E63FDE89F3E3}"/>
              </a:ext>
            </a:extLst>
          </p:cNvPr>
          <p:cNvSpPr/>
          <p:nvPr/>
        </p:nvSpPr>
        <p:spPr>
          <a:xfrm>
            <a:off x="2286177" y="3704368"/>
            <a:ext cx="914400" cy="94388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Payment Database</a:t>
            </a:r>
          </a:p>
        </p:txBody>
      </p:sp>
      <p:cxnSp>
        <p:nvCxnSpPr>
          <p:cNvPr id="11" name="Straight Arrow Connector 95">
            <a:extLst>
              <a:ext uri="{FF2B5EF4-FFF2-40B4-BE49-F238E27FC236}">
                <a16:creationId xmlns:a16="http://schemas.microsoft.com/office/drawing/2014/main" id="{1F93F9C5-B2D8-6602-2737-E43176797559}"/>
              </a:ext>
            </a:extLst>
          </p:cNvPr>
          <p:cNvCxnSpPr>
            <a:cxnSpLocks/>
            <a:stCxn id="10" idx="1"/>
            <a:endCxn id="47" idx="3"/>
          </p:cNvCxnSpPr>
          <p:nvPr/>
        </p:nvCxnSpPr>
        <p:spPr>
          <a:xfrm rot="5400000" flipH="1" flipV="1">
            <a:off x="2722519" y="3329728"/>
            <a:ext cx="395498" cy="353783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11E4159-B78B-EB90-893F-117341FE3CE3}"/>
              </a:ext>
            </a:extLst>
          </p:cNvPr>
          <p:cNvSpPr txBox="1"/>
          <p:nvPr/>
        </p:nvSpPr>
        <p:spPr>
          <a:xfrm>
            <a:off x="2189155" y="3317160"/>
            <a:ext cx="61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DB Events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4B98FDA-4977-A5EF-0AB1-70E98092C40B}"/>
              </a:ext>
            </a:extLst>
          </p:cNvPr>
          <p:cNvSpPr/>
          <p:nvPr/>
        </p:nvSpPr>
        <p:spPr>
          <a:xfrm rot="16200000">
            <a:off x="5912491" y="2939327"/>
            <a:ext cx="3508280" cy="3270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Integration Layer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6AF9E2-A48C-B3B5-9F68-DB5161EDD1F3}"/>
              </a:ext>
            </a:extLst>
          </p:cNvPr>
          <p:cNvSpPr/>
          <p:nvPr/>
        </p:nvSpPr>
        <p:spPr>
          <a:xfrm>
            <a:off x="1850194" y="1167804"/>
            <a:ext cx="3839708" cy="678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lvl="1" algn="just"/>
            <a:r>
              <a:rPr lang="en-GB" sz="1000" b="1" dirty="0">
                <a:solidFill>
                  <a:schemeClr val="bg1"/>
                </a:solidFill>
              </a:rPr>
              <a:t>API Gateway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28671E-5629-C26F-258D-AED9F49A7517}"/>
              </a:ext>
            </a:extLst>
          </p:cNvPr>
          <p:cNvSpPr/>
          <p:nvPr/>
        </p:nvSpPr>
        <p:spPr>
          <a:xfrm>
            <a:off x="2101483" y="1303109"/>
            <a:ext cx="1579618" cy="2816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GraphQL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E834BA-3697-DD52-0853-5FB69D777701}"/>
              </a:ext>
            </a:extLst>
          </p:cNvPr>
          <p:cNvSpPr/>
          <p:nvPr/>
        </p:nvSpPr>
        <p:spPr>
          <a:xfrm>
            <a:off x="3810071" y="1303109"/>
            <a:ext cx="1579618" cy="2816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REST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3441DA4A-3CDA-013C-4B47-90C91884AFED}"/>
              </a:ext>
            </a:extLst>
          </p:cNvPr>
          <p:cNvCxnSpPr>
            <a:cxnSpLocks/>
            <a:stCxn id="30" idx="2"/>
            <a:endCxn id="20" idx="0"/>
          </p:cNvCxnSpPr>
          <p:nvPr/>
        </p:nvCxnSpPr>
        <p:spPr>
          <a:xfrm>
            <a:off x="2891292" y="932012"/>
            <a:ext cx="0" cy="371097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C9BF635-E9F4-3BDE-403D-ABE08917D193}"/>
              </a:ext>
            </a:extLst>
          </p:cNvPr>
          <p:cNvCxnSpPr>
            <a:cxnSpLocks/>
            <a:stCxn id="157" idx="2"/>
            <a:endCxn id="21" idx="0"/>
          </p:cNvCxnSpPr>
          <p:nvPr/>
        </p:nvCxnSpPr>
        <p:spPr>
          <a:xfrm>
            <a:off x="4599880" y="949468"/>
            <a:ext cx="0" cy="353641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DC38C86-66F6-71FB-09D0-28D2548FF9E2}"/>
              </a:ext>
            </a:extLst>
          </p:cNvPr>
          <p:cNvSpPr txBox="1"/>
          <p:nvPr/>
        </p:nvSpPr>
        <p:spPr>
          <a:xfrm>
            <a:off x="253518" y="5503678"/>
            <a:ext cx="6183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Events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7549B209-4201-2D14-1CD0-A69D9277ABA9}"/>
              </a:ext>
            </a:extLst>
          </p:cNvPr>
          <p:cNvSpPr/>
          <p:nvPr/>
        </p:nvSpPr>
        <p:spPr>
          <a:xfrm>
            <a:off x="8147794" y="3018211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41682B9-A34B-151A-384B-5B1DCF9DA467}"/>
              </a:ext>
            </a:extLst>
          </p:cNvPr>
          <p:cNvSpPr/>
          <p:nvPr/>
        </p:nvSpPr>
        <p:spPr>
          <a:xfrm>
            <a:off x="6202930" y="2592713"/>
            <a:ext cx="9869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Service</a:t>
            </a:r>
          </a:p>
        </p:txBody>
      </p:sp>
      <p:cxnSp>
        <p:nvCxnSpPr>
          <p:cNvPr id="59" name="Straight Arrow Connector 82">
            <a:extLst>
              <a:ext uri="{FF2B5EF4-FFF2-40B4-BE49-F238E27FC236}">
                <a16:creationId xmlns:a16="http://schemas.microsoft.com/office/drawing/2014/main" id="{50185DB7-D091-E02E-699E-5ACF8FAC6FA9}"/>
              </a:ext>
            </a:extLst>
          </p:cNvPr>
          <p:cNvCxnSpPr>
            <a:cxnSpLocks/>
            <a:stCxn id="58" idx="1"/>
            <a:endCxn id="47" idx="5"/>
          </p:cNvCxnSpPr>
          <p:nvPr/>
        </p:nvCxnSpPr>
        <p:spPr>
          <a:xfrm rot="10800000" flipV="1">
            <a:off x="4265656" y="2837690"/>
            <a:ext cx="1937274" cy="471180"/>
          </a:xfrm>
          <a:prstGeom prst="curvedConnector4">
            <a:avLst>
              <a:gd name="adj1" fmla="val 43754"/>
              <a:gd name="adj2" fmla="val 177431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F5340F2-4D8C-1918-AB26-90647E216CB3}"/>
              </a:ext>
            </a:extLst>
          </p:cNvPr>
          <p:cNvSpPr txBox="1"/>
          <p:nvPr/>
        </p:nvSpPr>
        <p:spPr>
          <a:xfrm>
            <a:off x="4515836" y="3239118"/>
            <a:ext cx="921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Authorisation events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DD37D2A-C5FA-89FF-882F-A86CD928B5ED}"/>
              </a:ext>
            </a:extLst>
          </p:cNvPr>
          <p:cNvSpPr/>
          <p:nvPr/>
        </p:nvSpPr>
        <p:spPr>
          <a:xfrm>
            <a:off x="6202930" y="1369225"/>
            <a:ext cx="9869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Account Management Service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63FE5F8-D40B-C30C-6E2F-8BB0419CBF23}"/>
              </a:ext>
            </a:extLst>
          </p:cNvPr>
          <p:cNvSpPr/>
          <p:nvPr/>
        </p:nvSpPr>
        <p:spPr>
          <a:xfrm>
            <a:off x="6202930" y="4427944"/>
            <a:ext cx="9869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Authentication Service</a:t>
            </a:r>
          </a:p>
        </p:txBody>
      </p:sp>
    </p:spTree>
    <p:extLst>
      <p:ext uri="{BB962C8B-B14F-4D97-AF65-F5344CB8AC3E}">
        <p14:creationId xmlns:p14="http://schemas.microsoft.com/office/powerpoint/2010/main" val="1548810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D9105-205C-4F65-DEAD-B519D71B9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7B04-7F7F-286E-7EF5-71FDB58A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9" y="59686"/>
            <a:ext cx="5533702" cy="438501"/>
          </a:xfrm>
        </p:spPr>
        <p:txBody>
          <a:bodyPr>
            <a:normAutofit/>
          </a:bodyPr>
          <a:lstStyle/>
          <a:p>
            <a:r>
              <a:rPr lang="en-GB" sz="2400" dirty="0"/>
              <a:t>Core processing – Data flows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ECB886-28B4-B868-60AF-AFAC66942B0A}"/>
              </a:ext>
            </a:extLst>
          </p:cNvPr>
          <p:cNvSpPr/>
          <p:nvPr/>
        </p:nvSpPr>
        <p:spPr>
          <a:xfrm>
            <a:off x="5927788" y="3506893"/>
            <a:ext cx="1134706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Orchestrator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42EA4F-A842-ACF2-CF1C-49135397F0C2}"/>
              </a:ext>
            </a:extLst>
          </p:cNvPr>
          <p:cNvSpPr/>
          <p:nvPr/>
        </p:nvSpPr>
        <p:spPr>
          <a:xfrm>
            <a:off x="1273956" y="4441623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Payment Service</a:t>
            </a:r>
          </a:p>
        </p:txBody>
      </p:sp>
      <p:cxnSp>
        <p:nvCxnSpPr>
          <p:cNvPr id="15" name="Straight Arrow Connector 72">
            <a:extLst>
              <a:ext uri="{FF2B5EF4-FFF2-40B4-BE49-F238E27FC236}">
                <a16:creationId xmlns:a16="http://schemas.microsoft.com/office/drawing/2014/main" id="{C6BB7215-DDCB-0D8E-989E-48223C400EFE}"/>
              </a:ext>
            </a:extLst>
          </p:cNvPr>
          <p:cNvCxnSpPr>
            <a:cxnSpLocks/>
            <a:stCxn id="11" idx="1"/>
            <a:endCxn id="57" idx="4"/>
          </p:cNvCxnSpPr>
          <p:nvPr/>
        </p:nvCxnSpPr>
        <p:spPr>
          <a:xfrm flipH="1">
            <a:off x="1018481" y="2706696"/>
            <a:ext cx="837149" cy="0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0D782D7-6758-D9FA-67F3-12A9E12D39BF}"/>
              </a:ext>
            </a:extLst>
          </p:cNvPr>
          <p:cNvSpPr/>
          <p:nvPr/>
        </p:nvSpPr>
        <p:spPr>
          <a:xfrm>
            <a:off x="6101084" y="766514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Banking Partner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15633-A3BD-BF29-4747-2D27260DC5C3}"/>
              </a:ext>
            </a:extLst>
          </p:cNvPr>
          <p:cNvSpPr/>
          <p:nvPr/>
        </p:nvSpPr>
        <p:spPr>
          <a:xfrm>
            <a:off x="1855630" y="740528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Web 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AC5710-6E0B-F5D8-ED92-063A7D5ECA5D}"/>
              </a:ext>
            </a:extLst>
          </p:cNvPr>
          <p:cNvSpPr/>
          <p:nvPr/>
        </p:nvSpPr>
        <p:spPr>
          <a:xfrm>
            <a:off x="2781288" y="740528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Mobile 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3540B4-D2A0-08B0-2014-88BB46F3D30F}"/>
              </a:ext>
            </a:extLst>
          </p:cNvPr>
          <p:cNvSpPr/>
          <p:nvPr/>
        </p:nvSpPr>
        <p:spPr>
          <a:xfrm>
            <a:off x="1273956" y="5275296"/>
            <a:ext cx="788114" cy="489954"/>
          </a:xfrm>
          <a:prstGeom prst="rect">
            <a:avLst/>
          </a:prstGeom>
          <a:solidFill>
            <a:schemeClr val="tx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Payment Connector</a:t>
            </a:r>
          </a:p>
        </p:txBody>
      </p:sp>
      <p:cxnSp>
        <p:nvCxnSpPr>
          <p:cNvPr id="17" name="Straight Arrow Connector 72">
            <a:extLst>
              <a:ext uri="{FF2B5EF4-FFF2-40B4-BE49-F238E27FC236}">
                <a16:creationId xmlns:a16="http://schemas.microsoft.com/office/drawing/2014/main" id="{2F94282A-A28E-B1DF-B28B-40D515B961CD}"/>
              </a:ext>
            </a:extLst>
          </p:cNvPr>
          <p:cNvCxnSpPr>
            <a:cxnSpLocks/>
            <a:stCxn id="14" idx="2"/>
            <a:endCxn id="192" idx="0"/>
          </p:cNvCxnSpPr>
          <p:nvPr/>
        </p:nvCxnSpPr>
        <p:spPr>
          <a:xfrm>
            <a:off x="1668013" y="5765250"/>
            <a:ext cx="0" cy="28889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72">
            <a:extLst>
              <a:ext uri="{FF2B5EF4-FFF2-40B4-BE49-F238E27FC236}">
                <a16:creationId xmlns:a16="http://schemas.microsoft.com/office/drawing/2014/main" id="{D5972B21-9EEA-27A0-879B-E01B20691D60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>
            <a:off x="1668013" y="4931577"/>
            <a:ext cx="0" cy="343719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357A644-58FD-C2F0-1548-6AE473648D18}"/>
              </a:ext>
            </a:extLst>
          </p:cNvPr>
          <p:cNvSpPr txBox="1"/>
          <p:nvPr/>
        </p:nvSpPr>
        <p:spPr>
          <a:xfrm>
            <a:off x="1933300" y="1396307"/>
            <a:ext cx="6679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</a:rPr>
              <a:t>Requests</a:t>
            </a:r>
          </a:p>
        </p:txBody>
      </p:sp>
      <p:cxnSp>
        <p:nvCxnSpPr>
          <p:cNvPr id="29" name="Straight Arrow Connector 72">
            <a:extLst>
              <a:ext uri="{FF2B5EF4-FFF2-40B4-BE49-F238E27FC236}">
                <a16:creationId xmlns:a16="http://schemas.microsoft.com/office/drawing/2014/main" id="{44ECCDF5-31D6-CF82-4E4B-8A5CFC462C81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>
            <a:off x="6495141" y="1256468"/>
            <a:ext cx="0" cy="415737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72">
            <a:extLst>
              <a:ext uri="{FF2B5EF4-FFF2-40B4-BE49-F238E27FC236}">
                <a16:creationId xmlns:a16="http://schemas.microsoft.com/office/drawing/2014/main" id="{B4CFCBB3-770C-9665-CF15-45DAA56D958C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>
            <a:off x="2249687" y="1230482"/>
            <a:ext cx="0" cy="441723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72">
            <a:extLst>
              <a:ext uri="{FF2B5EF4-FFF2-40B4-BE49-F238E27FC236}">
                <a16:creationId xmlns:a16="http://schemas.microsoft.com/office/drawing/2014/main" id="{70B70E5F-A136-5280-B192-210F4C79F7E8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rot="5400000">
            <a:off x="2491655" y="988514"/>
            <a:ext cx="441723" cy="925658"/>
          </a:xfrm>
          <a:prstGeom prst="bent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3DDC3E8-4230-F3F3-48F1-54CF301BDE64}"/>
              </a:ext>
            </a:extLst>
          </p:cNvPr>
          <p:cNvSpPr/>
          <p:nvPr/>
        </p:nvSpPr>
        <p:spPr>
          <a:xfrm>
            <a:off x="1855630" y="2461719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Data API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CBC848-E03D-831E-142A-8DD43B083E25}"/>
              </a:ext>
            </a:extLst>
          </p:cNvPr>
          <p:cNvSpPr/>
          <p:nvPr/>
        </p:nvSpPr>
        <p:spPr>
          <a:xfrm>
            <a:off x="5177077" y="766514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Processor</a:t>
            </a:r>
          </a:p>
        </p:txBody>
      </p:sp>
      <p:cxnSp>
        <p:nvCxnSpPr>
          <p:cNvPr id="12" name="Straight Arrow Connector 72">
            <a:extLst>
              <a:ext uri="{FF2B5EF4-FFF2-40B4-BE49-F238E27FC236}">
                <a16:creationId xmlns:a16="http://schemas.microsoft.com/office/drawing/2014/main" id="{6FB0D719-A057-6C9B-9F9B-31E8F6C1E676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 rot="16200000" flipH="1">
            <a:off x="5825269" y="1002332"/>
            <a:ext cx="415737" cy="924007"/>
          </a:xfrm>
          <a:prstGeom prst="bent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5B1EC-7D5A-FD9E-F122-D70F9406B341}"/>
              </a:ext>
            </a:extLst>
          </p:cNvPr>
          <p:cNvSpPr/>
          <p:nvPr/>
        </p:nvSpPr>
        <p:spPr>
          <a:xfrm>
            <a:off x="929974" y="1672205"/>
            <a:ext cx="2639426" cy="363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GraphQL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33215F-59D6-3B81-8D40-AF47990CA0F5}"/>
              </a:ext>
            </a:extLst>
          </p:cNvPr>
          <p:cNvSpPr/>
          <p:nvPr/>
        </p:nvSpPr>
        <p:spPr>
          <a:xfrm>
            <a:off x="5764794" y="1672205"/>
            <a:ext cx="1460694" cy="363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REST (webhook)</a:t>
            </a:r>
          </a:p>
        </p:txBody>
      </p:sp>
      <p:sp>
        <p:nvSpPr>
          <p:cNvPr id="40" name="Can 39">
            <a:extLst>
              <a:ext uri="{FF2B5EF4-FFF2-40B4-BE49-F238E27FC236}">
                <a16:creationId xmlns:a16="http://schemas.microsoft.com/office/drawing/2014/main" id="{5528C761-903A-60F9-FDEC-525CDFED158E}"/>
              </a:ext>
            </a:extLst>
          </p:cNvPr>
          <p:cNvSpPr/>
          <p:nvPr/>
        </p:nvSpPr>
        <p:spPr>
          <a:xfrm>
            <a:off x="7582115" y="1414687"/>
            <a:ext cx="890327" cy="879028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Events</a:t>
            </a:r>
          </a:p>
        </p:txBody>
      </p:sp>
      <p:cxnSp>
        <p:nvCxnSpPr>
          <p:cNvPr id="41" name="Straight Arrow Connector 72">
            <a:extLst>
              <a:ext uri="{FF2B5EF4-FFF2-40B4-BE49-F238E27FC236}">
                <a16:creationId xmlns:a16="http://schemas.microsoft.com/office/drawing/2014/main" id="{5C35D44F-F071-A257-D659-63E3E4D13AFC}"/>
              </a:ext>
            </a:extLst>
          </p:cNvPr>
          <p:cNvCxnSpPr>
            <a:cxnSpLocks/>
            <a:stCxn id="23" idx="3"/>
            <a:endCxn id="40" idx="2"/>
          </p:cNvCxnSpPr>
          <p:nvPr/>
        </p:nvCxnSpPr>
        <p:spPr>
          <a:xfrm>
            <a:off x="7225488" y="1854201"/>
            <a:ext cx="356627" cy="0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72">
            <a:extLst>
              <a:ext uri="{FF2B5EF4-FFF2-40B4-BE49-F238E27FC236}">
                <a16:creationId xmlns:a16="http://schemas.microsoft.com/office/drawing/2014/main" id="{5DF08E83-AEB4-A548-9674-6B9BE0346856}"/>
              </a:ext>
            </a:extLst>
          </p:cNvPr>
          <p:cNvCxnSpPr>
            <a:cxnSpLocks/>
            <a:stCxn id="40" idx="3"/>
            <a:endCxn id="19" idx="0"/>
          </p:cNvCxnSpPr>
          <p:nvPr/>
        </p:nvCxnSpPr>
        <p:spPr>
          <a:xfrm rot="5400000">
            <a:off x="6654621" y="2134235"/>
            <a:ext cx="1213178" cy="1532138"/>
          </a:xfrm>
          <a:prstGeom prst="bent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72">
            <a:extLst>
              <a:ext uri="{FF2B5EF4-FFF2-40B4-BE49-F238E27FC236}">
                <a16:creationId xmlns:a16="http://schemas.microsoft.com/office/drawing/2014/main" id="{3DBFBB24-35DF-CEB0-2749-74735BDE8D02}"/>
              </a:ext>
            </a:extLst>
          </p:cNvPr>
          <p:cNvCxnSpPr>
            <a:cxnSpLocks/>
            <a:stCxn id="223" idx="2"/>
            <a:endCxn id="3" idx="0"/>
          </p:cNvCxnSpPr>
          <p:nvPr/>
        </p:nvCxnSpPr>
        <p:spPr>
          <a:xfrm flipH="1">
            <a:off x="1668013" y="3996847"/>
            <a:ext cx="1005843" cy="444776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3A955DA-E13C-59B6-9380-81EB534C6C9D}"/>
              </a:ext>
            </a:extLst>
          </p:cNvPr>
          <p:cNvSpPr/>
          <p:nvPr/>
        </p:nvSpPr>
        <p:spPr>
          <a:xfrm>
            <a:off x="3217802" y="4441623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Service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2DEA5B9-2497-1533-014F-B4F97BE3CFC9}"/>
              </a:ext>
            </a:extLst>
          </p:cNvPr>
          <p:cNvSpPr/>
          <p:nvPr/>
        </p:nvSpPr>
        <p:spPr>
          <a:xfrm>
            <a:off x="2269546" y="4441623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Service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F43AF86-02AC-1BD5-EE4E-08180E443F62}"/>
              </a:ext>
            </a:extLst>
          </p:cNvPr>
          <p:cNvSpPr/>
          <p:nvPr/>
        </p:nvSpPr>
        <p:spPr>
          <a:xfrm>
            <a:off x="2269546" y="5275296"/>
            <a:ext cx="788114" cy="489954"/>
          </a:xfrm>
          <a:prstGeom prst="rect">
            <a:avLst/>
          </a:prstGeom>
          <a:solidFill>
            <a:schemeClr val="tx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provider Connector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91C2C3C-31BE-F950-51B0-155AC8BB82CC}"/>
              </a:ext>
            </a:extLst>
          </p:cNvPr>
          <p:cNvSpPr/>
          <p:nvPr/>
        </p:nvSpPr>
        <p:spPr>
          <a:xfrm>
            <a:off x="3217802" y="5275296"/>
            <a:ext cx="788114" cy="489954"/>
          </a:xfrm>
          <a:prstGeom prst="rect">
            <a:avLst/>
          </a:prstGeom>
          <a:solidFill>
            <a:schemeClr val="tx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Connector</a:t>
            </a:r>
          </a:p>
        </p:txBody>
      </p:sp>
      <p:cxnSp>
        <p:nvCxnSpPr>
          <p:cNvPr id="166" name="Straight Arrow Connector 72">
            <a:extLst>
              <a:ext uri="{FF2B5EF4-FFF2-40B4-BE49-F238E27FC236}">
                <a16:creationId xmlns:a16="http://schemas.microsoft.com/office/drawing/2014/main" id="{25917F48-2DA9-BCF0-D2A0-41B6147F1720}"/>
              </a:ext>
            </a:extLst>
          </p:cNvPr>
          <p:cNvCxnSpPr>
            <a:cxnSpLocks/>
            <a:stCxn id="158" idx="2"/>
            <a:endCxn id="164" idx="0"/>
          </p:cNvCxnSpPr>
          <p:nvPr/>
        </p:nvCxnSpPr>
        <p:spPr>
          <a:xfrm>
            <a:off x="2663603" y="4931577"/>
            <a:ext cx="0" cy="343719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72">
            <a:extLst>
              <a:ext uri="{FF2B5EF4-FFF2-40B4-BE49-F238E27FC236}">
                <a16:creationId xmlns:a16="http://schemas.microsoft.com/office/drawing/2014/main" id="{E8ADCC71-2367-9638-6687-EC01FBA5F9B7}"/>
              </a:ext>
            </a:extLst>
          </p:cNvPr>
          <p:cNvCxnSpPr>
            <a:cxnSpLocks/>
            <a:stCxn id="223" idx="2"/>
            <a:endCxn id="155" idx="0"/>
          </p:cNvCxnSpPr>
          <p:nvPr/>
        </p:nvCxnSpPr>
        <p:spPr>
          <a:xfrm>
            <a:off x="2673856" y="3996847"/>
            <a:ext cx="938003" cy="444776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72">
            <a:extLst>
              <a:ext uri="{FF2B5EF4-FFF2-40B4-BE49-F238E27FC236}">
                <a16:creationId xmlns:a16="http://schemas.microsoft.com/office/drawing/2014/main" id="{8503EF2B-5963-4D42-C6FC-54C9B8628285}"/>
              </a:ext>
            </a:extLst>
          </p:cNvPr>
          <p:cNvCxnSpPr>
            <a:cxnSpLocks/>
            <a:stCxn id="223" idx="2"/>
            <a:endCxn id="158" idx="0"/>
          </p:cNvCxnSpPr>
          <p:nvPr/>
        </p:nvCxnSpPr>
        <p:spPr>
          <a:xfrm flipH="1">
            <a:off x="2663603" y="3996847"/>
            <a:ext cx="10253" cy="444776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84E476F1-7B53-2D8C-5ECB-A3E9040EC2D7}"/>
              </a:ext>
            </a:extLst>
          </p:cNvPr>
          <p:cNvSpPr txBox="1"/>
          <p:nvPr/>
        </p:nvSpPr>
        <p:spPr>
          <a:xfrm>
            <a:off x="6098421" y="1266979"/>
            <a:ext cx="8472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</a:rPr>
              <a:t>Notifications</a:t>
            </a:r>
          </a:p>
        </p:txBody>
      </p:sp>
      <p:cxnSp>
        <p:nvCxnSpPr>
          <p:cNvPr id="185" name="Straight Arrow Connector 72">
            <a:extLst>
              <a:ext uri="{FF2B5EF4-FFF2-40B4-BE49-F238E27FC236}">
                <a16:creationId xmlns:a16="http://schemas.microsoft.com/office/drawing/2014/main" id="{6E134721-3EB0-A9BE-9FEF-3CC654D5695C}"/>
              </a:ext>
            </a:extLst>
          </p:cNvPr>
          <p:cNvCxnSpPr>
            <a:cxnSpLocks/>
            <a:stCxn id="164" idx="2"/>
            <a:endCxn id="193" idx="0"/>
          </p:cNvCxnSpPr>
          <p:nvPr/>
        </p:nvCxnSpPr>
        <p:spPr>
          <a:xfrm>
            <a:off x="2663603" y="5765250"/>
            <a:ext cx="0" cy="28889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72">
            <a:extLst>
              <a:ext uri="{FF2B5EF4-FFF2-40B4-BE49-F238E27FC236}">
                <a16:creationId xmlns:a16="http://schemas.microsoft.com/office/drawing/2014/main" id="{B2AE1F7F-0F0B-B905-6106-A7D5D850A7F5}"/>
              </a:ext>
            </a:extLst>
          </p:cNvPr>
          <p:cNvCxnSpPr>
            <a:cxnSpLocks/>
            <a:stCxn id="165" idx="2"/>
            <a:endCxn id="195" idx="0"/>
          </p:cNvCxnSpPr>
          <p:nvPr/>
        </p:nvCxnSpPr>
        <p:spPr>
          <a:xfrm>
            <a:off x="3611859" y="5765250"/>
            <a:ext cx="0" cy="28889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F90E6E88-1E3D-C586-7133-88469DBBA29B}"/>
              </a:ext>
            </a:extLst>
          </p:cNvPr>
          <p:cNvSpPr txBox="1"/>
          <p:nvPr/>
        </p:nvSpPr>
        <p:spPr>
          <a:xfrm>
            <a:off x="2733958" y="3132540"/>
            <a:ext cx="1036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</a:rPr>
              <a:t>Journal data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2968171-168D-27EC-FFD8-6A06B425A474}"/>
              </a:ext>
            </a:extLst>
          </p:cNvPr>
          <p:cNvSpPr/>
          <p:nvPr/>
        </p:nvSpPr>
        <p:spPr>
          <a:xfrm>
            <a:off x="1273956" y="6054142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Banking Partner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BDA37534-38CB-7134-3C45-5C2AF64E1A6B}"/>
              </a:ext>
            </a:extLst>
          </p:cNvPr>
          <p:cNvSpPr/>
          <p:nvPr/>
        </p:nvSpPr>
        <p:spPr>
          <a:xfrm>
            <a:off x="2269546" y="6054142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Provider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428F852-3D56-9FE2-C2E6-DDE887AC6929}"/>
              </a:ext>
            </a:extLst>
          </p:cNvPr>
          <p:cNvSpPr/>
          <p:nvPr/>
        </p:nvSpPr>
        <p:spPr>
          <a:xfrm>
            <a:off x="3217802" y="6054142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Processor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D5DE1552-CF9D-9960-0F69-C5EE5C7EF7E3}"/>
              </a:ext>
            </a:extLst>
          </p:cNvPr>
          <p:cNvSpPr/>
          <p:nvPr/>
        </p:nvSpPr>
        <p:spPr>
          <a:xfrm>
            <a:off x="5168855" y="5275296"/>
            <a:ext cx="788114" cy="489954"/>
          </a:xfrm>
          <a:prstGeom prst="rect">
            <a:avLst/>
          </a:prstGeom>
          <a:solidFill>
            <a:schemeClr val="tx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Payment Event Processor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106B0EA4-FCDE-709D-7479-33D1CF94983F}"/>
              </a:ext>
            </a:extLst>
          </p:cNvPr>
          <p:cNvSpPr/>
          <p:nvPr/>
        </p:nvSpPr>
        <p:spPr>
          <a:xfrm>
            <a:off x="6101084" y="5275296"/>
            <a:ext cx="788114" cy="489954"/>
          </a:xfrm>
          <a:prstGeom prst="rect">
            <a:avLst/>
          </a:prstGeom>
          <a:solidFill>
            <a:schemeClr val="tx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Event Processor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214F69F7-CFD8-AF29-3C1C-335243874D93}"/>
              </a:ext>
            </a:extLst>
          </p:cNvPr>
          <p:cNvSpPr/>
          <p:nvPr/>
        </p:nvSpPr>
        <p:spPr>
          <a:xfrm>
            <a:off x="7029743" y="5275296"/>
            <a:ext cx="788114" cy="489954"/>
          </a:xfrm>
          <a:prstGeom prst="rect">
            <a:avLst/>
          </a:prstGeom>
          <a:solidFill>
            <a:schemeClr val="tx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Event Processor</a:t>
            </a:r>
          </a:p>
        </p:txBody>
      </p:sp>
      <p:cxnSp>
        <p:nvCxnSpPr>
          <p:cNvPr id="215" name="Straight Arrow Connector 72">
            <a:extLst>
              <a:ext uri="{FF2B5EF4-FFF2-40B4-BE49-F238E27FC236}">
                <a16:creationId xmlns:a16="http://schemas.microsoft.com/office/drawing/2014/main" id="{4F286F90-5D3C-F13A-19B2-CCE81D5DF8D0}"/>
              </a:ext>
            </a:extLst>
          </p:cNvPr>
          <p:cNvCxnSpPr>
            <a:cxnSpLocks/>
            <a:stCxn id="250" idx="2"/>
            <a:endCxn id="210" idx="0"/>
          </p:cNvCxnSpPr>
          <p:nvPr/>
        </p:nvCxnSpPr>
        <p:spPr>
          <a:xfrm flipH="1">
            <a:off x="5562912" y="4688184"/>
            <a:ext cx="932229" cy="58711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B4024F51-8DE0-5C0D-8797-ED2F52B4CF55}"/>
              </a:ext>
            </a:extLst>
          </p:cNvPr>
          <p:cNvSpPr txBox="1"/>
          <p:nvPr/>
        </p:nvSpPr>
        <p:spPr>
          <a:xfrm>
            <a:off x="5985777" y="3296577"/>
            <a:ext cx="1036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</a:rPr>
              <a:t>Action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4CF0DA03-429C-DC2F-4980-6AB3129CCDD9}"/>
              </a:ext>
            </a:extLst>
          </p:cNvPr>
          <p:cNvSpPr/>
          <p:nvPr/>
        </p:nvSpPr>
        <p:spPr>
          <a:xfrm>
            <a:off x="2106503" y="3506893"/>
            <a:ext cx="1134706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Orchestrator</a:t>
            </a:r>
          </a:p>
        </p:txBody>
      </p:sp>
      <p:cxnSp>
        <p:nvCxnSpPr>
          <p:cNvPr id="232" name="Straight Arrow Connector 72">
            <a:extLst>
              <a:ext uri="{FF2B5EF4-FFF2-40B4-BE49-F238E27FC236}">
                <a16:creationId xmlns:a16="http://schemas.microsoft.com/office/drawing/2014/main" id="{E0A36E46-5CF7-6CFB-6BED-D471ADCDD5DF}"/>
              </a:ext>
            </a:extLst>
          </p:cNvPr>
          <p:cNvCxnSpPr>
            <a:cxnSpLocks/>
            <a:stCxn id="22" idx="2"/>
            <a:endCxn id="11" idx="0"/>
          </p:cNvCxnSpPr>
          <p:nvPr/>
        </p:nvCxnSpPr>
        <p:spPr>
          <a:xfrm>
            <a:off x="2249687" y="2036197"/>
            <a:ext cx="0" cy="42552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72">
            <a:extLst>
              <a:ext uri="{FF2B5EF4-FFF2-40B4-BE49-F238E27FC236}">
                <a16:creationId xmlns:a16="http://schemas.microsoft.com/office/drawing/2014/main" id="{7C609A39-F5B8-BC6B-9E1D-CB0850416FD8}"/>
              </a:ext>
            </a:extLst>
          </p:cNvPr>
          <p:cNvCxnSpPr>
            <a:cxnSpLocks/>
            <a:stCxn id="250" idx="2"/>
            <a:endCxn id="211" idx="0"/>
          </p:cNvCxnSpPr>
          <p:nvPr/>
        </p:nvCxnSpPr>
        <p:spPr>
          <a:xfrm>
            <a:off x="6495141" y="4688184"/>
            <a:ext cx="0" cy="58711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72">
            <a:extLst>
              <a:ext uri="{FF2B5EF4-FFF2-40B4-BE49-F238E27FC236}">
                <a16:creationId xmlns:a16="http://schemas.microsoft.com/office/drawing/2014/main" id="{4BB47646-43C3-DB10-A68E-B3805A01FB0D}"/>
              </a:ext>
            </a:extLst>
          </p:cNvPr>
          <p:cNvCxnSpPr>
            <a:cxnSpLocks/>
            <a:stCxn id="250" idx="2"/>
            <a:endCxn id="213" idx="0"/>
          </p:cNvCxnSpPr>
          <p:nvPr/>
        </p:nvCxnSpPr>
        <p:spPr>
          <a:xfrm>
            <a:off x="6495141" y="4688184"/>
            <a:ext cx="928659" cy="58711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7FE97E3-F7BD-64F8-7B91-FFF54245CF08}"/>
              </a:ext>
            </a:extLst>
          </p:cNvPr>
          <p:cNvSpPr/>
          <p:nvPr/>
        </p:nvSpPr>
        <p:spPr>
          <a:xfrm>
            <a:off x="5764794" y="4324192"/>
            <a:ext cx="1460694" cy="363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REST</a:t>
            </a:r>
          </a:p>
        </p:txBody>
      </p:sp>
      <p:cxnSp>
        <p:nvCxnSpPr>
          <p:cNvPr id="260" name="Straight Arrow Connector 72">
            <a:extLst>
              <a:ext uri="{FF2B5EF4-FFF2-40B4-BE49-F238E27FC236}">
                <a16:creationId xmlns:a16="http://schemas.microsoft.com/office/drawing/2014/main" id="{A1641FEA-1308-608F-263B-3A912B057079}"/>
              </a:ext>
            </a:extLst>
          </p:cNvPr>
          <p:cNvCxnSpPr>
            <a:cxnSpLocks/>
          </p:cNvCxnSpPr>
          <p:nvPr/>
        </p:nvCxnSpPr>
        <p:spPr>
          <a:xfrm>
            <a:off x="6495141" y="3996847"/>
            <a:ext cx="0" cy="548068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Rectangle 263">
            <a:extLst>
              <a:ext uri="{FF2B5EF4-FFF2-40B4-BE49-F238E27FC236}">
                <a16:creationId xmlns:a16="http://schemas.microsoft.com/office/drawing/2014/main" id="{C14E9EE7-0E4C-1E3D-0C82-54CC03589028}"/>
              </a:ext>
            </a:extLst>
          </p:cNvPr>
          <p:cNvSpPr/>
          <p:nvPr/>
        </p:nvSpPr>
        <p:spPr>
          <a:xfrm>
            <a:off x="7056716" y="766514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provider</a:t>
            </a:r>
          </a:p>
        </p:txBody>
      </p:sp>
      <p:cxnSp>
        <p:nvCxnSpPr>
          <p:cNvPr id="265" name="Straight Arrow Connector 72">
            <a:extLst>
              <a:ext uri="{FF2B5EF4-FFF2-40B4-BE49-F238E27FC236}">
                <a16:creationId xmlns:a16="http://schemas.microsoft.com/office/drawing/2014/main" id="{AFBDA4C6-2EBD-45AC-32CC-C0C2E311FB1D}"/>
              </a:ext>
            </a:extLst>
          </p:cNvPr>
          <p:cNvCxnSpPr>
            <a:cxnSpLocks/>
            <a:endCxn id="23" idx="0"/>
          </p:cNvCxnSpPr>
          <p:nvPr/>
        </p:nvCxnSpPr>
        <p:spPr>
          <a:xfrm rot="10800000" flipV="1">
            <a:off x="6495141" y="1256467"/>
            <a:ext cx="995390" cy="415737"/>
          </a:xfrm>
          <a:prstGeom prst="bent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Can 267">
            <a:extLst>
              <a:ext uri="{FF2B5EF4-FFF2-40B4-BE49-F238E27FC236}">
                <a16:creationId xmlns:a16="http://schemas.microsoft.com/office/drawing/2014/main" id="{25A1CA68-74F7-2504-F183-DF427BDEA3D2}"/>
              </a:ext>
            </a:extLst>
          </p:cNvPr>
          <p:cNvSpPr/>
          <p:nvPr/>
        </p:nvSpPr>
        <p:spPr>
          <a:xfrm>
            <a:off x="3055007" y="2267182"/>
            <a:ext cx="769178" cy="879028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Ledger</a:t>
            </a:r>
          </a:p>
        </p:txBody>
      </p:sp>
      <p:cxnSp>
        <p:nvCxnSpPr>
          <p:cNvPr id="269" name="Straight Arrow Connector 72">
            <a:extLst>
              <a:ext uri="{FF2B5EF4-FFF2-40B4-BE49-F238E27FC236}">
                <a16:creationId xmlns:a16="http://schemas.microsoft.com/office/drawing/2014/main" id="{E7823DA2-156A-6C0C-A3CC-8115D7E99D25}"/>
              </a:ext>
            </a:extLst>
          </p:cNvPr>
          <p:cNvCxnSpPr>
            <a:cxnSpLocks/>
            <a:stCxn id="223" idx="0"/>
            <a:endCxn id="268" idx="3"/>
          </p:cNvCxnSpPr>
          <p:nvPr/>
        </p:nvCxnSpPr>
        <p:spPr>
          <a:xfrm rot="5400000" flipH="1" flipV="1">
            <a:off x="2876385" y="2943682"/>
            <a:ext cx="360683" cy="765740"/>
          </a:xfrm>
          <a:prstGeom prst="bent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1EBC204-EAD7-3EB5-A998-7F266FEFC52B}"/>
              </a:ext>
            </a:extLst>
          </p:cNvPr>
          <p:cNvSpPr/>
          <p:nvPr/>
        </p:nvSpPr>
        <p:spPr>
          <a:xfrm>
            <a:off x="5189558" y="6155596"/>
            <a:ext cx="2620416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Event Channel</a:t>
            </a:r>
          </a:p>
        </p:txBody>
      </p:sp>
      <p:cxnSp>
        <p:nvCxnSpPr>
          <p:cNvPr id="10" name="Straight Arrow Connector 72">
            <a:extLst>
              <a:ext uri="{FF2B5EF4-FFF2-40B4-BE49-F238E27FC236}">
                <a16:creationId xmlns:a16="http://schemas.microsoft.com/office/drawing/2014/main" id="{02037E5B-2B53-E8B3-E66F-B6DC90B0F094}"/>
              </a:ext>
            </a:extLst>
          </p:cNvPr>
          <p:cNvCxnSpPr>
            <a:cxnSpLocks/>
            <a:stCxn id="9" idx="1"/>
            <a:endCxn id="7" idx="3"/>
          </p:cNvCxnSpPr>
          <p:nvPr/>
        </p:nvCxnSpPr>
        <p:spPr>
          <a:xfrm rot="10800000">
            <a:off x="3569402" y="985505"/>
            <a:ext cx="1620156" cy="5415068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72">
            <a:extLst>
              <a:ext uri="{FF2B5EF4-FFF2-40B4-BE49-F238E27FC236}">
                <a16:creationId xmlns:a16="http://schemas.microsoft.com/office/drawing/2014/main" id="{39F42D8E-9251-2825-0948-4950C447AF4E}"/>
              </a:ext>
            </a:extLst>
          </p:cNvPr>
          <p:cNvCxnSpPr>
            <a:cxnSpLocks/>
            <a:stCxn id="210" idx="2"/>
            <a:endCxn id="9" idx="0"/>
          </p:cNvCxnSpPr>
          <p:nvPr/>
        </p:nvCxnSpPr>
        <p:spPr>
          <a:xfrm rot="16200000" flipH="1">
            <a:off x="5836166" y="5491996"/>
            <a:ext cx="390346" cy="936854"/>
          </a:xfrm>
          <a:prstGeom prst="bent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72">
            <a:extLst>
              <a:ext uri="{FF2B5EF4-FFF2-40B4-BE49-F238E27FC236}">
                <a16:creationId xmlns:a16="http://schemas.microsoft.com/office/drawing/2014/main" id="{43EAEA27-4E5D-0DDD-4B19-54E5D383FE82}"/>
              </a:ext>
            </a:extLst>
          </p:cNvPr>
          <p:cNvCxnSpPr>
            <a:cxnSpLocks/>
            <a:stCxn id="211" idx="2"/>
            <a:endCxn id="9" idx="0"/>
          </p:cNvCxnSpPr>
          <p:nvPr/>
        </p:nvCxnSpPr>
        <p:spPr>
          <a:xfrm>
            <a:off x="6495141" y="5765250"/>
            <a:ext cx="4625" cy="390346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72">
            <a:extLst>
              <a:ext uri="{FF2B5EF4-FFF2-40B4-BE49-F238E27FC236}">
                <a16:creationId xmlns:a16="http://schemas.microsoft.com/office/drawing/2014/main" id="{54268355-30C1-1C52-7E4A-E18AD74782C5}"/>
              </a:ext>
            </a:extLst>
          </p:cNvPr>
          <p:cNvCxnSpPr>
            <a:cxnSpLocks/>
            <a:stCxn id="213" idx="2"/>
            <a:endCxn id="9" idx="0"/>
          </p:cNvCxnSpPr>
          <p:nvPr/>
        </p:nvCxnSpPr>
        <p:spPr>
          <a:xfrm rot="5400000">
            <a:off x="6766610" y="5498406"/>
            <a:ext cx="390346" cy="924034"/>
          </a:xfrm>
          <a:prstGeom prst="bent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AD842A7-FE3D-5B70-FC3E-AE7A55D65483}"/>
              </a:ext>
            </a:extLst>
          </p:cNvPr>
          <p:cNvSpPr txBox="1"/>
          <p:nvPr/>
        </p:nvSpPr>
        <p:spPr>
          <a:xfrm>
            <a:off x="4500868" y="5858801"/>
            <a:ext cx="6679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</a:rPr>
              <a:t>Event</a:t>
            </a:r>
          </a:p>
        </p:txBody>
      </p:sp>
      <p:cxnSp>
        <p:nvCxnSpPr>
          <p:cNvPr id="42" name="Straight Arrow Connector 72">
            <a:extLst>
              <a:ext uri="{FF2B5EF4-FFF2-40B4-BE49-F238E27FC236}">
                <a16:creationId xmlns:a16="http://schemas.microsoft.com/office/drawing/2014/main" id="{5C451AA2-CA94-FC59-5806-8641F98C5A77}"/>
              </a:ext>
            </a:extLst>
          </p:cNvPr>
          <p:cNvCxnSpPr>
            <a:cxnSpLocks/>
            <a:stCxn id="9" idx="1"/>
            <a:endCxn id="6" idx="0"/>
          </p:cNvCxnSpPr>
          <p:nvPr/>
        </p:nvCxnSpPr>
        <p:spPr>
          <a:xfrm rot="10800000">
            <a:off x="2249688" y="740529"/>
            <a:ext cx="2939871" cy="5660045"/>
          </a:xfrm>
          <a:prstGeom prst="curvedConnector4">
            <a:avLst>
              <a:gd name="adj1" fmla="val 43298"/>
              <a:gd name="adj2" fmla="val 104039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72">
            <a:extLst>
              <a:ext uri="{FF2B5EF4-FFF2-40B4-BE49-F238E27FC236}">
                <a16:creationId xmlns:a16="http://schemas.microsoft.com/office/drawing/2014/main" id="{5D284166-53E1-E33A-2F0C-3DB3F7BE3AA0}"/>
              </a:ext>
            </a:extLst>
          </p:cNvPr>
          <p:cNvCxnSpPr>
            <a:cxnSpLocks/>
            <a:stCxn id="155" idx="2"/>
            <a:endCxn id="165" idx="0"/>
          </p:cNvCxnSpPr>
          <p:nvPr/>
        </p:nvCxnSpPr>
        <p:spPr>
          <a:xfrm>
            <a:off x="3611859" y="4931577"/>
            <a:ext cx="0" cy="343719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2E739C1-8324-53F1-2A9B-8E2E07A02B53}"/>
              </a:ext>
            </a:extLst>
          </p:cNvPr>
          <p:cNvSpPr/>
          <p:nvPr/>
        </p:nvSpPr>
        <p:spPr>
          <a:xfrm>
            <a:off x="929974" y="740528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Processor</a:t>
            </a:r>
          </a:p>
        </p:txBody>
      </p:sp>
      <p:cxnSp>
        <p:nvCxnSpPr>
          <p:cNvPr id="45" name="Straight Arrow Connector 72">
            <a:extLst>
              <a:ext uri="{FF2B5EF4-FFF2-40B4-BE49-F238E27FC236}">
                <a16:creationId xmlns:a16="http://schemas.microsoft.com/office/drawing/2014/main" id="{25ECC84F-3DF8-C793-72AE-128075CC7068}"/>
              </a:ext>
            </a:extLst>
          </p:cNvPr>
          <p:cNvCxnSpPr>
            <a:cxnSpLocks/>
            <a:stCxn id="30" idx="2"/>
            <a:endCxn id="22" idx="0"/>
          </p:cNvCxnSpPr>
          <p:nvPr/>
        </p:nvCxnSpPr>
        <p:spPr>
          <a:xfrm rot="16200000" flipH="1">
            <a:off x="1565998" y="988515"/>
            <a:ext cx="441723" cy="925656"/>
          </a:xfrm>
          <a:prstGeom prst="bent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n 56">
            <a:extLst>
              <a:ext uri="{FF2B5EF4-FFF2-40B4-BE49-F238E27FC236}">
                <a16:creationId xmlns:a16="http://schemas.microsoft.com/office/drawing/2014/main" id="{FAC3F6CB-6025-D523-885D-845FDFD1AF45}"/>
              </a:ext>
            </a:extLst>
          </p:cNvPr>
          <p:cNvSpPr/>
          <p:nvPr/>
        </p:nvSpPr>
        <p:spPr>
          <a:xfrm>
            <a:off x="249303" y="2267182"/>
            <a:ext cx="769178" cy="879028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ODS</a:t>
            </a:r>
          </a:p>
        </p:txBody>
      </p:sp>
      <p:cxnSp>
        <p:nvCxnSpPr>
          <p:cNvPr id="63" name="Straight Arrow Connector 72">
            <a:extLst>
              <a:ext uri="{FF2B5EF4-FFF2-40B4-BE49-F238E27FC236}">
                <a16:creationId xmlns:a16="http://schemas.microsoft.com/office/drawing/2014/main" id="{9D9F275F-D60B-D342-EBC3-846D4A3BB485}"/>
              </a:ext>
            </a:extLst>
          </p:cNvPr>
          <p:cNvCxnSpPr>
            <a:cxnSpLocks/>
            <a:stCxn id="57" idx="3"/>
            <a:endCxn id="135" idx="0"/>
          </p:cNvCxnSpPr>
          <p:nvPr/>
        </p:nvCxnSpPr>
        <p:spPr>
          <a:xfrm>
            <a:off x="633892" y="3146210"/>
            <a:ext cx="0" cy="1279041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7E47F8FB-45F3-F4CE-089E-06D6A902CB3D}"/>
              </a:ext>
            </a:extLst>
          </p:cNvPr>
          <p:cNvSpPr txBox="1"/>
          <p:nvPr/>
        </p:nvSpPr>
        <p:spPr>
          <a:xfrm>
            <a:off x="2346300" y="4182344"/>
            <a:ext cx="1036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</a:rPr>
              <a:t>Transactions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715F37F-B4D8-1DD9-3A90-49377F7677B1}"/>
              </a:ext>
            </a:extLst>
          </p:cNvPr>
          <p:cNvSpPr/>
          <p:nvPr/>
        </p:nvSpPr>
        <p:spPr>
          <a:xfrm>
            <a:off x="239835" y="4425251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Risk Assessment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DD48531-7B96-6DCA-88A0-7D08CE55A970}"/>
              </a:ext>
            </a:extLst>
          </p:cNvPr>
          <p:cNvSpPr/>
          <p:nvPr/>
        </p:nvSpPr>
        <p:spPr>
          <a:xfrm>
            <a:off x="239835" y="5275295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Payment Monitoring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9171C6D-3D91-EF32-376C-41F43805F5E7}"/>
              </a:ext>
            </a:extLst>
          </p:cNvPr>
          <p:cNvSpPr/>
          <p:nvPr/>
        </p:nvSpPr>
        <p:spPr>
          <a:xfrm>
            <a:off x="239835" y="6054142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BI/Analytics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B8AB1682-C45B-F0D9-095B-2B361CC4D0DD}"/>
              </a:ext>
            </a:extLst>
          </p:cNvPr>
          <p:cNvSpPr/>
          <p:nvPr/>
        </p:nvSpPr>
        <p:spPr>
          <a:xfrm>
            <a:off x="724464" y="3396134"/>
            <a:ext cx="1219046" cy="7267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Reconciliation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E7242F2-CC79-4815-5504-74C295CECFA6}"/>
              </a:ext>
            </a:extLst>
          </p:cNvPr>
          <p:cNvSpPr/>
          <p:nvPr/>
        </p:nvSpPr>
        <p:spPr>
          <a:xfrm>
            <a:off x="4305204" y="740527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FPMS</a:t>
            </a:r>
          </a:p>
        </p:txBody>
      </p:sp>
      <p:cxnSp>
        <p:nvCxnSpPr>
          <p:cNvPr id="144" name="Straight Arrow Connector 72">
            <a:extLst>
              <a:ext uri="{FF2B5EF4-FFF2-40B4-BE49-F238E27FC236}">
                <a16:creationId xmlns:a16="http://schemas.microsoft.com/office/drawing/2014/main" id="{3CC895E4-E1D8-095A-D18B-CA10A4831828}"/>
              </a:ext>
            </a:extLst>
          </p:cNvPr>
          <p:cNvCxnSpPr>
            <a:cxnSpLocks/>
            <a:stCxn id="142" idx="2"/>
            <a:endCxn id="23" idx="1"/>
          </p:cNvCxnSpPr>
          <p:nvPr/>
        </p:nvCxnSpPr>
        <p:spPr>
          <a:xfrm rot="16200000" flipH="1">
            <a:off x="4920167" y="1009574"/>
            <a:ext cx="623720" cy="1065533"/>
          </a:xfrm>
          <a:prstGeom prst="bent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72">
            <a:extLst>
              <a:ext uri="{FF2B5EF4-FFF2-40B4-BE49-F238E27FC236}">
                <a16:creationId xmlns:a16="http://schemas.microsoft.com/office/drawing/2014/main" id="{9D46A3B2-7474-9097-2C0A-2E0AE5C8DDC8}"/>
              </a:ext>
            </a:extLst>
          </p:cNvPr>
          <p:cNvCxnSpPr>
            <a:cxnSpLocks/>
            <a:stCxn id="19" idx="1"/>
            <a:endCxn id="140" idx="0"/>
          </p:cNvCxnSpPr>
          <p:nvPr/>
        </p:nvCxnSpPr>
        <p:spPr>
          <a:xfrm rot="10800000">
            <a:off x="1333988" y="3396134"/>
            <a:ext cx="4593801" cy="355736"/>
          </a:xfrm>
          <a:prstGeom prst="curvedConnector4">
            <a:avLst>
              <a:gd name="adj1" fmla="val 43366"/>
              <a:gd name="adj2" fmla="val 164261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72">
            <a:extLst>
              <a:ext uri="{FF2B5EF4-FFF2-40B4-BE49-F238E27FC236}">
                <a16:creationId xmlns:a16="http://schemas.microsoft.com/office/drawing/2014/main" id="{83E34533-8947-1B50-FC23-C848A3487A22}"/>
              </a:ext>
            </a:extLst>
          </p:cNvPr>
          <p:cNvCxnSpPr>
            <a:cxnSpLocks/>
            <a:stCxn id="57" idx="3"/>
            <a:endCxn id="140" idx="1"/>
          </p:cNvCxnSpPr>
          <p:nvPr/>
        </p:nvCxnSpPr>
        <p:spPr>
          <a:xfrm>
            <a:off x="633892" y="3146210"/>
            <a:ext cx="269097" cy="356354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797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286E62C-3281-8099-9BF1-ED746FD0B584}"/>
              </a:ext>
            </a:extLst>
          </p:cNvPr>
          <p:cNvSpPr/>
          <p:nvPr/>
        </p:nvSpPr>
        <p:spPr>
          <a:xfrm>
            <a:off x="786214" y="2682314"/>
            <a:ext cx="1504060" cy="7370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GraphQL</a:t>
            </a:r>
            <a:br>
              <a:rPr lang="en-GB" sz="1200" dirty="0"/>
            </a:br>
            <a:r>
              <a:rPr lang="en-GB" sz="1200" dirty="0"/>
              <a:t> mutations</a:t>
            </a:r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F2F107C3-6B2F-0957-40B7-F59C445CCECE}"/>
              </a:ext>
            </a:extLst>
          </p:cNvPr>
          <p:cNvSpPr/>
          <p:nvPr/>
        </p:nvSpPr>
        <p:spPr>
          <a:xfrm>
            <a:off x="3144853" y="2367188"/>
            <a:ext cx="1427148" cy="136732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Operational Datastore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A97B905-3C0C-5390-F97C-F1534CA10356}"/>
              </a:ext>
            </a:extLst>
          </p:cNvPr>
          <p:cNvSpPr/>
          <p:nvPr/>
        </p:nvSpPr>
        <p:spPr>
          <a:xfrm>
            <a:off x="5544797" y="2682314"/>
            <a:ext cx="1504060" cy="73707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/>
              <a:t>Hasura</a:t>
            </a:r>
            <a:r>
              <a:rPr lang="en-GB" sz="1200" dirty="0"/>
              <a:t> </a:t>
            </a:r>
            <a:br>
              <a:rPr lang="en-GB" sz="1200" dirty="0"/>
            </a:br>
            <a:r>
              <a:rPr lang="en-GB" sz="1200" dirty="0"/>
              <a:t>events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4E0E4A5-CA11-85B8-A314-5C0AD43995A8}"/>
              </a:ext>
            </a:extLst>
          </p:cNvPr>
          <p:cNvSpPr/>
          <p:nvPr/>
        </p:nvSpPr>
        <p:spPr>
          <a:xfrm>
            <a:off x="8021653" y="2682314"/>
            <a:ext cx="1504060" cy="7370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Serverless functions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B7D1AC-3800-7D57-E37A-CAD52A109DC4}"/>
              </a:ext>
            </a:extLst>
          </p:cNvPr>
          <p:cNvCxnSpPr>
            <a:stCxn id="4" idx="3"/>
            <a:endCxn id="5" idx="2"/>
          </p:cNvCxnSpPr>
          <p:nvPr/>
        </p:nvCxnSpPr>
        <p:spPr>
          <a:xfrm>
            <a:off x="2290274" y="3050852"/>
            <a:ext cx="85457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C330A5-E3EA-6D5C-92C1-6D69BB7EB487}"/>
              </a:ext>
            </a:extLst>
          </p:cNvPr>
          <p:cNvCxnSpPr>
            <a:cxnSpLocks/>
            <a:stCxn id="5" idx="4"/>
            <a:endCxn id="6" idx="1"/>
          </p:cNvCxnSpPr>
          <p:nvPr/>
        </p:nvCxnSpPr>
        <p:spPr>
          <a:xfrm>
            <a:off x="4572001" y="3050852"/>
            <a:ext cx="97279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DB0480-A6F4-2738-304C-EEF15E36836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48857" y="3050852"/>
            <a:ext cx="97279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9F6BD47F-056E-EDBE-1E51-47B89756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02" y="232519"/>
            <a:ext cx="5218836" cy="457200"/>
          </a:xfrm>
        </p:spPr>
        <p:txBody>
          <a:bodyPr>
            <a:normAutofit/>
          </a:bodyPr>
          <a:lstStyle/>
          <a:p>
            <a:r>
              <a:rPr lang="en-GB" sz="2400" dirty="0" err="1"/>
              <a:t>Hasura</a:t>
            </a:r>
            <a:r>
              <a:rPr lang="en-GB" sz="2400" dirty="0"/>
              <a:t> event trigger processing</a:t>
            </a:r>
          </a:p>
        </p:txBody>
      </p:sp>
    </p:spTree>
    <p:extLst>
      <p:ext uri="{BB962C8B-B14F-4D97-AF65-F5344CB8AC3E}">
        <p14:creationId xmlns:p14="http://schemas.microsoft.com/office/powerpoint/2010/main" val="3798090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Network Load Balancer resource icon for the Elastic Load Balancing service.">
            <a:extLst>
              <a:ext uri="{FF2B5EF4-FFF2-40B4-BE49-F238E27FC236}">
                <a16:creationId xmlns:a16="http://schemas.microsoft.com/office/drawing/2014/main" id="{8B5FD739-BD6B-1A5A-FFF7-C873CEA51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9208" y="2733969"/>
            <a:ext cx="657999" cy="6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E92A54D-DB07-A321-99BD-EA822BBBA45C}"/>
              </a:ext>
            </a:extLst>
          </p:cNvPr>
          <p:cNvSpPr/>
          <p:nvPr/>
        </p:nvSpPr>
        <p:spPr>
          <a:xfrm>
            <a:off x="3584122" y="2351315"/>
            <a:ext cx="2988128" cy="170671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highlight>
                <a:srgbClr val="FF0000"/>
              </a:highlight>
            </a:endParaRPr>
          </a:p>
        </p:txBody>
      </p:sp>
      <p:pic>
        <p:nvPicPr>
          <p:cNvPr id="7" name="Graphic 18" descr="Amazon Elastic Container Service (Amazon ECS) service icon.">
            <a:extLst>
              <a:ext uri="{FF2B5EF4-FFF2-40B4-BE49-F238E27FC236}">
                <a16:creationId xmlns:a16="http://schemas.microsoft.com/office/drawing/2014/main" id="{1A9F5929-9C03-39A2-5523-DB4F39168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3781879" y="26819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864604A-3497-8F60-7A74-6848A4692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5599793" y="26819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AD4A12-A5CF-8202-DB11-B1A01DF51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070" y="3443968"/>
            <a:ext cx="2243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6075A0-6AFD-3AA0-EABB-5AEA442A9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5001" y="3473130"/>
            <a:ext cx="11554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</p:txBody>
      </p:sp>
      <p:pic>
        <p:nvPicPr>
          <p:cNvPr id="12" name="Graphic 6" descr="Amazon Virtual Private Cloud (Amazon VPC) service icon.">
            <a:extLst>
              <a:ext uri="{FF2B5EF4-FFF2-40B4-BE49-F238E27FC236}">
                <a16:creationId xmlns:a16="http://schemas.microsoft.com/office/drawing/2014/main" id="{F395C84A-CD0F-9B8F-723C-C1A71A00B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3781879" y="1920715"/>
            <a:ext cx="610507" cy="610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6CFD05-6E74-753A-3BDE-F739B4EED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4265" y="2047489"/>
            <a:ext cx="5390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FA3070-05A4-F6DB-A139-AFFCAD7DB9E6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4543879" y="3062968"/>
            <a:ext cx="10559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blue logo with a x in the center&#10;&#10;AI-generated content may be incorrect.">
            <a:extLst>
              <a:ext uri="{FF2B5EF4-FFF2-40B4-BE49-F238E27FC236}">
                <a16:creationId xmlns:a16="http://schemas.microsoft.com/office/drawing/2014/main" id="{B53C4345-43C1-1376-7369-DBF97BBC29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4856" y="1053394"/>
            <a:ext cx="621410" cy="72341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1290942-CE1E-F5DE-46A7-D2ECF8F0168B}"/>
              </a:ext>
            </a:extLst>
          </p:cNvPr>
          <p:cNvSpPr/>
          <p:nvPr/>
        </p:nvSpPr>
        <p:spPr>
          <a:xfrm>
            <a:off x="5278893" y="999739"/>
            <a:ext cx="2411865" cy="104775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highlight>
                <a:srgbClr val="FF0000"/>
              </a:highlight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6BB770-967C-A9D2-4306-EC5146121C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9066" y="848087"/>
            <a:ext cx="987131" cy="9871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3B75DAF-5C9B-2E31-E029-6D9863E22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8806" y="1579561"/>
            <a:ext cx="18043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Hasura</a:t>
            </a: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docker image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8C71A8-FF2E-A687-E1B0-12C051E5DA8C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 flipV="1">
            <a:off x="4543879" y="1523614"/>
            <a:ext cx="735014" cy="153935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BA83258-E756-4230-24A4-08F541A8A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671" y="3339967"/>
            <a:ext cx="8780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Load Balancer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8B1E1F-A63C-2BB3-7718-B7CEAD5130BA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857207" y="3062968"/>
            <a:ext cx="6289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37FE4AA-3D05-6AA8-D091-B79270D17B44}"/>
              </a:ext>
            </a:extLst>
          </p:cNvPr>
          <p:cNvGrpSpPr/>
          <p:nvPr/>
        </p:nvGrpSpPr>
        <p:grpSpPr>
          <a:xfrm>
            <a:off x="2925195" y="4314596"/>
            <a:ext cx="2281238" cy="1042174"/>
            <a:chOff x="2043452" y="3198746"/>
            <a:chExt cx="2281238" cy="1042174"/>
          </a:xfrm>
        </p:grpSpPr>
        <p:pic>
          <p:nvPicPr>
            <p:cNvPr id="32" name="Graphic 20" descr="Amazon Elastic Container Registry (Amazon ECR) Service icon.">
              <a:extLst>
                <a:ext uri="{FF2B5EF4-FFF2-40B4-BE49-F238E27FC236}">
                  <a16:creationId xmlns:a16="http://schemas.microsoft.com/office/drawing/2014/main" id="{E07209B5-AE80-67B8-A8E7-2D0D489D94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 bwMode="auto">
            <a:xfrm>
              <a:off x="2811802" y="3198746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C54FEE4B-DB14-5F4A-7F52-FDDE8CDD54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3452" y="3963921"/>
              <a:ext cx="228123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ECR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7BF4ECD-F117-D4A1-DDBE-442C64CDEDBA}"/>
              </a:ext>
            </a:extLst>
          </p:cNvPr>
          <p:cNvGrpSpPr/>
          <p:nvPr/>
        </p:nvGrpSpPr>
        <p:grpSpPr>
          <a:xfrm>
            <a:off x="3908542" y="4317771"/>
            <a:ext cx="2279650" cy="1038999"/>
            <a:chOff x="3818731" y="3278254"/>
            <a:chExt cx="2279650" cy="1038999"/>
          </a:xfrm>
        </p:grpSpPr>
        <p:pic>
          <p:nvPicPr>
            <p:cNvPr id="34" name="Graphic 19" descr="AWS Identity and Access Management (IAM) service icon.">
              <a:extLst>
                <a:ext uri="{FF2B5EF4-FFF2-40B4-BE49-F238E27FC236}">
                  <a16:creationId xmlns:a16="http://schemas.microsoft.com/office/drawing/2014/main" id="{231A74FB-E34C-867A-4874-61B63BDFDA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 bwMode="auto">
            <a:xfrm>
              <a:off x="4568031" y="3278254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Box 12">
              <a:extLst>
                <a:ext uri="{FF2B5EF4-FFF2-40B4-BE49-F238E27FC236}">
                  <a16:creationId xmlns:a16="http://schemas.microsoft.com/office/drawing/2014/main" id="{BA5E6A1E-A912-D279-7D81-0B7CFFB00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8731" y="4040254"/>
              <a:ext cx="22796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IAM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C5C3C76-7082-C014-B142-53925F2681D6}"/>
              </a:ext>
            </a:extLst>
          </p:cNvPr>
          <p:cNvGrpSpPr/>
          <p:nvPr/>
        </p:nvGrpSpPr>
        <p:grpSpPr>
          <a:xfrm>
            <a:off x="4900042" y="4317771"/>
            <a:ext cx="2243137" cy="1038999"/>
            <a:chOff x="6512039" y="3464672"/>
            <a:chExt cx="2243137" cy="1038999"/>
          </a:xfrm>
        </p:grpSpPr>
        <p:sp>
          <p:nvSpPr>
            <p:cNvPr id="38" name="TextBox 9">
              <a:extLst>
                <a:ext uri="{FF2B5EF4-FFF2-40B4-BE49-F238E27FC236}">
                  <a16:creationId xmlns:a16="http://schemas.microsoft.com/office/drawing/2014/main" id="{95617C24-31AE-2423-F54B-06F7DCEFF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2039" y="4226672"/>
              <a:ext cx="224313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+mj-ea"/>
                  <a:cs typeface="+mj-cs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CloudWatch</a:t>
              </a:r>
            </a:p>
          </p:txBody>
        </p:sp>
        <p:pic>
          <p:nvPicPr>
            <p:cNvPr id="39" name="Graphic 17" descr="Amazon CloudWatch service icon.">
              <a:extLst>
                <a:ext uri="{FF2B5EF4-FFF2-40B4-BE49-F238E27FC236}">
                  <a16:creationId xmlns:a16="http://schemas.microsoft.com/office/drawing/2014/main" id="{A511DD16-558D-2582-7364-3876D97A8E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 bwMode="auto">
            <a:xfrm>
              <a:off x="7251814" y="3464672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A5FF7F97-5FFE-CBF5-D0AE-8D4127B3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02" y="232519"/>
            <a:ext cx="5218836" cy="457200"/>
          </a:xfrm>
        </p:spPr>
        <p:txBody>
          <a:bodyPr>
            <a:normAutofit/>
          </a:bodyPr>
          <a:lstStyle/>
          <a:p>
            <a:r>
              <a:rPr lang="en-GB" sz="2400" dirty="0"/>
              <a:t>GraphQL engine infrastructure design</a:t>
            </a:r>
          </a:p>
        </p:txBody>
      </p:sp>
      <p:pic>
        <p:nvPicPr>
          <p:cNvPr id="42" name="Graphic 41" descr="Client resource icon for the General Icons category.">
            <a:extLst>
              <a:ext uri="{FF2B5EF4-FFF2-40B4-BE49-F238E27FC236}">
                <a16:creationId xmlns:a16="http://schemas.microsoft.com/office/drawing/2014/main" id="{0DB5B5A5-4695-ED75-0264-28F1CB077E3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70901" y="2826206"/>
            <a:ext cx="457200" cy="457200"/>
          </a:xfrm>
          <a:prstGeom prst="rect">
            <a:avLst/>
          </a:prstGeom>
        </p:spPr>
      </p:pic>
      <p:sp>
        <p:nvSpPr>
          <p:cNvPr id="43" name="TextBox 25">
            <a:extLst>
              <a:ext uri="{FF2B5EF4-FFF2-40B4-BE49-F238E27FC236}">
                <a16:creationId xmlns:a16="http://schemas.microsoft.com/office/drawing/2014/main" id="{5CF8BECA-DFA1-12C2-4628-21ABFFB36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370" y="3310330"/>
            <a:ext cx="1073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Web Client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90603CF-4F6F-2146-7602-2AF7FC367303}"/>
              </a:ext>
            </a:extLst>
          </p:cNvPr>
          <p:cNvCxnSpPr>
            <a:cxnSpLocks/>
            <a:stCxn id="42" idx="3"/>
            <a:endCxn id="4" idx="1"/>
          </p:cNvCxnSpPr>
          <p:nvPr/>
        </p:nvCxnSpPr>
        <p:spPr>
          <a:xfrm>
            <a:off x="1428101" y="3054806"/>
            <a:ext cx="771107" cy="8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 descr="Mobile client resource icon for the General Icons category.">
            <a:extLst>
              <a:ext uri="{FF2B5EF4-FFF2-40B4-BE49-F238E27FC236}">
                <a16:creationId xmlns:a16="http://schemas.microsoft.com/office/drawing/2014/main" id="{A6B4FDCD-734A-55F7-319C-769693BA776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70901" y="1959967"/>
            <a:ext cx="457200" cy="457200"/>
          </a:xfrm>
          <a:prstGeom prst="rect">
            <a:avLst/>
          </a:prstGeom>
        </p:spPr>
      </p:pic>
      <p:sp>
        <p:nvSpPr>
          <p:cNvPr id="48" name="TextBox 32">
            <a:extLst>
              <a:ext uri="{FF2B5EF4-FFF2-40B4-BE49-F238E27FC236}">
                <a16:creationId xmlns:a16="http://schemas.microsoft.com/office/drawing/2014/main" id="{53EDC658-B528-3122-542C-6B823E1B0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370" y="2494112"/>
            <a:ext cx="1073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Mobile client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845018E-B060-7F5F-BE91-3BBBE788578D}"/>
              </a:ext>
            </a:extLst>
          </p:cNvPr>
          <p:cNvCxnSpPr>
            <a:cxnSpLocks/>
          </p:cNvCxnSpPr>
          <p:nvPr/>
        </p:nvCxnSpPr>
        <p:spPr>
          <a:xfrm>
            <a:off x="1455545" y="2324488"/>
            <a:ext cx="738638" cy="554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25">
            <a:extLst>
              <a:ext uri="{FF2B5EF4-FFF2-40B4-BE49-F238E27FC236}">
                <a16:creationId xmlns:a16="http://schemas.microsoft.com/office/drawing/2014/main" id="{68E8F704-0D8C-86C0-E689-8FB48100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16" y="4167062"/>
            <a:ext cx="11610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Microservices</a:t>
            </a:r>
          </a:p>
        </p:txBody>
      </p:sp>
      <p:pic>
        <p:nvPicPr>
          <p:cNvPr id="56" name="Graphic 55" descr="Gears outline">
            <a:extLst>
              <a:ext uri="{FF2B5EF4-FFF2-40B4-BE49-F238E27FC236}">
                <a16:creationId xmlns:a16="http://schemas.microsoft.com/office/drawing/2014/main" id="{08E44FBA-ECDD-D293-D66D-EDA0898CABB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95779" y="3642702"/>
            <a:ext cx="607445" cy="607445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7ADEC1A-BFA1-063F-7987-15C9362F92A9}"/>
              </a:ext>
            </a:extLst>
          </p:cNvPr>
          <p:cNvCxnSpPr>
            <a:cxnSpLocks/>
          </p:cNvCxnSpPr>
          <p:nvPr/>
        </p:nvCxnSpPr>
        <p:spPr>
          <a:xfrm flipV="1">
            <a:off x="1472293" y="3215298"/>
            <a:ext cx="726915" cy="724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688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7753-691D-4D65-DDB0-6C08FFE78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0C89-8517-E62C-C1D1-C0819EEB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43" y="188747"/>
            <a:ext cx="6112748" cy="681503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Cognito as Authoriser – High level Architecture</a:t>
            </a:r>
          </a:p>
        </p:txBody>
      </p:sp>
      <p:pic>
        <p:nvPicPr>
          <p:cNvPr id="14338" name="Picture 2" descr="Secure Your APIs with Cognito Authorizers for AWS API ...">
            <a:extLst>
              <a:ext uri="{FF2B5EF4-FFF2-40B4-BE49-F238E27FC236}">
                <a16:creationId xmlns:a16="http://schemas.microsoft.com/office/drawing/2014/main" id="{407B2370-BEDD-F021-3CAB-A649A8BFC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05" y="1298054"/>
            <a:ext cx="6972300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881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35CE7-DE98-DA5D-ADAE-64899B3F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0E1F-D320-541C-B42A-C61E049B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43" y="188747"/>
            <a:ext cx="6112748" cy="681503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Fine grained authorization – High level Architecture</a:t>
            </a:r>
          </a:p>
        </p:txBody>
      </p:sp>
      <p:pic>
        <p:nvPicPr>
          <p:cNvPr id="16386" name="Picture 2" descr="Use Amazon Cognito to add claims to an identity token for fine-grained  authorization | AWS Security Blog">
            <a:extLst>
              <a:ext uri="{FF2B5EF4-FFF2-40B4-BE49-F238E27FC236}">
                <a16:creationId xmlns:a16="http://schemas.microsoft.com/office/drawing/2014/main" id="{817BC7F1-5345-B7CF-D37A-269A0076D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26" y="928653"/>
            <a:ext cx="9959906" cy="580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765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08CD-1B3C-4ACB-2351-7F6C9E69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A401-2A88-B5D7-C086-F129F301A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5" y="-162435"/>
            <a:ext cx="5533702" cy="681503"/>
          </a:xfrm>
        </p:spPr>
        <p:txBody>
          <a:bodyPr>
            <a:normAutofit/>
          </a:bodyPr>
          <a:lstStyle/>
          <a:p>
            <a:r>
              <a:rPr lang="en-GB" sz="2400" dirty="0"/>
              <a:t>WebApp architecture options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DE7B-51E3-625A-F025-DAD17FE26637}"/>
              </a:ext>
            </a:extLst>
          </p:cNvPr>
          <p:cNvSpPr txBox="1"/>
          <p:nvPr/>
        </p:nvSpPr>
        <p:spPr>
          <a:xfrm>
            <a:off x="397932" y="681630"/>
            <a:ext cx="9330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Amplify + AppSync + Dynamo DB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Amplify + AppSync Introspection + Aurora cluster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Amplify Data </a:t>
            </a:r>
            <a:r>
              <a:rPr lang="en-GB" dirty="0">
                <a:hlinkClick r:id="rId3"/>
              </a:rPr>
              <a:t>...</a:t>
            </a:r>
            <a:r>
              <a:rPr lang="en-GB" dirty="0"/>
              <a:t> (Powered by AppSync + Dynamo DB)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Amplify + Apollo + AppSync + Aurora cluster </a:t>
            </a:r>
          </a:p>
        </p:txBody>
      </p:sp>
    </p:spTree>
    <p:extLst>
      <p:ext uri="{BB962C8B-B14F-4D97-AF65-F5344CB8AC3E}">
        <p14:creationId xmlns:p14="http://schemas.microsoft.com/office/powerpoint/2010/main" val="3488420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6A61-FE2D-5190-A0B2-C3C6278FB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473D299-03C5-9D39-C9B0-678924207574}"/>
              </a:ext>
            </a:extLst>
          </p:cNvPr>
          <p:cNvGrpSpPr/>
          <p:nvPr/>
        </p:nvGrpSpPr>
        <p:grpSpPr>
          <a:xfrm>
            <a:off x="988999" y="580714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B22A908-95F2-B0B0-6A6A-7C9C4E93F3C1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3303504-EDB9-BD17-9EF9-1BD293DC0C5E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React App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8DDDE32-C0B1-2490-3357-B6812E057B1E}"/>
              </a:ext>
            </a:extLst>
          </p:cNvPr>
          <p:cNvGrpSpPr/>
          <p:nvPr/>
        </p:nvGrpSpPr>
        <p:grpSpPr>
          <a:xfrm>
            <a:off x="4337445" y="1884407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4618EE-69A3-AC82-6F08-A8AF6FC60A38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491C75-B967-C3C8-AD5F-B9257E813695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API Gateway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7B9346-4154-77E4-6B17-8AF222A31C8B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rot="16200000" flipH="1">
            <a:off x="3436917" y="-204266"/>
            <a:ext cx="828900" cy="334844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942721-FE71-8DA5-CCF7-396D1AF7A8C4}"/>
              </a:ext>
            </a:extLst>
          </p:cNvPr>
          <p:cNvGrpSpPr/>
          <p:nvPr/>
        </p:nvGrpSpPr>
        <p:grpSpPr>
          <a:xfrm>
            <a:off x="2164651" y="3288639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1553D87-A6F2-A1E8-AD52-82A5AE349D4A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DC907F8-154A-17DD-47FB-C8964E31187C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dirty="0"/>
                <a:t>Serverless Lambda</a:t>
              </a:r>
              <a:endParaRPr lang="en-GB" sz="1200" kern="1200" dirty="0"/>
            </a:p>
          </p:txBody>
        </p:sp>
      </p:grpSp>
      <p:cxnSp>
        <p:nvCxnSpPr>
          <p:cNvPr id="16" name="Straight Arrow Connector 9">
            <a:extLst>
              <a:ext uri="{FF2B5EF4-FFF2-40B4-BE49-F238E27FC236}">
                <a16:creationId xmlns:a16="http://schemas.microsoft.com/office/drawing/2014/main" id="{C34E600B-DFED-23E8-F710-75EEF012EC8C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 rot="5400000">
            <a:off x="3974474" y="1737522"/>
            <a:ext cx="929439" cy="217279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n 19">
            <a:extLst>
              <a:ext uri="{FF2B5EF4-FFF2-40B4-BE49-F238E27FC236}">
                <a16:creationId xmlns:a16="http://schemas.microsoft.com/office/drawing/2014/main" id="{06C1BD3D-D595-3A43-3D78-D2202188F997}"/>
              </a:ext>
            </a:extLst>
          </p:cNvPr>
          <p:cNvSpPr/>
          <p:nvPr/>
        </p:nvSpPr>
        <p:spPr>
          <a:xfrm>
            <a:off x="1781479" y="4449295"/>
            <a:ext cx="914400" cy="94388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Message Queue</a:t>
            </a:r>
          </a:p>
        </p:txBody>
      </p:sp>
      <p:cxnSp>
        <p:nvCxnSpPr>
          <p:cNvPr id="21" name="Straight Arrow Connector 9">
            <a:extLst>
              <a:ext uri="{FF2B5EF4-FFF2-40B4-BE49-F238E27FC236}">
                <a16:creationId xmlns:a16="http://schemas.microsoft.com/office/drawing/2014/main" id="{211637DC-ABF0-F9F4-E193-33AB8F67F067}"/>
              </a:ext>
            </a:extLst>
          </p:cNvPr>
          <p:cNvCxnSpPr>
            <a:cxnSpLocks/>
            <a:stCxn id="15" idx="2"/>
            <a:endCxn id="20" idx="1"/>
          </p:cNvCxnSpPr>
          <p:nvPr/>
        </p:nvCxnSpPr>
        <p:spPr>
          <a:xfrm rot="5400000">
            <a:off x="2452807" y="3549305"/>
            <a:ext cx="685863" cy="111411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9BFE1E3-8CC8-5047-488D-728F9EC5CF1D}"/>
              </a:ext>
            </a:extLst>
          </p:cNvPr>
          <p:cNvGrpSpPr/>
          <p:nvPr/>
        </p:nvGrpSpPr>
        <p:grpSpPr>
          <a:xfrm>
            <a:off x="319590" y="6104710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C30A202-9CEE-521B-EF6C-16FA237BC3F2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9DE5C77-D74F-716E-CAC3-76F6E3B33602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Accounting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2D00DC-8091-CB77-803D-37246133E478}"/>
              </a:ext>
            </a:extLst>
          </p:cNvPr>
          <p:cNvGrpSpPr/>
          <p:nvPr/>
        </p:nvGrpSpPr>
        <p:grpSpPr>
          <a:xfrm>
            <a:off x="2365238" y="6104709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C4053B0-9D89-08AA-4EB2-65476A5E01BB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2B67539-1943-F9A2-609F-719E77264A54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Fraud Detection</a:t>
              </a:r>
            </a:p>
          </p:txBody>
        </p:sp>
      </p:grpSp>
      <p:cxnSp>
        <p:nvCxnSpPr>
          <p:cNvPr id="38" name="Straight Arrow Connector 9">
            <a:extLst>
              <a:ext uri="{FF2B5EF4-FFF2-40B4-BE49-F238E27FC236}">
                <a16:creationId xmlns:a16="http://schemas.microsoft.com/office/drawing/2014/main" id="{E7C315B2-F89A-C83E-30ED-96A5A5C4AC37}"/>
              </a:ext>
            </a:extLst>
          </p:cNvPr>
          <p:cNvCxnSpPr>
            <a:cxnSpLocks/>
            <a:stCxn id="20" idx="3"/>
            <a:endCxn id="33" idx="0"/>
          </p:cNvCxnSpPr>
          <p:nvPr/>
        </p:nvCxnSpPr>
        <p:spPr>
          <a:xfrm rot="5400000">
            <a:off x="1391097" y="5257128"/>
            <a:ext cx="711528" cy="9836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9">
            <a:extLst>
              <a:ext uri="{FF2B5EF4-FFF2-40B4-BE49-F238E27FC236}">
                <a16:creationId xmlns:a16="http://schemas.microsoft.com/office/drawing/2014/main" id="{60BC8CD8-11C5-41A0-0039-D8698E72E117}"/>
              </a:ext>
            </a:extLst>
          </p:cNvPr>
          <p:cNvCxnSpPr>
            <a:cxnSpLocks/>
            <a:stCxn id="20" idx="3"/>
            <a:endCxn id="36" idx="0"/>
          </p:cNvCxnSpPr>
          <p:nvPr/>
        </p:nvCxnSpPr>
        <p:spPr>
          <a:xfrm rot="16200000" flipH="1">
            <a:off x="2413921" y="5217939"/>
            <a:ext cx="711527" cy="106201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n 43">
            <a:extLst>
              <a:ext uri="{FF2B5EF4-FFF2-40B4-BE49-F238E27FC236}">
                <a16:creationId xmlns:a16="http://schemas.microsoft.com/office/drawing/2014/main" id="{5FFB7C35-5896-BDAF-37B0-D4D8348ADE4F}"/>
              </a:ext>
            </a:extLst>
          </p:cNvPr>
          <p:cNvSpPr/>
          <p:nvPr/>
        </p:nvSpPr>
        <p:spPr>
          <a:xfrm>
            <a:off x="3980394" y="4449293"/>
            <a:ext cx="914400" cy="94388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Database</a:t>
            </a:r>
          </a:p>
        </p:txBody>
      </p:sp>
      <p:cxnSp>
        <p:nvCxnSpPr>
          <p:cNvPr id="45" name="Straight Arrow Connector 9">
            <a:extLst>
              <a:ext uri="{FF2B5EF4-FFF2-40B4-BE49-F238E27FC236}">
                <a16:creationId xmlns:a16="http://schemas.microsoft.com/office/drawing/2014/main" id="{64E8E376-2639-F881-18A8-3F69E2C38EE8}"/>
              </a:ext>
            </a:extLst>
          </p:cNvPr>
          <p:cNvCxnSpPr>
            <a:cxnSpLocks/>
            <a:stCxn id="15" idx="2"/>
            <a:endCxn id="44" idx="1"/>
          </p:cNvCxnSpPr>
          <p:nvPr/>
        </p:nvCxnSpPr>
        <p:spPr>
          <a:xfrm rot="16200000" flipH="1">
            <a:off x="3552265" y="3563963"/>
            <a:ext cx="685861" cy="108479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661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A022D-FC1F-0240-5344-83E074DEF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009F781-4BDB-74CE-0320-A5B63EB6C117}"/>
              </a:ext>
            </a:extLst>
          </p:cNvPr>
          <p:cNvSpPr/>
          <p:nvPr/>
        </p:nvSpPr>
        <p:spPr>
          <a:xfrm>
            <a:off x="3580181" y="1455115"/>
            <a:ext cx="4213555" cy="4572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4D6F7-2726-1BAF-2431-C84200857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5" y="-162435"/>
            <a:ext cx="5533702" cy="681503"/>
          </a:xfrm>
        </p:spPr>
        <p:txBody>
          <a:bodyPr>
            <a:normAutofit/>
          </a:bodyPr>
          <a:lstStyle/>
          <a:p>
            <a:r>
              <a:rPr lang="en-GB" sz="2400" dirty="0"/>
              <a:t>AWS Environment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CDA262-F6A0-914F-517F-5E12E0E6AD62}"/>
              </a:ext>
            </a:extLst>
          </p:cNvPr>
          <p:cNvSpPr/>
          <p:nvPr/>
        </p:nvSpPr>
        <p:spPr>
          <a:xfrm>
            <a:off x="3778418" y="3785195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Code Build EC2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E61F25C8-A004-5320-316D-D03365F216D7}"/>
              </a:ext>
            </a:extLst>
          </p:cNvPr>
          <p:cNvSpPr/>
          <p:nvPr/>
        </p:nvSpPr>
        <p:spPr>
          <a:xfrm>
            <a:off x="5053864" y="4782858"/>
            <a:ext cx="1201911" cy="93501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Postgres</a:t>
            </a:r>
          </a:p>
        </p:txBody>
      </p:sp>
      <p:cxnSp>
        <p:nvCxnSpPr>
          <p:cNvPr id="15" name="Straight Arrow Connector 72">
            <a:extLst>
              <a:ext uri="{FF2B5EF4-FFF2-40B4-BE49-F238E27FC236}">
                <a16:creationId xmlns:a16="http://schemas.microsoft.com/office/drawing/2014/main" id="{39FA3678-9567-1EEA-A9DB-9080D63533B2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5547338" y="2470765"/>
            <a:ext cx="67546" cy="1323307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A4BEC72-A31D-8CD5-F26F-76E4F47A5F70}"/>
              </a:ext>
            </a:extLst>
          </p:cNvPr>
          <p:cNvSpPr/>
          <p:nvPr/>
        </p:nvSpPr>
        <p:spPr>
          <a:xfrm>
            <a:off x="6528145" y="3785195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Ledger Service ECS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1FF7F3-0444-FD3B-FE72-2F07EC5C077E}"/>
              </a:ext>
            </a:extLst>
          </p:cNvPr>
          <p:cNvSpPr/>
          <p:nvPr/>
        </p:nvSpPr>
        <p:spPr>
          <a:xfrm>
            <a:off x="5153281" y="3794072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Serverless</a:t>
            </a:r>
          </a:p>
        </p:txBody>
      </p:sp>
      <p:cxnSp>
        <p:nvCxnSpPr>
          <p:cNvPr id="20" name="Straight Arrow Connector 72">
            <a:extLst>
              <a:ext uri="{FF2B5EF4-FFF2-40B4-BE49-F238E27FC236}">
                <a16:creationId xmlns:a16="http://schemas.microsoft.com/office/drawing/2014/main" id="{797A633C-47C9-7E39-1BA4-88AA08659B01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574948" y="4284026"/>
            <a:ext cx="79872" cy="49883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72">
            <a:extLst>
              <a:ext uri="{FF2B5EF4-FFF2-40B4-BE49-F238E27FC236}">
                <a16:creationId xmlns:a16="http://schemas.microsoft.com/office/drawing/2014/main" id="{FE31D0E6-E9C2-EA4A-A120-D316BE127451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5663856" y="4275149"/>
            <a:ext cx="1258346" cy="49883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72">
            <a:extLst>
              <a:ext uri="{FF2B5EF4-FFF2-40B4-BE49-F238E27FC236}">
                <a16:creationId xmlns:a16="http://schemas.microsoft.com/office/drawing/2014/main" id="{3D0D699A-5454-9C08-D634-D65534CB2CDD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614884" y="2513361"/>
            <a:ext cx="1307318" cy="1271834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CB590C38-5AF2-0217-2614-9D24C4143D5B}"/>
              </a:ext>
            </a:extLst>
          </p:cNvPr>
          <p:cNvSpPr/>
          <p:nvPr/>
        </p:nvSpPr>
        <p:spPr>
          <a:xfrm>
            <a:off x="4250614" y="2411166"/>
            <a:ext cx="2671588" cy="363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API Gateway</a:t>
            </a:r>
          </a:p>
        </p:txBody>
      </p:sp>
    </p:spTree>
    <p:extLst>
      <p:ext uri="{BB962C8B-B14F-4D97-AF65-F5344CB8AC3E}">
        <p14:creationId xmlns:p14="http://schemas.microsoft.com/office/powerpoint/2010/main" val="3733028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0550-E0B4-EB98-0E31-9811DF5A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46" y="142041"/>
            <a:ext cx="7685037" cy="753481"/>
          </a:xfrm>
        </p:spPr>
        <p:txBody>
          <a:bodyPr>
            <a:normAutofit/>
          </a:bodyPr>
          <a:lstStyle/>
          <a:p>
            <a:r>
              <a:rPr lang="en-GB" sz="3200" dirty="0"/>
              <a:t>Banking Circle Account creation scenarios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43C72C-2EEB-9F7B-58ED-0459E843F19C}"/>
              </a:ext>
            </a:extLst>
          </p:cNvPr>
          <p:cNvSpPr txBox="1"/>
          <p:nvPr/>
        </p:nvSpPr>
        <p:spPr>
          <a:xfrm>
            <a:off x="461638" y="1429305"/>
            <a:ext cx="94991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Create a GBP account – A new VIBAN is created and linked to GBP master account</a:t>
            </a:r>
          </a:p>
          <a:p>
            <a:pPr marL="342900" indent="-342900">
              <a:buAutoNum type="arabicPeriod"/>
            </a:pPr>
            <a:r>
              <a:rPr lang="en-GB" dirty="0"/>
              <a:t>Create a currency account – A new VIBAN is created. Supported local IBANs are also provided</a:t>
            </a:r>
          </a:p>
          <a:p>
            <a:pPr marL="342900" indent="-342900">
              <a:buAutoNum type="arabicPeriod"/>
            </a:pPr>
            <a:r>
              <a:rPr lang="en-GB" dirty="0"/>
              <a:t>Create a multi-currency account – A new IBAN created and associated with multiple master accounts each in its own different currency</a:t>
            </a:r>
          </a:p>
        </p:txBody>
      </p:sp>
    </p:spTree>
    <p:extLst>
      <p:ext uri="{BB962C8B-B14F-4D97-AF65-F5344CB8AC3E}">
        <p14:creationId xmlns:p14="http://schemas.microsoft.com/office/powerpoint/2010/main" val="685381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A79A6-5A2A-A6ED-C3DE-CC298E31C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0DE1078-5243-BC05-5B47-ACA4F4781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/>
              <a:t>Backend for frontend (BFF)</a:t>
            </a:r>
          </a:p>
        </p:txBody>
      </p:sp>
      <p:pic>
        <p:nvPicPr>
          <p:cNvPr id="1026" name="Picture 2" descr="Backends for Frontends (BFF) Pattern: Architectural Patterns">
            <a:extLst>
              <a:ext uri="{FF2B5EF4-FFF2-40B4-BE49-F238E27FC236}">
                <a16:creationId xmlns:a16="http://schemas.microsoft.com/office/drawing/2014/main" id="{7BCDF559-F895-5D9A-F203-B65AD992D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970" y="867773"/>
            <a:ext cx="9004300" cy="557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233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C14A6-8B86-257A-26CE-7B4038B2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C50FC2F-E8FB-4383-F167-55C6E3BB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 err="1"/>
              <a:t>Hasura</a:t>
            </a:r>
            <a:r>
              <a:rPr lang="en-GB" sz="2300" dirty="0"/>
              <a:t> authentication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E9E655-CD8C-E771-930D-97FB4BBBD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865425"/>
            <a:ext cx="7772400" cy="312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6275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RegularSeedRightStep">
      <a:dk1>
        <a:srgbClr val="000000"/>
      </a:dk1>
      <a:lt1>
        <a:srgbClr val="FFFFFF"/>
      </a:lt1>
      <a:dk2>
        <a:srgbClr val="1B2430"/>
      </a:dk2>
      <a:lt2>
        <a:srgbClr val="F3F0F0"/>
      </a:lt2>
      <a:accent1>
        <a:srgbClr val="45AFB0"/>
      </a:accent1>
      <a:accent2>
        <a:srgbClr val="3B7EB1"/>
      </a:accent2>
      <a:accent3>
        <a:srgbClr val="4D5FC3"/>
      </a:accent3>
      <a:accent4>
        <a:srgbClr val="5C3DB2"/>
      </a:accent4>
      <a:accent5>
        <a:srgbClr val="9D4DC3"/>
      </a:accent5>
      <a:accent6>
        <a:srgbClr val="B13BA6"/>
      </a:accent6>
      <a:hlink>
        <a:srgbClr val="BF413F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410001</TotalTime>
  <Words>703</Words>
  <Application>Microsoft Macintosh PowerPoint</Application>
  <PresentationFormat>Widescreen</PresentationFormat>
  <Paragraphs>282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Gill Sans Nova</vt:lpstr>
      <vt:lpstr>TropicVTI</vt:lpstr>
      <vt:lpstr>Multi-tenancy vs White-labelling - Concepts</vt:lpstr>
      <vt:lpstr>Elevate core capabilities</vt:lpstr>
      <vt:lpstr>Multi-tenancy = Single-tenancy +</vt:lpstr>
      <vt:lpstr>White-Labelling = Multi-Tenancy +</vt:lpstr>
      <vt:lpstr>Migration roadmap</vt:lpstr>
      <vt:lpstr>Detailed milestone breakdown</vt:lpstr>
      <vt:lpstr>Multi-tenancy vs White-labelling - Dimensions</vt:lpstr>
      <vt:lpstr>PowerPoint Presentation</vt:lpstr>
      <vt:lpstr>Payment Capabilities</vt:lpstr>
      <vt:lpstr>Payment Event Processing</vt:lpstr>
      <vt:lpstr>Core processing – Data flows</vt:lpstr>
      <vt:lpstr>Hasura event trigger processing</vt:lpstr>
      <vt:lpstr>GraphQL engine infrastructure design</vt:lpstr>
      <vt:lpstr>Cognito as Authoriser – High level Architecture</vt:lpstr>
      <vt:lpstr>Fine grained authorization – High level Architecture</vt:lpstr>
      <vt:lpstr>WebApp architecture options</vt:lpstr>
      <vt:lpstr>PowerPoint Presentation</vt:lpstr>
      <vt:lpstr>AWS Environment</vt:lpstr>
      <vt:lpstr>Banking Circle Account creation scenarios</vt:lpstr>
      <vt:lpstr>Backend for frontend (BFF)</vt:lpstr>
      <vt:lpstr>Hasura authentication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payment process</dc:title>
  <dc:creator>Hamid Lahooti</dc:creator>
  <cp:lastModifiedBy>no-reply</cp:lastModifiedBy>
  <cp:revision>752</cp:revision>
  <cp:lastPrinted>2022-04-28T06:37:59Z</cp:lastPrinted>
  <dcterms:created xsi:type="dcterms:W3CDTF">2022-04-22T06:49:27Z</dcterms:created>
  <dcterms:modified xsi:type="dcterms:W3CDTF">2026-01-07T18:28:58Z</dcterms:modified>
</cp:coreProperties>
</file>