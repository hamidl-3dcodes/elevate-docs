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notesMasterIdLst>
    <p:notesMasterId r:id="rId9"/>
  </p:notesMasterIdLst>
  <p:sldIdLst>
    <p:sldId id="413" r:id="rId2"/>
    <p:sldId id="411" r:id="rId3"/>
    <p:sldId id="416" r:id="rId4"/>
    <p:sldId id="415" r:id="rId5"/>
    <p:sldId id="419" r:id="rId6"/>
    <p:sldId id="418" r:id="rId7"/>
    <p:sldId id="41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8310D1-520F-E340-9DC9-983DD70B5F84}">
          <p14:sldIdLst>
            <p14:sldId id="413"/>
            <p14:sldId id="411"/>
            <p14:sldId id="416"/>
            <p14:sldId id="415"/>
            <p14:sldId id="419"/>
            <p14:sldId id="418"/>
            <p14:sldId id="41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2FD"/>
    <a:srgbClr val="B9AE30"/>
    <a:srgbClr val="B8AC2F"/>
    <a:srgbClr val="FDBCDA"/>
    <a:srgbClr val="FDD0E7"/>
    <a:srgbClr val="F8CEFD"/>
    <a:srgbClr val="A0C0E1"/>
    <a:srgbClr val="6BA9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19"/>
    <p:restoredTop sz="96827"/>
  </p:normalViewPr>
  <p:slideViewPr>
    <p:cSldViewPr snapToGrid="0" snapToObjects="1">
      <p:cViewPr>
        <p:scale>
          <a:sx n="250" d="100"/>
          <a:sy n="250" d="100"/>
        </p:scale>
        <p:origin x="144" y="4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63B5E4-7B7D-514D-B202-4AAF6B51BB93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E4701D-FC48-104F-98C6-7719D862D9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99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88325-E79D-58A1-9460-C4682B838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C615D-4ED5-83DD-EE3D-9C83B3104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AA5DD-2EFC-C3C9-20AA-5A7CE3D4DF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D2AF5-167E-8F47-6482-F453272FE6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23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EEFDB-AC2E-5D90-A460-63379C2A8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A3C69-2665-C01F-1A14-AED678043B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8260E-FE27-DFEB-CA4F-F82F2DF1A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DC10D-4102-3830-4B04-069FBCBF2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630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2C9BE-E925-687C-9162-6AACC5E16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B9E68-A728-DC63-0AA0-4FBF1B963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A343C-86F1-A2CD-7E6B-83B0596A2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A1943-CEB3-4441-C958-E92C63B8A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5972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883CF-A1B1-332B-B5ED-756FAF26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61012D-79BA-BB26-58EA-5AF5924057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52782D-38C0-84BE-6F59-D712494E3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83D0-CDB7-AF9F-E814-B5DEAE919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344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53BC2-A25D-783A-4DF2-7E9D47D94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D921F9-8EDD-B5AA-B08C-65BB192432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ED8D4-87A5-5227-89DB-4BF53409B2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DD8DF4-8FB7-AB4F-7AC3-9B6126ED09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10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44E0A-1C8B-B4F6-D54A-96D0C6D51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06A179-9E4C-C42D-8DAF-E8C6403E6B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41F07A-4C64-9596-1E99-501C0F8AFE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002B8-2106-15FA-855C-C1441D96E5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E4701D-FC48-104F-98C6-7719D862D9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00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0F28B-45E3-4585-87E3-73838692A7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668049"/>
            <a:ext cx="7626795" cy="2841914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F755B0-E17A-4B52-A99D-C35BB18BB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3602038"/>
            <a:ext cx="7626795" cy="2501728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90C28-805B-4DA6-A10E-651C0FD01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BBA9-C52F-4628-AE0D-DCD1772F9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5BAC57-F8E1-4B54-A111-CB53B320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159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2C84-1247-4534-81D1-136C3E1EB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8D490-CEA6-4844-A537-F749658D37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AEFC9-887F-4E73-9938-6032D5286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FCF0CF-134A-404E-A177-9FAAA039F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1B0DC-2D2C-408B-A577-904A2385C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52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55431-EF88-4771-9699-27EF70A5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73389" cy="3816588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F57C3-A928-4093-B3FC-ECC2194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7673389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FD625-A893-46D3-A518-9E969CB4F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AD37A-B380-4B65-9FB9-3FB91412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773B6-CD13-4451-9BF3-C4102BA5E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713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1FBD0A-9F7B-4EBB-9982-B55F5F980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88CFF0B8-0BA9-4DD9-B7B2-0655DC841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B910E-9B87-4291-987B-6883212CB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5596CF7-55B3-409D-A36C-F5BE9D625628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245D23-45D8-474C-8A38-633E99962676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8A8D14-28CA-4095-B2FA-E48B3150AD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1D1F176A-19F1-4537-800D-210F29EC1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A04C26-6125-4D95-9FC0-50DEB9419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1534" cy="15917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5401A-13E5-4CED-864F-06D6EECCBC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2341329"/>
            <a:ext cx="5562600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13523-8F78-4766-91D7-03E329B68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41329"/>
            <a:ext cx="4736534" cy="38356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5B757F-BAD2-4343-BD57-FC02D0BE1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30EF3C-A61E-4F43-9C8F-BC9A6455C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19D947-1DC8-4CE9-A031-6EEB776B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805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5BFA9BB-A51E-4D09-8602-5AD901046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Color Fill">
            <a:extLst>
              <a:ext uri="{FF2B5EF4-FFF2-40B4-BE49-F238E27FC236}">
                <a16:creationId xmlns:a16="http://schemas.microsoft.com/office/drawing/2014/main" id="{A60257A1-779B-4048-BC0D-1EA579B5B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8F4B5D0-AA24-4702-9C01-FC1A03E7B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1151383" y="2767655"/>
            <a:ext cx="1040617" cy="2833045"/>
            <a:chOff x="11151383" y="2767655"/>
            <a:chExt cx="1040617" cy="2833045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9CBF9BD-1EB2-4122-98FE-F2B5DF8771C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C41FF89-01DF-4236-AA4D-243CB8A464B3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D03BB88-350D-4DE0-BB34-870F643568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</p:grpSp>
      <p:sp>
        <p:nvSpPr>
          <p:cNvPr id="15" name="Texture">
            <a:extLst>
              <a:ext uri="{FF2B5EF4-FFF2-40B4-BE49-F238E27FC236}">
                <a16:creationId xmlns:a16="http://schemas.microsoft.com/office/drawing/2014/main" id="{4A8025C0-8995-4863-A847-7ED1F8CCE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62335-6445-435C-A1C6-9F090B965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10450629" cy="13255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74B3D-418F-464D-91E7-993D0B480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086" y="2182814"/>
            <a:ext cx="5021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904709-9362-4AB5-9AA2-32F51BF06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086" y="3115949"/>
            <a:ext cx="502151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083836-1CF5-406F-B0CB-643F37066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890597" y="2182814"/>
            <a:ext cx="501723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4A8670-0F33-4222-AAC9-96A21C47C3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0597" y="3115949"/>
            <a:ext cx="5017232" cy="3073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1E6970-4A96-4519-9C0E-11E245D56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FEE249-70F5-4359-B699-23D68A503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2AE510-A38C-45EE-B061-CB02E4E3D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097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A9D1A-F943-4838-BA2F-6DF4F2EC9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638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FEE401-3424-4696-A6FC-BBEE7937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E9D767-A30A-4508-B510-99AB9173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979DC-F3D5-43AB-8A0F-9C8A14E0C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452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DCDA0B-9BEE-4B57-8F97-96D5645D0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82AF2-09A1-4A1C-AEB6-577962B7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D99D9-82B1-496C-ABBC-4FF0C375D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90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7D9AFA4-EB8E-4091-A5E2-1B9D163A0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F25018FE-FB44-4E2E-A181-B3476F3E8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6C7CD4B-70DE-49E2-A336-B6F43F58F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4B8BFC9-6F67-47CB-BAE4-45260FBAF397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40F836E5-3C5B-4DE7-B09A-AE00DEE730A9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8E1B8E4-080E-4F43-B33F-59DD21B6B658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07639D4-740A-4B71-8393-99CA375EB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AE7E56E5-1F6A-442B-B5E0-ED19F815D2E2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3774E986-8FE2-4670-A4C0-96E213269BD7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3A5846DF-A106-4887-BE2C-DCD89DAA6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67E81C-AA51-44A0-B21C-757B2F3B9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1957828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438A-298D-4466-B55D-F466C345C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68049"/>
            <a:ext cx="4875212" cy="523125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143104-0579-4974-88D2-61DF1A30D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749024"/>
            <a:ext cx="4314825" cy="31199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A32755-0632-47CB-AA69-7EFB212FA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D0B4F-5B59-4064-A88B-E9938A40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12E7F-93B8-4E93-BCB3-ADE74FC1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79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F3C1870-4E69-4DE7-BF2F-DE8A7881C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olor Fill">
            <a:extLst>
              <a:ext uri="{FF2B5EF4-FFF2-40B4-BE49-F238E27FC236}">
                <a16:creationId xmlns:a16="http://schemas.microsoft.com/office/drawing/2014/main" id="{7439AB1C-A8A1-4745-9625-B18FE9160B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1ADDC4D-D9AA-48F8-BD10-2D20F14607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1136312-3085-4615-A743-4EE531585B11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Graphic 9">
              <a:extLst>
                <a:ext uri="{FF2B5EF4-FFF2-40B4-BE49-F238E27FC236}">
                  <a16:creationId xmlns:a16="http://schemas.microsoft.com/office/drawing/2014/main" id="{29539FE4-376B-4187-A80A-C98EBA23DA30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11DC5D7-2276-4A57-8783-A0EFB00416E9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D5B578-4971-4ADC-97D8-B9CEF52AA7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9" name="Graphic 9">
              <a:extLst>
                <a:ext uri="{FF2B5EF4-FFF2-40B4-BE49-F238E27FC236}">
                  <a16:creationId xmlns:a16="http://schemas.microsoft.com/office/drawing/2014/main" id="{2D968E77-E43D-4870-93BC-CBF1947336B3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20" name="Graphic 9">
              <a:extLst>
                <a:ext uri="{FF2B5EF4-FFF2-40B4-BE49-F238E27FC236}">
                  <a16:creationId xmlns:a16="http://schemas.microsoft.com/office/drawing/2014/main" id="{1221D41A-E71E-4587-A876-F8778E7C03E1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13" name="Texture">
            <a:extLst>
              <a:ext uri="{FF2B5EF4-FFF2-40B4-BE49-F238E27FC236}">
                <a16:creationId xmlns:a16="http://schemas.microsoft.com/office/drawing/2014/main" id="{50457195-385D-490A-91AB-30B969C61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06FF6D-24FA-4E04-90ED-7DBE228B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4314825" cy="2235711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32D78B-0E21-420F-9DFF-6131CB0F7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68049"/>
            <a:ext cx="4958436" cy="52312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C2A57-1064-4391-B96B-4D04305E0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941222"/>
            <a:ext cx="4314825" cy="292776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04EB0-850A-4256-8D12-E01A201A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9CF4AF-C757-4552-AB8A-3B89C3746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2A368-F12B-4B5E-82F0-A6AEE6AF2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5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5B40-C529-41A6-8D06-07AF9430A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5A354-E2A8-4A91-9D7A-36D9E0915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D3944-2E3D-42BC-B83D-7630699D4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FC57FA-204E-4A7A-BAE2-DF17BB0F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A36D-49FF-495A-8E25-4CCC98E39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903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44ECD05-4E94-4A60-8FDA-700BF100B0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Color Fill">
            <a:extLst>
              <a:ext uri="{FF2B5EF4-FFF2-40B4-BE49-F238E27FC236}">
                <a16:creationId xmlns:a16="http://schemas.microsoft.com/office/drawing/2014/main" id="{8BCB0EB2-4067-418C-9465-9D4C71240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4E37999-41E7-446D-8C53-B904C3CE8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0300855" y="0"/>
            <a:ext cx="1891145" cy="5600700"/>
            <a:chOff x="10300855" y="0"/>
            <a:chExt cx="1891145" cy="560070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438A90E8-87F8-4150-B5EB-E19C8A01AFB9}"/>
                </a:ext>
              </a:extLst>
            </p:cNvPr>
            <p:cNvSpPr/>
            <p:nvPr/>
          </p:nvSpPr>
          <p:spPr>
            <a:xfrm>
              <a:off x="11783194" y="2943021"/>
              <a:ext cx="246527" cy="2465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Graphic 9">
              <a:extLst>
                <a:ext uri="{FF2B5EF4-FFF2-40B4-BE49-F238E27FC236}">
                  <a16:creationId xmlns:a16="http://schemas.microsoft.com/office/drawing/2014/main" id="{724DCA1C-A8E8-4F90-8FAE-85B1426C108A}"/>
                </a:ext>
              </a:extLst>
            </p:cNvPr>
            <p:cNvSpPr/>
            <p:nvPr/>
          </p:nvSpPr>
          <p:spPr>
            <a:xfrm>
              <a:off x="10330568" y="2199078"/>
              <a:ext cx="1195288" cy="119528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lumMod val="75000"/>
                <a:alpha val="65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8D6291-6756-44E3-9FCE-0B2ECA5EE664}"/>
                </a:ext>
              </a:extLst>
            </p:cNvPr>
            <p:cNvSpPr/>
            <p:nvPr/>
          </p:nvSpPr>
          <p:spPr>
            <a:xfrm flipV="1">
              <a:off x="11151383" y="4336822"/>
              <a:ext cx="1040617" cy="1263878"/>
            </a:xfrm>
            <a:custGeom>
              <a:avLst/>
              <a:gdLst>
                <a:gd name="connsiteX0" fmla="*/ 1087069 w 1119832"/>
                <a:gd name="connsiteY0" fmla="*/ 1138 h 1360088"/>
                <a:gd name="connsiteX1" fmla="*/ 1119832 w 1119832"/>
                <a:gd name="connsiteY1" fmla="*/ 3278 h 1360088"/>
                <a:gd name="connsiteX2" fmla="*/ 1119832 w 1119832"/>
                <a:gd name="connsiteY2" fmla="*/ 1097964 h 1360088"/>
                <a:gd name="connsiteX3" fmla="*/ 1109686 w 1119832"/>
                <a:gd name="connsiteY3" fmla="*/ 1109686 h 1360088"/>
                <a:gd name="connsiteX4" fmla="*/ 25249 w 1119832"/>
                <a:gd name="connsiteY4" fmla="*/ 1334840 h 1360088"/>
                <a:gd name="connsiteX5" fmla="*/ 250404 w 1119832"/>
                <a:gd name="connsiteY5" fmla="*/ 250404 h 1360088"/>
                <a:gd name="connsiteX6" fmla="*/ 1087069 w 1119832"/>
                <a:gd name="connsiteY6" fmla="*/ 1138 h 13600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19832" h="1360088">
                  <a:moveTo>
                    <a:pt x="1087069" y="1138"/>
                  </a:moveTo>
                  <a:lnTo>
                    <a:pt x="1119832" y="3278"/>
                  </a:lnTo>
                  <a:lnTo>
                    <a:pt x="1119832" y="1097964"/>
                  </a:lnTo>
                  <a:lnTo>
                    <a:pt x="1109686" y="1109686"/>
                  </a:lnTo>
                  <a:cubicBezTo>
                    <a:pt x="748058" y="1471314"/>
                    <a:pt x="25249" y="1334840"/>
                    <a:pt x="25249" y="1334840"/>
                  </a:cubicBezTo>
                  <a:cubicBezTo>
                    <a:pt x="25249" y="1334840"/>
                    <a:pt x="-111224" y="612032"/>
                    <a:pt x="250404" y="250404"/>
                  </a:cubicBezTo>
                  <a:cubicBezTo>
                    <a:pt x="476422" y="24386"/>
                    <a:pt x="843525" y="-7060"/>
                    <a:pt x="1087069" y="1138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37CA96E-9DD9-4172-B63B-50DF43B576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1638492" y="2767655"/>
              <a:ext cx="553508" cy="1567713"/>
            </a:xfrm>
            <a:custGeom>
              <a:avLst/>
              <a:gdLst>
                <a:gd name="connsiteX0" fmla="*/ 612019 w 612019"/>
                <a:gd name="connsiteY0" fmla="*/ 0 h 1733435"/>
                <a:gd name="connsiteX1" fmla="*/ 612019 w 612019"/>
                <a:gd name="connsiteY1" fmla="*/ 1733435 h 1733435"/>
                <a:gd name="connsiteX2" fmla="*/ 180103 w 612019"/>
                <a:gd name="connsiteY2" fmla="*/ 1301519 h 1733435"/>
                <a:gd name="connsiteX3" fmla="*/ 180103 w 612019"/>
                <a:gd name="connsiteY3" fmla="*/ 431916 h 173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2019" h="1733435">
                  <a:moveTo>
                    <a:pt x="612019" y="0"/>
                  </a:moveTo>
                  <a:lnTo>
                    <a:pt x="612019" y="1733435"/>
                  </a:lnTo>
                  <a:lnTo>
                    <a:pt x="180103" y="1301519"/>
                  </a:lnTo>
                  <a:cubicBezTo>
                    <a:pt x="-60034" y="1061382"/>
                    <a:pt x="-60034" y="672053"/>
                    <a:pt x="180103" y="431916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/>
              <a:endParaRPr lang="en-US" dirty="0"/>
            </a:p>
          </p:txBody>
        </p:sp>
        <p:sp>
          <p:nvSpPr>
            <p:cNvPr id="13" name="Graphic 9">
              <a:extLst>
                <a:ext uri="{FF2B5EF4-FFF2-40B4-BE49-F238E27FC236}">
                  <a16:creationId xmlns:a16="http://schemas.microsoft.com/office/drawing/2014/main" id="{B335AFFE-BF3D-491C-8255-692B9DAC6775}"/>
                </a:ext>
              </a:extLst>
            </p:cNvPr>
            <p:cNvSpPr/>
            <p:nvPr/>
          </p:nvSpPr>
          <p:spPr>
            <a:xfrm flipH="1">
              <a:off x="10300855" y="0"/>
              <a:ext cx="1891145" cy="1891145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  <p:sp>
          <p:nvSpPr>
            <p:cNvPr id="14" name="Graphic 9">
              <a:extLst>
                <a:ext uri="{FF2B5EF4-FFF2-40B4-BE49-F238E27FC236}">
                  <a16:creationId xmlns:a16="http://schemas.microsoft.com/office/drawing/2014/main" id="{AA052AAF-7A7C-4EDB-AE2C-FCA3A756C4E5}"/>
                </a:ext>
              </a:extLst>
            </p:cNvPr>
            <p:cNvSpPr/>
            <p:nvPr/>
          </p:nvSpPr>
          <p:spPr>
            <a:xfrm flipH="1">
              <a:off x="10424367" y="122795"/>
              <a:ext cx="1644119" cy="1644119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/>
            </a:p>
          </p:txBody>
        </p:sp>
      </p:grpSp>
      <p:sp>
        <p:nvSpPr>
          <p:cNvPr id="20" name="Texture">
            <a:extLst>
              <a:ext uri="{FF2B5EF4-FFF2-40B4-BE49-F238E27FC236}">
                <a16:creationId xmlns:a16="http://schemas.microsoft.com/office/drawing/2014/main" id="{31F99E9D-6528-47AC-B178-7032D0E17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2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4DD302-622D-4E42-BD6F-FAAA98B372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6311" y="668049"/>
            <a:ext cx="2628900" cy="55089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0D9F5-C907-405F-BE11-571C61745E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668049"/>
            <a:ext cx="6689098" cy="55089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CFD860-3FBD-4FE7-A9FD-1D4A4D10A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12/6/25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A367B-81B3-4BD3-9C95-18EC0710A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D8E54-346D-4D66-BF99-96DA43F80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34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F358BAA-9C8A-4E17-BAD8-32FD6FFEA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olor Fill">
            <a:extLst>
              <a:ext uri="{FF2B5EF4-FFF2-40B4-BE49-F238E27FC236}">
                <a16:creationId xmlns:a16="http://schemas.microsoft.com/office/drawing/2014/main" id="{4D6F41A4-BEE3-4935-9371-4ADEA67A2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lumMod val="75000"/>
              <a:lumOff val="25000"/>
              <a:alpha val="4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2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26F010-956A-40BC-8A1F-8002DC729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51566" y="0"/>
            <a:ext cx="3840434" cy="6858000"/>
            <a:chOff x="8351565" y="0"/>
            <a:chExt cx="3840434" cy="68580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86E468-0048-46C4-ADDD-FBE7A6AE9F31}"/>
                </a:ext>
              </a:extLst>
            </p:cNvPr>
            <p:cNvSpPr/>
            <p:nvPr/>
          </p:nvSpPr>
          <p:spPr>
            <a:xfrm>
              <a:off x="11260165" y="519204"/>
              <a:ext cx="474635" cy="4746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B35ED4-0C31-4C8C-A45E-6A3EDEAB2867}"/>
                </a:ext>
              </a:extLst>
            </p:cNvPr>
            <p:cNvSpPr/>
            <p:nvPr/>
          </p:nvSpPr>
          <p:spPr>
            <a:xfrm>
              <a:off x="8385871" y="0"/>
              <a:ext cx="2955657" cy="679194"/>
            </a:xfrm>
            <a:custGeom>
              <a:avLst/>
              <a:gdLst>
                <a:gd name="connsiteX0" fmla="*/ 0 w 2955657"/>
                <a:gd name="connsiteY0" fmla="*/ 0 h 679194"/>
                <a:gd name="connsiteX1" fmla="*/ 2955657 w 2955657"/>
                <a:gd name="connsiteY1" fmla="*/ 0 h 679194"/>
                <a:gd name="connsiteX2" fmla="*/ 2892839 w 2955657"/>
                <a:gd name="connsiteY2" fmla="*/ 84007 h 679194"/>
                <a:gd name="connsiteX3" fmla="*/ 1630760 w 2955657"/>
                <a:gd name="connsiteY3" fmla="*/ 679194 h 679194"/>
                <a:gd name="connsiteX4" fmla="*/ 0 w 2955657"/>
                <a:gd name="connsiteY4" fmla="*/ 679194 h 679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55657" h="679194">
                  <a:moveTo>
                    <a:pt x="0" y="0"/>
                  </a:moveTo>
                  <a:lnTo>
                    <a:pt x="2955657" y="0"/>
                  </a:lnTo>
                  <a:lnTo>
                    <a:pt x="2892839" y="84007"/>
                  </a:lnTo>
                  <a:cubicBezTo>
                    <a:pt x="2592855" y="447504"/>
                    <a:pt x="2138868" y="679194"/>
                    <a:pt x="1630760" y="679194"/>
                  </a:cubicBezTo>
                  <a:lnTo>
                    <a:pt x="0" y="67919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0A1EF3-FA93-48F4-9F82-BC0C79635750}"/>
                </a:ext>
              </a:extLst>
            </p:cNvPr>
            <p:cNvSpPr/>
            <p:nvPr/>
          </p:nvSpPr>
          <p:spPr>
            <a:xfrm>
              <a:off x="8351565" y="4121414"/>
              <a:ext cx="3266317" cy="2736586"/>
            </a:xfrm>
            <a:custGeom>
              <a:avLst/>
              <a:gdLst>
                <a:gd name="connsiteX0" fmla="*/ 1635557 w 3266317"/>
                <a:gd name="connsiteY0" fmla="*/ 0 h 2736586"/>
                <a:gd name="connsiteX1" fmla="*/ 3266317 w 3266317"/>
                <a:gd name="connsiteY1" fmla="*/ 0 h 2736586"/>
                <a:gd name="connsiteX2" fmla="*/ 3266317 w 3266317"/>
                <a:gd name="connsiteY2" fmla="*/ 1630760 h 2736586"/>
                <a:gd name="connsiteX3" fmla="*/ 2892838 w 3266317"/>
                <a:gd name="connsiteY3" fmla="*/ 2671131 h 2736586"/>
                <a:gd name="connsiteX4" fmla="*/ 2833348 w 3266317"/>
                <a:gd name="connsiteY4" fmla="*/ 2736586 h 2736586"/>
                <a:gd name="connsiteX5" fmla="*/ 0 w 3266317"/>
                <a:gd name="connsiteY5" fmla="*/ 2736586 h 2736586"/>
                <a:gd name="connsiteX6" fmla="*/ 0 w 3266317"/>
                <a:gd name="connsiteY6" fmla="*/ 1635558 h 2736586"/>
                <a:gd name="connsiteX7" fmla="*/ 1635557 w 3266317"/>
                <a:gd name="connsiteY7" fmla="*/ 0 h 2736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66317" h="2736586">
                  <a:moveTo>
                    <a:pt x="1635557" y="0"/>
                  </a:moveTo>
                  <a:lnTo>
                    <a:pt x="3266317" y="0"/>
                  </a:lnTo>
                  <a:lnTo>
                    <a:pt x="3266317" y="1630760"/>
                  </a:lnTo>
                  <a:cubicBezTo>
                    <a:pt x="3266317" y="2025955"/>
                    <a:pt x="3126159" y="2388411"/>
                    <a:pt x="2892838" y="2671131"/>
                  </a:cubicBezTo>
                  <a:lnTo>
                    <a:pt x="2833348" y="2736586"/>
                  </a:lnTo>
                  <a:lnTo>
                    <a:pt x="0" y="2736586"/>
                  </a:lnTo>
                  <a:lnTo>
                    <a:pt x="0" y="1635558"/>
                  </a:lnTo>
                  <a:cubicBezTo>
                    <a:pt x="0" y="732255"/>
                    <a:pt x="732254" y="0"/>
                    <a:pt x="1635557" y="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60000"/>
              </a:schemeClr>
            </a:solidFill>
            <a:ln w="933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985F09D-6969-44D0-B04F-4EDE0FEDAF63}"/>
                </a:ext>
              </a:extLst>
            </p:cNvPr>
            <p:cNvSpPr/>
            <p:nvPr/>
          </p:nvSpPr>
          <p:spPr>
            <a:xfrm>
              <a:off x="11755674" y="3386384"/>
              <a:ext cx="436325" cy="1309674"/>
            </a:xfrm>
            <a:custGeom>
              <a:avLst/>
              <a:gdLst>
                <a:gd name="connsiteX0" fmla="*/ 470325 w 477612"/>
                <a:gd name="connsiteY0" fmla="*/ 0 h 1433600"/>
                <a:gd name="connsiteX1" fmla="*/ 475607 w 477612"/>
                <a:gd name="connsiteY1" fmla="*/ 3701 h 1433600"/>
                <a:gd name="connsiteX2" fmla="*/ 477612 w 477612"/>
                <a:gd name="connsiteY2" fmla="*/ 5160 h 1433600"/>
                <a:gd name="connsiteX3" fmla="*/ 477612 w 477612"/>
                <a:gd name="connsiteY3" fmla="*/ 1428441 h 1433600"/>
                <a:gd name="connsiteX4" fmla="*/ 475607 w 477612"/>
                <a:gd name="connsiteY4" fmla="*/ 1429900 h 1433600"/>
                <a:gd name="connsiteX5" fmla="*/ 470325 w 477612"/>
                <a:gd name="connsiteY5" fmla="*/ 1433600 h 1433600"/>
                <a:gd name="connsiteX6" fmla="*/ 0 w 477612"/>
                <a:gd name="connsiteY6" fmla="*/ 716800 h 1433600"/>
                <a:gd name="connsiteX7" fmla="*/ 470325 w 477612"/>
                <a:gd name="connsiteY7" fmla="*/ 0 h 143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7612" h="1433600">
                  <a:moveTo>
                    <a:pt x="470325" y="0"/>
                  </a:moveTo>
                  <a:cubicBezTo>
                    <a:pt x="470325" y="0"/>
                    <a:pt x="472162" y="1254"/>
                    <a:pt x="475607" y="3701"/>
                  </a:cubicBezTo>
                  <a:lnTo>
                    <a:pt x="477612" y="5160"/>
                  </a:lnTo>
                  <a:lnTo>
                    <a:pt x="477612" y="1428441"/>
                  </a:lnTo>
                  <a:lnTo>
                    <a:pt x="475607" y="1429900"/>
                  </a:lnTo>
                  <a:cubicBezTo>
                    <a:pt x="472162" y="1432347"/>
                    <a:pt x="470325" y="1433600"/>
                    <a:pt x="470325" y="1433600"/>
                  </a:cubicBezTo>
                  <a:cubicBezTo>
                    <a:pt x="470325" y="1433600"/>
                    <a:pt x="0" y="1112672"/>
                    <a:pt x="0" y="716800"/>
                  </a:cubicBezTo>
                  <a:cubicBezTo>
                    <a:pt x="0" y="320929"/>
                    <a:pt x="470325" y="0"/>
                    <a:pt x="470325" y="0"/>
                  </a:cubicBezTo>
                  <a:close/>
                </a:path>
              </a:pathLst>
            </a:custGeom>
            <a:pattFill prst="pct5">
              <a:fgClr>
                <a:schemeClr val="accent4">
                  <a:lumMod val="20000"/>
                  <a:lumOff val="80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  <p:sp>
          <p:nvSpPr>
            <p:cNvPr id="18" name="Graphic 9">
              <a:extLst>
                <a:ext uri="{FF2B5EF4-FFF2-40B4-BE49-F238E27FC236}">
                  <a16:creationId xmlns:a16="http://schemas.microsoft.com/office/drawing/2014/main" id="{003913A0-A3C0-4ED8-8920-318068FBC46F}"/>
                </a:ext>
              </a:extLst>
            </p:cNvPr>
            <p:cNvSpPr/>
            <p:nvPr/>
          </p:nvSpPr>
          <p:spPr>
            <a:xfrm>
              <a:off x="8385870" y="791588"/>
              <a:ext cx="3232012" cy="3232012"/>
            </a:xfrm>
            <a:custGeom>
              <a:avLst/>
              <a:gdLst>
                <a:gd name="connsiteX0" fmla="*/ 6861546 w 6861545"/>
                <a:gd name="connsiteY0" fmla="*/ 6861546 h 6861545"/>
                <a:gd name="connsiteX1" fmla="*/ 3435812 w 6861545"/>
                <a:gd name="connsiteY1" fmla="*/ 6861546 h 6861545"/>
                <a:gd name="connsiteX2" fmla="*/ 0 w 6861545"/>
                <a:gd name="connsiteY2" fmla="*/ 3425734 h 6861545"/>
                <a:gd name="connsiteX3" fmla="*/ 0 w 6861545"/>
                <a:gd name="connsiteY3" fmla="*/ 0 h 6861545"/>
                <a:gd name="connsiteX4" fmla="*/ 3425734 w 6861545"/>
                <a:gd name="connsiteY4" fmla="*/ 0 h 6861545"/>
                <a:gd name="connsiteX5" fmla="*/ 6861546 w 6861545"/>
                <a:gd name="connsiteY5" fmla="*/ 3435812 h 6861545"/>
                <a:gd name="connsiteX6" fmla="*/ 6861546 w 6861545"/>
                <a:gd name="connsiteY6" fmla="*/ 6861546 h 6861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61545" h="6861545">
                  <a:moveTo>
                    <a:pt x="6861546" y="6861546"/>
                  </a:moveTo>
                  <a:lnTo>
                    <a:pt x="3435812" y="6861546"/>
                  </a:lnTo>
                  <a:cubicBezTo>
                    <a:pt x="1538245" y="6861546"/>
                    <a:pt x="0" y="5323301"/>
                    <a:pt x="0" y="3425734"/>
                  </a:cubicBezTo>
                  <a:lnTo>
                    <a:pt x="0" y="0"/>
                  </a:lnTo>
                  <a:lnTo>
                    <a:pt x="3425734" y="0"/>
                  </a:lnTo>
                  <a:cubicBezTo>
                    <a:pt x="5323301" y="0"/>
                    <a:pt x="6861546" y="1538245"/>
                    <a:pt x="6861546" y="3435812"/>
                  </a:cubicBezTo>
                  <a:lnTo>
                    <a:pt x="6861546" y="6861546"/>
                  </a:lnTo>
                  <a:close/>
                </a:path>
              </a:pathLst>
            </a:custGeom>
            <a:pattFill prst="pct5">
              <a:fgClr>
                <a:schemeClr val="accent4">
                  <a:lumMod val="60000"/>
                  <a:lumOff val="40000"/>
                </a:schemeClr>
              </a:fgClr>
              <a:bgClr>
                <a:schemeClr val="accent1">
                  <a:lumMod val="75000"/>
                </a:schemeClr>
              </a:bgClr>
            </a:patt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2" name="Texture">
            <a:extLst>
              <a:ext uri="{FF2B5EF4-FFF2-40B4-BE49-F238E27FC236}">
                <a16:creationId xmlns:a16="http://schemas.microsoft.com/office/drawing/2014/main" id="{7FE1D329-7CB2-4DF5-B0C0-36DD19EBC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blipFill dpi="0" rotWithShape="1">
            <a:blip r:embed="rId13">
              <a:alphaModFix amt="6000"/>
            </a:blip>
            <a:srcRect/>
            <a:tile tx="0" ty="0" sx="100000" sy="100000" flip="none" algn="tl"/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3083B5-1505-44FE-894D-AA1AB6D60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3930-F8C8-43B1-BC1A-6264F4ACB2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096713"/>
            <a:ext cx="7685037" cy="4080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4F2F7-3ECA-43D7-BFF3-FBB407AEAB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12/6/25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A193F-0B61-43DD-8E45-EFEAC43E3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15544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25961-D3A8-4945-AEE4-EE1952DBD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4512" y="6355080"/>
            <a:ext cx="79552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11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6612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88" r:id="rId2"/>
    <p:sldLayoutId id="2147483690" r:id="rId3"/>
    <p:sldLayoutId id="2147483691" r:id="rId4"/>
    <p:sldLayoutId id="2147483692" r:id="rId5"/>
    <p:sldLayoutId id="2147483693" r:id="rId6"/>
    <p:sldLayoutId id="2147483698" r:id="rId7"/>
    <p:sldLayoutId id="2147483694" r:id="rId8"/>
    <p:sldLayoutId id="2147483695" r:id="rId9"/>
    <p:sldLayoutId id="2147483696" r:id="rId10"/>
    <p:sldLayoutId id="214748369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C42E5-7325-1B3D-2306-09F64AED7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Borderless Debit card</a:t>
            </a:r>
          </a:p>
        </p:txBody>
      </p:sp>
    </p:spTree>
    <p:extLst>
      <p:ext uri="{BB962C8B-B14F-4D97-AF65-F5344CB8AC3E}">
        <p14:creationId xmlns:p14="http://schemas.microsoft.com/office/powerpoint/2010/main" val="2741992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058EA-5BF1-DB0A-2990-EBD83EF79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F560C1-6C3D-EA1A-DD99-DC990CD681DD}"/>
              </a:ext>
            </a:extLst>
          </p:cNvPr>
          <p:cNvSpPr txBox="1"/>
          <p:nvPr/>
        </p:nvSpPr>
        <p:spPr>
          <a:xfrm>
            <a:off x="670560" y="1116876"/>
            <a:ext cx="73710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allow cardholder to hold a </a:t>
            </a:r>
            <a:r>
              <a:rPr lang="en-GB" i="1" dirty="0"/>
              <a:t>foreign-currency wallet</a:t>
            </a:r>
            <a:r>
              <a:rPr lang="en-GB" dirty="0"/>
              <a:t> (e.g. PKR)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cardholder locks-in GBP-&gt;PKR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cardholder uses the card for PKR transactions (POS, ATM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For authorisation, we use the customer’s PKR balance as source of funds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authorise against the customer’s available PKR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On T1-3, we must settle the transactions with VISA (in GBP)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3D06BD6-C292-EB6C-20DD-3327CF4B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327689"/>
            <a:ext cx="7685037" cy="358111"/>
          </a:xfrm>
        </p:spPr>
        <p:txBody>
          <a:bodyPr>
            <a:noAutofit/>
          </a:bodyPr>
          <a:lstStyle/>
          <a:p>
            <a:r>
              <a:rPr lang="en-GB" sz="2000" dirty="0"/>
              <a:t>Borderless card funding / usage flows</a:t>
            </a:r>
          </a:p>
        </p:txBody>
      </p:sp>
    </p:spTree>
    <p:extLst>
      <p:ext uri="{BB962C8B-B14F-4D97-AF65-F5344CB8AC3E}">
        <p14:creationId xmlns:p14="http://schemas.microsoft.com/office/powerpoint/2010/main" val="1854281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BB0DB-49D7-7A57-7EC3-AD7AB5F10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FA37A29-6B82-D547-1447-6512C72D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327689"/>
            <a:ext cx="7685037" cy="358111"/>
          </a:xfrm>
        </p:spPr>
        <p:txBody>
          <a:bodyPr>
            <a:noAutofit/>
          </a:bodyPr>
          <a:lstStyle/>
          <a:p>
            <a:r>
              <a:rPr lang="en-GB" sz="2000" dirty="0"/>
              <a:t>Funding Customer’s JPY balance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A45E5-F790-5756-7FEB-5125AE255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868592"/>
            <a:ext cx="8549421" cy="4079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89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C2A1D-2112-B8A5-084F-C5277C86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ED5B240-FD30-E9FF-F1F4-CFF23BF2A2B4}"/>
              </a:ext>
            </a:extLst>
          </p:cNvPr>
          <p:cNvSpPr txBox="1"/>
          <p:nvPr/>
        </p:nvSpPr>
        <p:spPr>
          <a:xfrm>
            <a:off x="670560" y="1116876"/>
            <a:ext cx="6985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 settle with the cardholder, we must transfer PKR funds from safeguarding account to our operating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To balance the books and settle with Visa, we must convert the PKR to GBP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As settlement may take place 1-3 days after transaction date, the rates may have moved against us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DEA915E-131B-D4B1-D350-7765E379B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327689"/>
            <a:ext cx="7685037" cy="358111"/>
          </a:xfrm>
        </p:spPr>
        <p:txBody>
          <a:bodyPr>
            <a:noAutofit/>
          </a:bodyPr>
          <a:lstStyle/>
          <a:p>
            <a:r>
              <a:rPr lang="en-GB" sz="2000" dirty="0"/>
              <a:t>FX Risk</a:t>
            </a:r>
          </a:p>
        </p:txBody>
      </p:sp>
    </p:spTree>
    <p:extLst>
      <p:ext uri="{BB962C8B-B14F-4D97-AF65-F5344CB8AC3E}">
        <p14:creationId xmlns:p14="http://schemas.microsoft.com/office/powerpoint/2010/main" val="2878719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44BF7-DE1B-94D2-7695-DE02CB46F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A01DE1A-1CEA-DE52-23F1-9789D6421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327689"/>
            <a:ext cx="7685037" cy="358111"/>
          </a:xfrm>
        </p:spPr>
        <p:txBody>
          <a:bodyPr>
            <a:noAutofit/>
          </a:bodyPr>
          <a:lstStyle/>
          <a:p>
            <a:r>
              <a:rPr lang="en-GB" sz="2000" dirty="0"/>
              <a:t>Mitigating FX Risk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73D589-755C-02BB-E1A4-926E8A6707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39" y="737603"/>
            <a:ext cx="8611613" cy="517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893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C42E9-14CD-338A-CBFC-9ECC889C3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F96C3CF-E484-56B2-535A-1BD038619A26}"/>
              </a:ext>
            </a:extLst>
          </p:cNvPr>
          <p:cNvSpPr txBox="1"/>
          <p:nvPr/>
        </p:nvSpPr>
        <p:spPr>
          <a:xfrm>
            <a:off x="670560" y="1116876"/>
            <a:ext cx="74828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Customer funds are immediately converted to desired foreign currency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Transactions are authorised based on customer’s currency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Customer spend in foreign currency is hedged in real-time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know exactly what the scheme settlement will cost in GBP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hedge is recorded against the transaction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At settlement time VISA takes GBP from our settlement a/c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close out (unwind) the hedge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A0E0BD5-43D7-C33D-A946-6FA5EAD29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327689"/>
            <a:ext cx="7685037" cy="358111"/>
          </a:xfrm>
        </p:spPr>
        <p:txBody>
          <a:bodyPr>
            <a:noAutofit/>
          </a:bodyPr>
          <a:lstStyle/>
          <a:p>
            <a:r>
              <a:rPr lang="en-GB" sz="2000" dirty="0"/>
              <a:t>Mitigating FX Risk</a:t>
            </a:r>
          </a:p>
        </p:txBody>
      </p:sp>
    </p:spTree>
    <p:extLst>
      <p:ext uri="{BB962C8B-B14F-4D97-AF65-F5344CB8AC3E}">
        <p14:creationId xmlns:p14="http://schemas.microsoft.com/office/powerpoint/2010/main" val="20645891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0B329-3E0A-C721-B71F-52D3F7211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C621254-FDD6-4C2F-5E88-41BE87119127}"/>
              </a:ext>
            </a:extLst>
          </p:cNvPr>
          <p:cNvSpPr txBox="1"/>
          <p:nvPr/>
        </p:nvSpPr>
        <p:spPr>
          <a:xfrm>
            <a:off x="670560" y="1116876"/>
            <a:ext cx="6985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authorise the transaction based on customers JPY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Customer’s JPY balance is reduced by ¥10,000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Immediately after authorisation we place a FX deal with FX provider: 	- Sell currency: JPY</a:t>
            </a:r>
          </a:p>
          <a:p>
            <a:r>
              <a:rPr lang="en-GB" dirty="0"/>
              <a:t>	- Buy currency: GBP</a:t>
            </a:r>
          </a:p>
          <a:p>
            <a:r>
              <a:rPr lang="en-GB" dirty="0"/>
              <a:t>	- Amount: 10,000 JPY</a:t>
            </a:r>
          </a:p>
          <a:p>
            <a:r>
              <a:rPr lang="en-GB" dirty="0"/>
              <a:t>	- Settlement date: As per scheme e.g. T+2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FX provider returns:</a:t>
            </a:r>
          </a:p>
          <a:p>
            <a:r>
              <a:rPr lang="en-GB" dirty="0"/>
              <a:t>	- Rate (GBP/JPY = 208.30)</a:t>
            </a:r>
          </a:p>
          <a:p>
            <a:r>
              <a:rPr lang="en-GB" dirty="0"/>
              <a:t>	- Guaranteed GBP amount: £48</a:t>
            </a:r>
          </a:p>
          <a:p>
            <a:r>
              <a:rPr lang="en-GB" dirty="0"/>
              <a:t>	- Reference ID</a:t>
            </a:r>
          </a:p>
          <a:p>
            <a:r>
              <a:rPr lang="en-GB" dirty="0"/>
              <a:t>	- Settlement 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accept the FX quote and lock the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We record the hedge against the authorisation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At Settlement:</a:t>
            </a:r>
          </a:p>
          <a:p>
            <a:r>
              <a:rPr lang="en-GB" dirty="0"/>
              <a:t>	- FX provider delivers £48 to us</a:t>
            </a:r>
          </a:p>
          <a:p>
            <a:r>
              <a:rPr lang="en-GB" dirty="0"/>
              <a:t>	- Scheme takes £48 from us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84E02FB-C28A-B719-36EB-ACB9907AB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" y="327689"/>
            <a:ext cx="7685037" cy="358111"/>
          </a:xfrm>
        </p:spPr>
        <p:txBody>
          <a:bodyPr>
            <a:noAutofit/>
          </a:bodyPr>
          <a:lstStyle/>
          <a:p>
            <a:r>
              <a:rPr lang="en-GB" sz="2000" dirty="0"/>
              <a:t>Example flow (A JPY card authorisation of ¥10,000 comes in)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C7210C-8A0F-07F9-2F19-14B7FC137167}"/>
              </a:ext>
            </a:extLst>
          </p:cNvPr>
          <p:cNvSpPr txBox="1"/>
          <p:nvPr/>
        </p:nvSpPr>
        <p:spPr>
          <a:xfrm>
            <a:off x="5012957" y="5989320"/>
            <a:ext cx="2839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Note - The FX hedge can be any one of:  </a:t>
            </a:r>
          </a:p>
          <a:p>
            <a:r>
              <a:rPr lang="en-GB" sz="1200" dirty="0"/>
              <a:t>NDF, Forward, “guaranteed rate”</a:t>
            </a:r>
          </a:p>
        </p:txBody>
      </p:sp>
    </p:spTree>
    <p:extLst>
      <p:ext uri="{BB962C8B-B14F-4D97-AF65-F5344CB8AC3E}">
        <p14:creationId xmlns:p14="http://schemas.microsoft.com/office/powerpoint/2010/main" val="2988937505"/>
      </p:ext>
    </p:extLst>
  </p:cSld>
  <p:clrMapOvr>
    <a:masterClrMapping/>
  </p:clrMapOvr>
</p:sld>
</file>

<file path=ppt/theme/theme1.xml><?xml version="1.0" encoding="utf-8"?>
<a:theme xmlns:a="http://schemas.openxmlformats.org/drawingml/2006/main" name="TropicVTI">
  <a:themeElements>
    <a:clrScheme name="AnalogousFromRegularSeedRightStep">
      <a:dk1>
        <a:srgbClr val="000000"/>
      </a:dk1>
      <a:lt1>
        <a:srgbClr val="FFFFFF"/>
      </a:lt1>
      <a:dk2>
        <a:srgbClr val="1B2430"/>
      </a:dk2>
      <a:lt2>
        <a:srgbClr val="F3F0F0"/>
      </a:lt2>
      <a:accent1>
        <a:srgbClr val="45AFB0"/>
      </a:accent1>
      <a:accent2>
        <a:srgbClr val="3B7EB1"/>
      </a:accent2>
      <a:accent3>
        <a:srgbClr val="4D5FC3"/>
      </a:accent3>
      <a:accent4>
        <a:srgbClr val="5C3DB2"/>
      </a:accent4>
      <a:accent5>
        <a:srgbClr val="9D4DC3"/>
      </a:accent5>
      <a:accent6>
        <a:srgbClr val="B13BA6"/>
      </a:accent6>
      <a:hlink>
        <a:srgbClr val="BF413F"/>
      </a:hlink>
      <a:folHlink>
        <a:srgbClr val="7F7F7F"/>
      </a:folHlink>
    </a:clrScheme>
    <a:fontScheme name="Tropic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opicVTI" id="{DE8751F2-0439-4D1D-A674-AFC241C9701D}" vid="{C41D9140-98E0-4A26-97C4-97FDCB8D6E0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422624</TotalTime>
  <Words>373</Words>
  <Application>Microsoft Macintosh PowerPoint</Application>
  <PresentationFormat>Widescreen</PresentationFormat>
  <Paragraphs>47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Gill Sans Nova</vt:lpstr>
      <vt:lpstr>TropicVTI</vt:lpstr>
      <vt:lpstr>Borderless Debit card</vt:lpstr>
      <vt:lpstr>Borderless card funding / usage flows</vt:lpstr>
      <vt:lpstr>Funding Customer’s JPY balance</vt:lpstr>
      <vt:lpstr>FX Risk</vt:lpstr>
      <vt:lpstr>Mitigating FX Risk</vt:lpstr>
      <vt:lpstr>Mitigating FX Risk</vt:lpstr>
      <vt:lpstr>Example flow (A JPY card authorisation of ¥10,000 comes in)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payment process</dc:title>
  <dc:creator>Hamid Lahooti</dc:creator>
  <cp:lastModifiedBy>no-reply</cp:lastModifiedBy>
  <cp:revision>746</cp:revision>
  <cp:lastPrinted>2022-04-28T06:37:59Z</cp:lastPrinted>
  <dcterms:created xsi:type="dcterms:W3CDTF">2022-04-22T06:49:27Z</dcterms:created>
  <dcterms:modified xsi:type="dcterms:W3CDTF">2025-12-11T23:31:27Z</dcterms:modified>
</cp:coreProperties>
</file>