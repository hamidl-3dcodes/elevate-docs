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</p:sldMasterIdLst>
  <p:notesMasterIdLst>
    <p:notesMasterId r:id="rId10"/>
  </p:notesMasterIdLst>
  <p:sldIdLst>
    <p:sldId id="383" r:id="rId2"/>
    <p:sldId id="382" r:id="rId3"/>
    <p:sldId id="378" r:id="rId4"/>
    <p:sldId id="379" r:id="rId5"/>
    <p:sldId id="380" r:id="rId6"/>
    <p:sldId id="381" r:id="rId7"/>
    <p:sldId id="384" r:id="rId8"/>
    <p:sldId id="37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58310D1-520F-E340-9DC9-983DD70B5F84}">
          <p14:sldIdLst>
            <p14:sldId id="383"/>
            <p14:sldId id="382"/>
            <p14:sldId id="378"/>
            <p14:sldId id="379"/>
            <p14:sldId id="380"/>
            <p14:sldId id="381"/>
            <p14:sldId id="384"/>
            <p14:sldId id="3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A2FD"/>
    <a:srgbClr val="B9AE30"/>
    <a:srgbClr val="B8AC2F"/>
    <a:srgbClr val="FDBCDA"/>
    <a:srgbClr val="FDD0E7"/>
    <a:srgbClr val="F8CEFD"/>
    <a:srgbClr val="A0C0E1"/>
    <a:srgbClr val="6BA9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56"/>
    <p:restoredTop sz="96827"/>
  </p:normalViewPr>
  <p:slideViewPr>
    <p:cSldViewPr snapToGrid="0" snapToObjects="1">
      <p:cViewPr varScale="1">
        <p:scale>
          <a:sx n="182" d="100"/>
          <a:sy n="182" d="100"/>
        </p:scale>
        <p:origin x="176" y="112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63B5E4-7B7D-514D-B202-4AAF6B51BB93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E4701D-FC48-104F-98C6-7719D862D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997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74CC1-A4CE-DCEC-4FC8-E890876DA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F35736-84AE-937A-2722-23313A796C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B4363A-6C4B-F236-73A1-E0F59D446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CCFBB-B99E-FCD8-123A-B302EC4BF6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925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0F28B-45E3-4585-87E3-73838692A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668049"/>
            <a:ext cx="7626795" cy="2841914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F755B0-E17A-4B52-A99D-C35BB18BB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3602038"/>
            <a:ext cx="7626795" cy="250172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90C28-805B-4DA6-A10E-651C0FD01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EBBA9-C52F-4628-AE0D-DCD1772F9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BAC57-F8E1-4B54-A111-CB53B32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159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2C84-1247-4534-81D1-136C3E1EB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8D490-CEA6-4844-A537-F749658D3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AEFC9-887F-4E73-9938-6032D5286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CF0CF-134A-404E-A177-9FAAA039F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1B0DC-2D2C-408B-A577-904A2385C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352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55431-EF88-4771-9699-27EF70A55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50"/>
            <a:ext cx="7673389" cy="3816588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F57C3-A928-4093-B3FC-ECC2194AE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7673389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FD625-A893-46D3-A518-9E969CB4F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AD37A-B380-4B65-9FB9-3FB91412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773B6-CD13-4451-9BF3-C4102BA5E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713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1FBD0A-9F7B-4EBB-9982-B55F5F980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88CFF0B8-0BA9-4DD9-B7B2-0655DC841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77B910E-9B87-4291-987B-6883212CB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5596CF7-55B3-409D-A36C-F5BE9D625628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2245D23-45D8-474C-8A38-633E99962676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8A8D14-28CA-4095-B2FA-E48B3150A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1D1F176A-19F1-4537-800D-210F29EC1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04C26-6125-4D95-9FC0-50DEB9419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1534" cy="15917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5401A-13E5-4CED-864F-06D6EECCBC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341329"/>
            <a:ext cx="5562600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13523-8F78-4766-91D7-03E329B68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41329"/>
            <a:ext cx="4736534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B757F-BAD2-4343-BD57-FC02D0BE1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30EF3C-A61E-4F43-9C8F-BC9A6455C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9D947-1DC8-4CE9-A031-6EEB776BD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805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BFA9BB-A51E-4D09-8602-5AD901046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olor Fill">
            <a:extLst>
              <a:ext uri="{FF2B5EF4-FFF2-40B4-BE49-F238E27FC236}">
                <a16:creationId xmlns:a16="http://schemas.microsoft.com/office/drawing/2014/main" id="{A60257A1-779B-4048-BC0D-1EA579B5B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8F4B5D0-AA24-4702-9C01-FC1A03E7B6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9CBF9BD-1EB2-4122-98FE-F2B5DF8771C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C41FF89-01DF-4236-AA4D-243CB8A464B3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D03BB88-350D-4DE0-BB34-870F643568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5" name="Texture">
            <a:extLst>
              <a:ext uri="{FF2B5EF4-FFF2-40B4-BE49-F238E27FC236}">
                <a16:creationId xmlns:a16="http://schemas.microsoft.com/office/drawing/2014/main" id="{4A8025C0-8995-4863-A847-7ED1F8CCE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62335-6445-435C-A1C6-9F090B965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0629" cy="1325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74B3D-418F-464D-91E7-993D0B480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086" y="2182814"/>
            <a:ext cx="5021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04709-9362-4AB5-9AA2-32F51BF06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086" y="3115949"/>
            <a:ext cx="502151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083836-1CF5-406F-B0CB-643F37066C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90597" y="2182814"/>
            <a:ext cx="501723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4A8670-0F33-4222-AAC9-96A21C47C3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90597" y="3115949"/>
            <a:ext cx="501723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1E6970-4A96-4519-9C0E-11E245D56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FEE249-70F5-4359-B699-23D68A503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2AE510-A38C-45EE-B061-CB02E4E3D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097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A9D1A-F943-4838-BA2F-6DF4F2EC9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638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FEE401-3424-4696-A6FC-BBEE79379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E9D767-A30A-4508-B510-99AB91737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0979DC-F3D5-43AB-8A0F-9C8A14E0C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452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DCDA0B-9BEE-4B57-8F97-96D5645D0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2AF2-09A1-4A1C-AEB6-577962B71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D99D9-82B1-496C-ABBC-4FF0C375D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590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7D9AFA4-EB8E-4091-A5E2-1B9D163A0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F25018FE-FB44-4E2E-A181-B3476F3E8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6C7CD4B-70DE-49E2-A336-B6F43F58F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4B8BFC9-6F67-47CB-BAE4-45260FBAF397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40F836E5-3C5B-4DE7-B09A-AE00DEE730A9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8E1B8E4-080E-4F43-B33F-59DD21B6B658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07639D4-740A-4B71-8393-99CA375EB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AE7E56E5-1F6A-442B-B5E0-ED19F815D2E2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3774E986-8FE2-4670-A4C0-96E213269BD7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3A5846DF-A106-4887-BE2C-DCD89DAA6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67E81C-AA51-44A0-B21C-757B2F3B9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1957828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438A-298D-4466-B55D-F466C345C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68049"/>
            <a:ext cx="4875212" cy="523125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143104-0579-4974-88D2-61DF1A30D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749024"/>
            <a:ext cx="4314825" cy="31199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32755-0632-47CB-AA69-7EFB212FA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D0B4F-5B59-4064-A88B-E9938A40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12E7F-93B8-4E93-BCB3-ADE74FC15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779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3C1870-4E69-4DE7-BF2F-DE8A7881C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7439AB1C-A8A1-4745-9625-B18FE9160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1ADDC4D-D9AA-48F8-BD10-2D20F1460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1136312-3085-4615-A743-4EE531585B11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29539FE4-376B-4187-A80A-C98EBA23DA30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11DC5D7-2276-4A57-8783-A0EFB00416E9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7D5B578-4971-4ADC-97D8-B9CEF52AA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2D968E77-E43D-4870-93BC-CBF1947336B3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1221D41A-E71E-4587-A876-F8778E7C03E1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50457195-385D-490A-91AB-30B969C61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06FF6D-24FA-4E04-90ED-7DBE228B2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2235711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32D78B-0E21-420F-9DFF-6131CB0F7E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68049"/>
            <a:ext cx="4958436" cy="52312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C2A57-1064-4391-B96B-4D04305E0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941222"/>
            <a:ext cx="4314825" cy="292776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04EB0-850A-4256-8D12-E01A201A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CF4AF-C757-4552-AB8A-3B89C3746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2A368-F12B-4B5E-82F0-A6AEE6AF2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195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A5B40-C529-41A6-8D06-07AF9430A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5A354-E2A8-4A91-9D7A-36D9E0915C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D3944-2E3D-42BC-B83D-7630699D4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C57FA-204E-4A7A-BAE2-DF17BB0FF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DA36D-49FF-495A-8E25-4CCC98E39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903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44ECD05-4E94-4A60-8FDA-700BF100B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olor Fill">
            <a:extLst>
              <a:ext uri="{FF2B5EF4-FFF2-40B4-BE49-F238E27FC236}">
                <a16:creationId xmlns:a16="http://schemas.microsoft.com/office/drawing/2014/main" id="{8BCB0EB2-4067-418C-9465-9D4C71240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4E37999-41E7-446D-8C53-B904C3CE8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38A90E8-87F8-4150-B5EB-E19C8A01AFB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Graphic 9">
              <a:extLst>
                <a:ext uri="{FF2B5EF4-FFF2-40B4-BE49-F238E27FC236}">
                  <a16:creationId xmlns:a16="http://schemas.microsoft.com/office/drawing/2014/main" id="{724DCA1C-A8E8-4F90-8FAE-85B1426C108A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58D6291-6756-44E3-9FCE-0B2ECA5EE664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37CA96E-9DD9-4172-B63B-50DF43B57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3" name="Graphic 9">
              <a:extLst>
                <a:ext uri="{FF2B5EF4-FFF2-40B4-BE49-F238E27FC236}">
                  <a16:creationId xmlns:a16="http://schemas.microsoft.com/office/drawing/2014/main" id="{B335AFFE-BF3D-491C-8255-692B9DAC6775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4" name="Graphic 9">
              <a:extLst>
                <a:ext uri="{FF2B5EF4-FFF2-40B4-BE49-F238E27FC236}">
                  <a16:creationId xmlns:a16="http://schemas.microsoft.com/office/drawing/2014/main" id="{AA052AAF-7A7C-4EDB-AE2C-FCA3A756C4E5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0" name="Texture">
            <a:extLst>
              <a:ext uri="{FF2B5EF4-FFF2-40B4-BE49-F238E27FC236}">
                <a16:creationId xmlns:a16="http://schemas.microsoft.com/office/drawing/2014/main" id="{31F99E9D-6528-47AC-B178-7032D0E17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4DD302-622D-4E42-BD6F-FAAA98B372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6311" y="668049"/>
            <a:ext cx="2628900" cy="5508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70D9F5-C907-405F-BE11-571C61745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668049"/>
            <a:ext cx="6689098" cy="5508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FD860-3FBD-4FE7-A9FD-1D4A4D10A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A367B-81B3-4BD3-9C95-18EC0710A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D8E54-346D-4D66-BF99-96DA43F8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934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</a:extLst>
            </p:cNvPr>
            <p:cNvSpPr/>
            <p:nvPr/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</a:extLst>
            </p:cNvPr>
            <p:cNvSpPr/>
            <p:nvPr/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</a:extLst>
            </p:cNvPr>
            <p:cNvSpPr/>
            <p:nvPr/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</a:extLst>
            </p:cNvPr>
            <p:cNvSpPr/>
            <p:nvPr/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8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</a:extLst>
            </p:cNvPr>
            <p:cNvSpPr/>
            <p:nvPr/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2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13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3083B5-1505-44FE-894D-AA1AB6D60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3930-F8C8-43B1-BC1A-6264F4ACB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096713"/>
            <a:ext cx="7685037" cy="4080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4F2F7-3ECA-43D7-BFF3-FBB407AEAB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8048B-57AF-4F53-BC84-8E0A1033FBEC}" type="datetimeFigureOut">
              <a:rPr lang="en-US" smtClean="0"/>
              <a:pPr/>
              <a:t>1/27/26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A193F-0B61-43DD-8E45-EFEAC43E38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1554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25961-D3A8-4945-AEE4-EE1952DBD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54512" y="6355080"/>
            <a:ext cx="79552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A8A1B-4E1E-43EF-8A39-7D4A3879B9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7661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88" r:id="rId2"/>
    <p:sldLayoutId id="2147483690" r:id="rId3"/>
    <p:sldLayoutId id="2147483691" r:id="rId4"/>
    <p:sldLayoutId id="2147483692" r:id="rId5"/>
    <p:sldLayoutId id="2147483693" r:id="rId6"/>
    <p:sldLayoutId id="2147483698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4505B-D76C-8BF2-9E49-11985B9571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FX Payout process</a:t>
            </a:r>
          </a:p>
        </p:txBody>
      </p:sp>
    </p:spTree>
    <p:extLst>
      <p:ext uri="{BB962C8B-B14F-4D97-AF65-F5344CB8AC3E}">
        <p14:creationId xmlns:p14="http://schemas.microsoft.com/office/powerpoint/2010/main" val="567312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C3EEC-4E0C-5BF7-CE6D-5A8CFE1E7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66">
            <a:extLst>
              <a:ext uri="{FF2B5EF4-FFF2-40B4-BE49-F238E27FC236}">
                <a16:creationId xmlns:a16="http://schemas.microsoft.com/office/drawing/2014/main" id="{71EF1C91-DECC-6CC3-6C04-589F95F305F2}"/>
              </a:ext>
            </a:extLst>
          </p:cNvPr>
          <p:cNvSpPr txBox="1"/>
          <p:nvPr/>
        </p:nvSpPr>
        <p:spPr>
          <a:xfrm>
            <a:off x="3048501" y="1185026"/>
            <a:ext cx="609700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1️⃣ Customer initiates outgoing EUR payment from GBP wallet</a:t>
            </a:r>
          </a:p>
          <a:p>
            <a:endParaRPr lang="en-GB" dirty="0"/>
          </a:p>
          <a:p>
            <a:r>
              <a:rPr lang="en-GB" dirty="0"/>
              <a:t>We request a quote from Convera API: POST /v3/quote</a:t>
            </a:r>
          </a:p>
          <a:p>
            <a:endParaRPr lang="en-GB" dirty="0"/>
          </a:p>
          <a:p>
            <a:r>
              <a:rPr lang="en-GB" dirty="0"/>
              <a:t>Convera returns: { </a:t>
            </a:r>
          </a:p>
          <a:p>
            <a:r>
              <a:rPr lang="en-GB" dirty="0" err="1"/>
              <a:t>quote_id</a:t>
            </a:r>
            <a:r>
              <a:rPr lang="en-GB" dirty="0"/>
              <a:t>, rate, </a:t>
            </a:r>
            <a:r>
              <a:rPr lang="en-GB" dirty="0" err="1"/>
              <a:t>sell_amount</a:t>
            </a:r>
            <a:r>
              <a:rPr lang="en-GB" dirty="0"/>
              <a:t> (GBP), </a:t>
            </a:r>
            <a:r>
              <a:rPr lang="en-GB" dirty="0" err="1"/>
              <a:t>buy_amount</a:t>
            </a:r>
            <a:r>
              <a:rPr lang="en-GB" dirty="0"/>
              <a:t> (EUR), expiry</a:t>
            </a:r>
          </a:p>
          <a:p>
            <a:r>
              <a:rPr lang="en-GB" dirty="0"/>
              <a:t>} </a:t>
            </a:r>
          </a:p>
          <a:p>
            <a:endParaRPr lang="en-GB" dirty="0"/>
          </a:p>
          <a:p>
            <a:r>
              <a:rPr lang="en-GB" dirty="0"/>
              <a:t>We store this in our database.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5494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C4DA9-1FE8-E79E-F4D5-45F445090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3C895D-FB77-3D5F-CA31-0AA2C727F5D6}"/>
              </a:ext>
            </a:extLst>
          </p:cNvPr>
          <p:cNvSpPr txBox="1"/>
          <p:nvPr/>
        </p:nvSpPr>
        <p:spPr>
          <a:xfrm>
            <a:off x="3048501" y="492529"/>
            <a:ext cx="609700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2️⃣ Customer confirms → We execute the FX trade</a:t>
            </a:r>
          </a:p>
          <a:p>
            <a:endParaRPr lang="en-GB" dirty="0"/>
          </a:p>
          <a:p>
            <a:r>
              <a:rPr lang="en-GB" dirty="0"/>
              <a:t>We call Convera API: POST /v3/executions</a:t>
            </a:r>
          </a:p>
          <a:p>
            <a:endParaRPr lang="en-GB" dirty="0"/>
          </a:p>
          <a:p>
            <a:r>
              <a:rPr lang="en-GB" dirty="0"/>
              <a:t>Convera locks the rate and returns:</a:t>
            </a:r>
          </a:p>
          <a:p>
            <a:endParaRPr lang="en-GB" dirty="0"/>
          </a:p>
          <a:p>
            <a:r>
              <a:rPr lang="en-GB" dirty="0"/>
              <a:t>•	</a:t>
            </a:r>
            <a:r>
              <a:rPr lang="en-GB" dirty="0" err="1"/>
              <a:t>deal_id</a:t>
            </a:r>
            <a:r>
              <a:rPr lang="en-GB" dirty="0"/>
              <a:t> (EXEC1234)</a:t>
            </a:r>
          </a:p>
          <a:p>
            <a:endParaRPr lang="en-GB" dirty="0"/>
          </a:p>
          <a:p>
            <a:r>
              <a:rPr lang="en-GB" dirty="0"/>
              <a:t>•	trade date</a:t>
            </a:r>
          </a:p>
          <a:p>
            <a:endParaRPr lang="en-GB" dirty="0"/>
          </a:p>
          <a:p>
            <a:r>
              <a:rPr lang="en-GB" dirty="0"/>
              <a:t>•	buy/sell amounts</a:t>
            </a:r>
          </a:p>
          <a:p>
            <a:endParaRPr lang="en-GB" dirty="0"/>
          </a:p>
          <a:p>
            <a:r>
              <a:rPr lang="en-GB" dirty="0"/>
              <a:t>•	settlement date</a:t>
            </a:r>
          </a:p>
          <a:p>
            <a:endParaRPr lang="en-GB" dirty="0"/>
          </a:p>
          <a:p>
            <a:r>
              <a:rPr lang="en-GB" dirty="0"/>
              <a:t>•	payment booking id (if combined)</a:t>
            </a:r>
          </a:p>
          <a:p>
            <a:endParaRPr lang="en-GB" dirty="0"/>
          </a:p>
          <a:p>
            <a:r>
              <a:rPr lang="en-GB" dirty="0"/>
              <a:t>This is now a legally binding FX trade.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3735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44F26-C0B8-04B3-B8CA-DCA98155E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F22DD9-F284-3485-2696-48D656EB47FE}"/>
              </a:ext>
            </a:extLst>
          </p:cNvPr>
          <p:cNvSpPr txBox="1"/>
          <p:nvPr/>
        </p:nvSpPr>
        <p:spPr>
          <a:xfrm>
            <a:off x="2452938" y="854839"/>
            <a:ext cx="609700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3️⃣ Treasury funds the trade</a:t>
            </a:r>
          </a:p>
          <a:p>
            <a:endParaRPr lang="en-GB" dirty="0"/>
          </a:p>
          <a:p>
            <a:r>
              <a:rPr lang="en-GB" dirty="0"/>
              <a:t>1. Convera sends us SI (MT103) </a:t>
            </a:r>
          </a:p>
          <a:p>
            <a:r>
              <a:rPr lang="en-GB" dirty="0"/>
              <a:t>	Pay 1,000 GBP to Convera Settlement a/c</a:t>
            </a:r>
          </a:p>
          <a:p>
            <a:r>
              <a:rPr lang="en-GB" dirty="0"/>
              <a:t>	Beneficiary: Convera Financial Services</a:t>
            </a:r>
          </a:p>
          <a:p>
            <a:r>
              <a:rPr lang="en-GB" dirty="0"/>
              <a:t>	IBAN: ***</a:t>
            </a:r>
          </a:p>
          <a:p>
            <a:r>
              <a:rPr lang="en-GB" dirty="0"/>
              <a:t>	BIC: ***</a:t>
            </a:r>
          </a:p>
          <a:p>
            <a:r>
              <a:rPr lang="en-GB" dirty="0"/>
              <a:t>	Reference: Settlement of deal EXEC1234</a:t>
            </a:r>
          </a:p>
          <a:p>
            <a:endParaRPr lang="en-GB" dirty="0"/>
          </a:p>
          <a:p>
            <a:r>
              <a:rPr lang="en-GB" dirty="0"/>
              <a:t>2. Treasury sends Convera the sell currency (GBP) from our nostro account GBP Treasury Nostro – Convera GBP Collection Account</a:t>
            </a:r>
          </a:p>
        </p:txBody>
      </p:sp>
    </p:spTree>
    <p:extLst>
      <p:ext uri="{BB962C8B-B14F-4D97-AF65-F5344CB8AC3E}">
        <p14:creationId xmlns:p14="http://schemas.microsoft.com/office/powerpoint/2010/main" val="88627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73FE1-4B57-4406-20D9-CD84E4112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EE014CF-0DEE-1E5F-B6FD-6C99EDA738F4}"/>
              </a:ext>
            </a:extLst>
          </p:cNvPr>
          <p:cNvSpPr txBox="1"/>
          <p:nvPr/>
        </p:nvSpPr>
        <p:spPr>
          <a:xfrm>
            <a:off x="3048501" y="492529"/>
            <a:ext cx="609700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4️⃣ Convera delivers the outgoing FX payout</a:t>
            </a:r>
          </a:p>
          <a:p>
            <a:endParaRPr lang="en-GB" dirty="0"/>
          </a:p>
          <a:p>
            <a:r>
              <a:rPr lang="en-GB" dirty="0"/>
              <a:t>Once they confirm receipt of our GBP:</a:t>
            </a:r>
          </a:p>
          <a:p>
            <a:endParaRPr lang="en-GB" dirty="0"/>
          </a:p>
          <a:p>
            <a:r>
              <a:rPr lang="en-GB" dirty="0"/>
              <a:t>Convera triggers the outbound EUR payment via SEPA:</a:t>
            </a:r>
          </a:p>
          <a:p>
            <a:endParaRPr lang="en-GB" dirty="0"/>
          </a:p>
          <a:p>
            <a:r>
              <a:rPr lang="en-GB" dirty="0"/>
              <a:t>Beneficiary sees the funds as:</a:t>
            </a:r>
          </a:p>
          <a:p>
            <a:endParaRPr lang="en-GB" dirty="0"/>
          </a:p>
          <a:p>
            <a:r>
              <a:rPr lang="en-GB" dirty="0"/>
              <a:t>From: Convera (on behalf of Frontier Pay)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511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0886D-4BF5-7CC7-0CF9-45CEDFC17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81D8B2A-9BD4-5AAE-325B-A9119816CB31}"/>
              </a:ext>
            </a:extLst>
          </p:cNvPr>
          <p:cNvSpPr txBox="1"/>
          <p:nvPr/>
        </p:nvSpPr>
        <p:spPr>
          <a:xfrm>
            <a:off x="3114674" y="335845"/>
            <a:ext cx="6097002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5️⃣ Treasury ↔ Convera Reconciliation</a:t>
            </a:r>
          </a:p>
          <a:p>
            <a:endParaRPr lang="en-GB" dirty="0"/>
          </a:p>
          <a:p>
            <a:r>
              <a:rPr lang="en-GB" dirty="0"/>
              <a:t>🔹 FX Deal Execution Report</a:t>
            </a:r>
          </a:p>
          <a:p>
            <a:endParaRPr lang="en-GB" dirty="0"/>
          </a:p>
          <a:p>
            <a:r>
              <a:rPr lang="en-GB" dirty="0"/>
              <a:t>Daily schedule: /v3/reports/executions</a:t>
            </a:r>
          </a:p>
          <a:p>
            <a:endParaRPr lang="en-GB" dirty="0"/>
          </a:p>
          <a:p>
            <a:r>
              <a:rPr lang="en-GB" dirty="0"/>
              <a:t>🔹 Settlement Reports</a:t>
            </a:r>
          </a:p>
          <a:p>
            <a:endParaRPr lang="en-GB" dirty="0"/>
          </a:p>
          <a:p>
            <a:r>
              <a:rPr lang="en-GB" dirty="0"/>
              <a:t>Shows what Convera received from us (GBP inflows)</a:t>
            </a:r>
          </a:p>
          <a:p>
            <a:endParaRPr lang="en-GB" dirty="0"/>
          </a:p>
          <a:p>
            <a:r>
              <a:rPr lang="en-GB" dirty="0"/>
              <a:t>🔹 Payment Delivery Reports</a:t>
            </a:r>
          </a:p>
          <a:p>
            <a:endParaRPr lang="en-GB" dirty="0"/>
          </a:p>
          <a:p>
            <a:r>
              <a:rPr lang="en-GB" dirty="0"/>
              <a:t>Shows successful EUR outbound payments</a:t>
            </a:r>
          </a:p>
          <a:p>
            <a:endParaRPr lang="en-GB" dirty="0"/>
          </a:p>
          <a:p>
            <a:r>
              <a:rPr lang="en-GB" dirty="0"/>
              <a:t>🔹 Bank Statements</a:t>
            </a:r>
          </a:p>
          <a:p>
            <a:endParaRPr lang="en-GB" dirty="0"/>
          </a:p>
          <a:p>
            <a:r>
              <a:rPr lang="en-GB" dirty="0"/>
              <a:t>For our GBP Nostro, Treasury matches:</a:t>
            </a:r>
          </a:p>
          <a:p>
            <a:endParaRPr lang="en-GB" dirty="0"/>
          </a:p>
          <a:p>
            <a:r>
              <a:rPr lang="en-GB" dirty="0"/>
              <a:t>Deal EXEC123 → Outflow 1,000 GBP → Payout 1,1594.20 EUR → Payment delivered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5731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3E9F8-982D-AD86-4AA2-E7FE771B9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7E68B62-D158-74CB-C26C-02C1A5D3AB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4" name="Picture 3" descr="A diagram of a business&#10;&#10;AI-generated content may be incorrect.">
            <a:extLst>
              <a:ext uri="{FF2B5EF4-FFF2-40B4-BE49-F238E27FC236}">
                <a16:creationId xmlns:a16="http://schemas.microsoft.com/office/drawing/2014/main" id="{8222CCAC-109C-8CAE-611A-057CA42DF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979" y="362968"/>
            <a:ext cx="4100840" cy="6151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846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6EBF5-1EB5-AA24-B587-615DE885C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205864B-1C00-55FE-20D2-95EE42608C1D}"/>
              </a:ext>
            </a:extLst>
          </p:cNvPr>
          <p:cNvSpPr/>
          <p:nvPr/>
        </p:nvSpPr>
        <p:spPr>
          <a:xfrm>
            <a:off x="7891376" y="409455"/>
            <a:ext cx="2477111" cy="5245659"/>
          </a:xfrm>
          <a:prstGeom prst="roundRect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lvl="1"/>
            <a:endParaRPr lang="en-GB" dirty="0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1AF0AC5D-677D-5835-5BEE-1E24B3B563E5}"/>
              </a:ext>
            </a:extLst>
          </p:cNvPr>
          <p:cNvSpPr/>
          <p:nvPr/>
        </p:nvSpPr>
        <p:spPr>
          <a:xfrm>
            <a:off x="2330581" y="437181"/>
            <a:ext cx="1121422" cy="494831"/>
          </a:xfrm>
          <a:prstGeom prst="round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Front-end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344A672B-BB5F-A18C-55CF-467F08C90142}"/>
              </a:ext>
            </a:extLst>
          </p:cNvPr>
          <p:cNvSpPr/>
          <p:nvPr/>
        </p:nvSpPr>
        <p:spPr>
          <a:xfrm rot="16200000">
            <a:off x="5896116" y="2941757"/>
            <a:ext cx="3508280" cy="327098"/>
          </a:xfrm>
          <a:prstGeom prst="roundRect">
            <a:avLst/>
          </a:prstGeom>
          <a:solidFill>
            <a:schemeClr val="accent2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Connectors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E833F65-2AAF-93B9-195E-29395A377921}"/>
              </a:ext>
            </a:extLst>
          </p:cNvPr>
          <p:cNvSpPr/>
          <p:nvPr/>
        </p:nvSpPr>
        <p:spPr>
          <a:xfrm>
            <a:off x="8854062" y="682797"/>
            <a:ext cx="1270076" cy="434224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Virtual IBANs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FF5E94C-22EC-2301-F73D-383379F488CB}"/>
              </a:ext>
            </a:extLst>
          </p:cNvPr>
          <p:cNvSpPr/>
          <p:nvPr/>
        </p:nvSpPr>
        <p:spPr>
          <a:xfrm>
            <a:off x="8854062" y="1285342"/>
            <a:ext cx="1270076" cy="434224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FX Services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BDB537E-A6FF-3571-A0F9-5569F370926A}"/>
              </a:ext>
            </a:extLst>
          </p:cNvPr>
          <p:cNvSpPr/>
          <p:nvPr/>
        </p:nvSpPr>
        <p:spPr>
          <a:xfrm>
            <a:off x="8854062" y="1887887"/>
            <a:ext cx="1270076" cy="434224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Domestic Payments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A6F69D0-4454-B0A3-7CE4-916955C3AC29}"/>
              </a:ext>
            </a:extLst>
          </p:cNvPr>
          <p:cNvSpPr/>
          <p:nvPr/>
        </p:nvSpPr>
        <p:spPr>
          <a:xfrm>
            <a:off x="8854062" y="2490432"/>
            <a:ext cx="1270076" cy="434224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Cross-border Payments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C1397CA-6042-8951-AD7D-872237FBE92E}"/>
              </a:ext>
            </a:extLst>
          </p:cNvPr>
          <p:cNvSpPr/>
          <p:nvPr/>
        </p:nvSpPr>
        <p:spPr>
          <a:xfrm>
            <a:off x="8854062" y="3092977"/>
            <a:ext cx="1270076" cy="434224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Settlement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6E965E0-B13B-D7F9-49C7-0CBCCB1EB006}"/>
              </a:ext>
            </a:extLst>
          </p:cNvPr>
          <p:cNvSpPr/>
          <p:nvPr/>
        </p:nvSpPr>
        <p:spPr>
          <a:xfrm>
            <a:off x="8854062" y="3695522"/>
            <a:ext cx="1270076" cy="434224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BACS, CHAPS, FPS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F11235C-93E6-CB1E-D7AB-255A400DD326}"/>
              </a:ext>
            </a:extLst>
          </p:cNvPr>
          <p:cNvSpPr/>
          <p:nvPr/>
        </p:nvSpPr>
        <p:spPr>
          <a:xfrm>
            <a:off x="8854062" y="4298067"/>
            <a:ext cx="1270076" cy="434224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SEPA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90A0690-C6AB-FF4D-66CF-EEC042EC4284}"/>
              </a:ext>
            </a:extLst>
          </p:cNvPr>
          <p:cNvSpPr/>
          <p:nvPr/>
        </p:nvSpPr>
        <p:spPr>
          <a:xfrm>
            <a:off x="2855157" y="2514801"/>
            <a:ext cx="1652502" cy="930310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Orchestrator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40A265-F42F-BDCD-DF7C-D6ADC39F6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64" y="69316"/>
            <a:ext cx="4953601" cy="385321"/>
          </a:xfrm>
        </p:spPr>
        <p:txBody>
          <a:bodyPr>
            <a:normAutofit fontScale="90000"/>
          </a:bodyPr>
          <a:lstStyle/>
          <a:p>
            <a:r>
              <a:rPr lang="en-GB" sz="2400" dirty="0"/>
              <a:t>Payment Event Processing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38C81C-89EA-812A-58C9-744D372E159C}"/>
              </a:ext>
            </a:extLst>
          </p:cNvPr>
          <p:cNvSpPr/>
          <p:nvPr/>
        </p:nvSpPr>
        <p:spPr>
          <a:xfrm>
            <a:off x="8043003" y="1289603"/>
            <a:ext cx="715678" cy="478214"/>
          </a:xfrm>
          <a:prstGeom prst="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Banking Circle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C9FF4A5-225C-836E-3155-6415EFBDA09A}"/>
              </a:ext>
            </a:extLst>
          </p:cNvPr>
          <p:cNvSpPr/>
          <p:nvPr/>
        </p:nvSpPr>
        <p:spPr>
          <a:xfrm>
            <a:off x="8043003" y="3608324"/>
            <a:ext cx="715678" cy="478214"/>
          </a:xfrm>
          <a:prstGeom prst="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Bank of London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BC33A34-3AAA-148A-3D74-CA7C9280795B}"/>
              </a:ext>
            </a:extLst>
          </p:cNvPr>
          <p:cNvSpPr/>
          <p:nvPr/>
        </p:nvSpPr>
        <p:spPr>
          <a:xfrm>
            <a:off x="8043003" y="2062510"/>
            <a:ext cx="715678" cy="478214"/>
          </a:xfrm>
          <a:prstGeom prst="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Equals Money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D42EE75-4A4C-6182-CFE6-CF7699B83CA9}"/>
              </a:ext>
            </a:extLst>
          </p:cNvPr>
          <p:cNvSpPr/>
          <p:nvPr/>
        </p:nvSpPr>
        <p:spPr>
          <a:xfrm>
            <a:off x="8043003" y="2835417"/>
            <a:ext cx="715678" cy="478214"/>
          </a:xfrm>
          <a:prstGeom prst="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Convera</a:t>
            </a: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40F0490B-E52F-B803-9544-D24C95440C68}"/>
              </a:ext>
            </a:extLst>
          </p:cNvPr>
          <p:cNvSpPr/>
          <p:nvPr/>
        </p:nvSpPr>
        <p:spPr>
          <a:xfrm>
            <a:off x="7750749" y="1444125"/>
            <a:ext cx="347466" cy="167517"/>
          </a:xfrm>
          <a:prstGeom prst="rightArrow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BA03799E-DBCA-4C54-0001-6A94F5924D35}"/>
              </a:ext>
            </a:extLst>
          </p:cNvPr>
          <p:cNvSpPr/>
          <p:nvPr/>
        </p:nvSpPr>
        <p:spPr>
          <a:xfrm>
            <a:off x="7750749" y="3771311"/>
            <a:ext cx="347466" cy="167517"/>
          </a:xfrm>
          <a:prstGeom prst="rightArrow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43" name="Right Arrow 42">
            <a:extLst>
              <a:ext uri="{FF2B5EF4-FFF2-40B4-BE49-F238E27FC236}">
                <a16:creationId xmlns:a16="http://schemas.microsoft.com/office/drawing/2014/main" id="{EC8AA10B-B233-5643-C92D-E1ED7847EB95}"/>
              </a:ext>
            </a:extLst>
          </p:cNvPr>
          <p:cNvSpPr/>
          <p:nvPr/>
        </p:nvSpPr>
        <p:spPr>
          <a:xfrm>
            <a:off x="7750749" y="2218637"/>
            <a:ext cx="347466" cy="167517"/>
          </a:xfrm>
          <a:prstGeom prst="rightArrow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9454D2D-C82F-DF62-B245-F149AF1B51F7}"/>
              </a:ext>
            </a:extLst>
          </p:cNvPr>
          <p:cNvSpPr/>
          <p:nvPr/>
        </p:nvSpPr>
        <p:spPr>
          <a:xfrm>
            <a:off x="1468850" y="5065064"/>
            <a:ext cx="4798828" cy="877228"/>
          </a:xfrm>
          <a:prstGeom prst="roundRect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lvl="1" algn="just"/>
            <a:r>
              <a:rPr lang="en-GB" sz="1000" b="1" dirty="0">
                <a:solidFill>
                  <a:schemeClr val="bg1"/>
                </a:solidFill>
              </a:rPr>
              <a:t>Supporting Layer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ED3474-E2A1-1A4D-668C-0D5F73E2145E}"/>
              </a:ext>
            </a:extLst>
          </p:cNvPr>
          <p:cNvSpPr/>
          <p:nvPr/>
        </p:nvSpPr>
        <p:spPr>
          <a:xfrm>
            <a:off x="1670031" y="5193594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KYC Service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046910-1E5C-82F6-9F8C-487193AB448A}"/>
              </a:ext>
            </a:extLst>
          </p:cNvPr>
          <p:cNvSpPr/>
          <p:nvPr/>
        </p:nvSpPr>
        <p:spPr>
          <a:xfrm>
            <a:off x="4049143" y="5193594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Analytics Service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53877FB-5983-E692-E76E-7B3B1D9BA2BC}"/>
              </a:ext>
            </a:extLst>
          </p:cNvPr>
          <p:cNvSpPr/>
          <p:nvPr/>
        </p:nvSpPr>
        <p:spPr>
          <a:xfrm>
            <a:off x="2859587" y="5193594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Fraud Detection Service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585ADC6-538D-700D-4757-64BB96EEADC7}"/>
              </a:ext>
            </a:extLst>
          </p:cNvPr>
          <p:cNvSpPr/>
          <p:nvPr/>
        </p:nvSpPr>
        <p:spPr>
          <a:xfrm>
            <a:off x="5238698" y="5193594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Logging &amp; Monitoring Service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BCC3277-599A-2A35-5304-F6A30BAD42FE}"/>
              </a:ext>
            </a:extLst>
          </p:cNvPr>
          <p:cNvSpPr/>
          <p:nvPr/>
        </p:nvSpPr>
        <p:spPr>
          <a:xfrm>
            <a:off x="5238697" y="6137914"/>
            <a:ext cx="788115" cy="489657"/>
          </a:xfrm>
          <a:prstGeom prst="round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Operation Portal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900F9A8-FC0E-2C99-875E-7BBD2B9183D8}"/>
              </a:ext>
            </a:extLst>
          </p:cNvPr>
          <p:cNvCxnSpPr>
            <a:cxnSpLocks/>
            <a:stCxn id="41" idx="2"/>
            <a:endCxn id="8" idx="0"/>
          </p:cNvCxnSpPr>
          <p:nvPr/>
        </p:nvCxnSpPr>
        <p:spPr>
          <a:xfrm>
            <a:off x="5632755" y="5683548"/>
            <a:ext cx="0" cy="454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529B6049-F64F-0FFE-0B88-CD0619BEDA93}"/>
              </a:ext>
            </a:extLst>
          </p:cNvPr>
          <p:cNvSpPr/>
          <p:nvPr/>
        </p:nvSpPr>
        <p:spPr>
          <a:xfrm>
            <a:off x="4049143" y="6137914"/>
            <a:ext cx="788115" cy="489657"/>
          </a:xfrm>
          <a:prstGeom prst="round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Analytics Portal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2228392-742D-5F97-0FF7-B1E8BE9001C4}"/>
              </a:ext>
            </a:extLst>
          </p:cNvPr>
          <p:cNvCxnSpPr>
            <a:cxnSpLocks/>
            <a:stCxn id="19" idx="2"/>
            <a:endCxn id="54" idx="0"/>
          </p:cNvCxnSpPr>
          <p:nvPr/>
        </p:nvCxnSpPr>
        <p:spPr>
          <a:xfrm>
            <a:off x="4443200" y="5683548"/>
            <a:ext cx="1" cy="454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4FCDE23D-D343-0309-8A2B-F45AB189D515}"/>
              </a:ext>
            </a:extLst>
          </p:cNvPr>
          <p:cNvSpPr/>
          <p:nvPr/>
        </p:nvSpPr>
        <p:spPr>
          <a:xfrm rot="16200000">
            <a:off x="-905291" y="2471936"/>
            <a:ext cx="3503420" cy="1262508"/>
          </a:xfrm>
          <a:prstGeom prst="roundRect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lvl="1" algn="just"/>
            <a:r>
              <a:rPr lang="en-GB" sz="1000" b="1" dirty="0">
                <a:solidFill>
                  <a:schemeClr val="bg1"/>
                </a:solidFill>
              </a:rPr>
              <a:t>Front End Services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733113E-4247-724A-68D5-87A4BD4D9287}"/>
              </a:ext>
            </a:extLst>
          </p:cNvPr>
          <p:cNvSpPr/>
          <p:nvPr/>
        </p:nvSpPr>
        <p:spPr>
          <a:xfrm>
            <a:off x="465725" y="1842763"/>
            <a:ext cx="854791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User Service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211762E-E847-A4F5-3062-848504C56EF9}"/>
              </a:ext>
            </a:extLst>
          </p:cNvPr>
          <p:cNvSpPr/>
          <p:nvPr/>
        </p:nvSpPr>
        <p:spPr>
          <a:xfrm>
            <a:off x="465725" y="2471646"/>
            <a:ext cx="854791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Notification Service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B82E60EB-8A80-DB9D-2D0B-F3DA3A5AD8E7}"/>
              </a:ext>
            </a:extLst>
          </p:cNvPr>
          <p:cNvSpPr/>
          <p:nvPr/>
        </p:nvSpPr>
        <p:spPr>
          <a:xfrm>
            <a:off x="499063" y="6056289"/>
            <a:ext cx="788115" cy="489657"/>
          </a:xfrm>
          <a:prstGeom prst="round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User Portal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569F855-AB8A-858C-8190-381356CCAAAF}"/>
              </a:ext>
            </a:extLst>
          </p:cNvPr>
          <p:cNvCxnSpPr>
            <a:cxnSpLocks/>
            <a:stCxn id="63" idx="2"/>
            <a:endCxn id="64" idx="0"/>
          </p:cNvCxnSpPr>
          <p:nvPr/>
        </p:nvCxnSpPr>
        <p:spPr>
          <a:xfrm>
            <a:off x="893121" y="2961600"/>
            <a:ext cx="0" cy="3094689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A5FA9AD6-2A07-FD00-0CC1-848F803309C6}"/>
              </a:ext>
            </a:extLst>
          </p:cNvPr>
          <p:cNvSpPr/>
          <p:nvPr/>
        </p:nvSpPr>
        <p:spPr>
          <a:xfrm rot="16200000">
            <a:off x="4837568" y="2448638"/>
            <a:ext cx="3897259" cy="1335592"/>
          </a:xfrm>
          <a:prstGeom prst="roundRect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 anchorCtr="0"/>
          <a:lstStyle/>
          <a:p>
            <a:pPr lvl="1" algn="just"/>
            <a:r>
              <a:rPr lang="en-GB" sz="1000" b="1" dirty="0">
                <a:solidFill>
                  <a:schemeClr val="bg1"/>
                </a:solidFill>
              </a:rPr>
              <a:t>Middle Tier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A7890E4-EE8B-80E9-7AF4-4A74EDFE8767}"/>
              </a:ext>
            </a:extLst>
          </p:cNvPr>
          <p:cNvCxnSpPr>
            <a:cxnSpLocks/>
            <a:stCxn id="47" idx="4"/>
            <a:endCxn id="34" idx="0"/>
          </p:cNvCxnSpPr>
          <p:nvPr/>
        </p:nvCxnSpPr>
        <p:spPr>
          <a:xfrm rot="5400000">
            <a:off x="2593285" y="4105470"/>
            <a:ext cx="1748483" cy="427764"/>
          </a:xfrm>
          <a:prstGeom prst="curvedConnector3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EF84A64-20A2-F02C-088C-8B50771F22D2}"/>
              </a:ext>
            </a:extLst>
          </p:cNvPr>
          <p:cNvCxnSpPr>
            <a:cxnSpLocks/>
            <a:stCxn id="47" idx="4"/>
            <a:endCxn id="19" idx="0"/>
          </p:cNvCxnSpPr>
          <p:nvPr/>
        </p:nvCxnSpPr>
        <p:spPr>
          <a:xfrm rot="16200000" flipH="1">
            <a:off x="3188063" y="3938456"/>
            <a:ext cx="1748483" cy="761792"/>
          </a:xfrm>
          <a:prstGeom prst="curvedConnector3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61216044-76C3-5A23-4A73-26F66EEB8F62}"/>
              </a:ext>
            </a:extLst>
          </p:cNvPr>
          <p:cNvCxnSpPr>
            <a:cxnSpLocks/>
            <a:stCxn id="47" idx="4"/>
            <a:endCxn id="41" idx="0"/>
          </p:cNvCxnSpPr>
          <p:nvPr/>
        </p:nvCxnSpPr>
        <p:spPr>
          <a:xfrm rot="16200000" flipH="1">
            <a:off x="3782840" y="3343678"/>
            <a:ext cx="1748483" cy="1951347"/>
          </a:xfrm>
          <a:prstGeom prst="curvedConnector3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B3C995C-0C09-082F-9BE9-2C6B4825B94C}"/>
              </a:ext>
            </a:extLst>
          </p:cNvPr>
          <p:cNvCxnSpPr>
            <a:cxnSpLocks/>
            <a:stCxn id="47" idx="2"/>
            <a:endCxn id="63" idx="3"/>
          </p:cNvCxnSpPr>
          <p:nvPr/>
        </p:nvCxnSpPr>
        <p:spPr>
          <a:xfrm rot="10800000">
            <a:off x="1320517" y="2716624"/>
            <a:ext cx="1534641" cy="263333"/>
          </a:xfrm>
          <a:prstGeom prst="curvedConnector3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825238D1-5AB0-3354-FA44-750DF97F9431}"/>
              </a:ext>
            </a:extLst>
          </p:cNvPr>
          <p:cNvCxnSpPr>
            <a:cxnSpLocks/>
            <a:stCxn id="13" idx="1"/>
            <a:endCxn id="62" idx="0"/>
          </p:cNvCxnSpPr>
          <p:nvPr/>
        </p:nvCxnSpPr>
        <p:spPr>
          <a:xfrm rot="10800000" flipV="1">
            <a:off x="893122" y="1507151"/>
            <a:ext cx="957073" cy="335612"/>
          </a:xfrm>
          <a:prstGeom prst="curvedConnector2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8BCDD6C4-8CC5-4C62-2BCE-0133C1E072EC}"/>
              </a:ext>
            </a:extLst>
          </p:cNvPr>
          <p:cNvCxnSpPr>
            <a:cxnSpLocks/>
            <a:stCxn id="62" idx="2"/>
            <a:endCxn id="16" idx="0"/>
          </p:cNvCxnSpPr>
          <p:nvPr/>
        </p:nvCxnSpPr>
        <p:spPr>
          <a:xfrm rot="16200000" flipH="1">
            <a:off x="48166" y="3177671"/>
            <a:ext cx="2860877" cy="1170967"/>
          </a:xfrm>
          <a:prstGeom prst="curvedConnector3">
            <a:avLst>
              <a:gd name="adj1" fmla="val 50000"/>
            </a:avLst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E9F62540-3509-6B7D-A733-9E7996F10D42}"/>
              </a:ext>
            </a:extLst>
          </p:cNvPr>
          <p:cNvSpPr txBox="1"/>
          <p:nvPr/>
        </p:nvSpPr>
        <p:spPr>
          <a:xfrm>
            <a:off x="1499181" y="4196567"/>
            <a:ext cx="61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Verify Identity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F16F0CFF-3655-23CF-4AB5-F282FF151D97}"/>
              </a:ext>
            </a:extLst>
          </p:cNvPr>
          <p:cNvCxnSpPr>
            <a:cxnSpLocks/>
            <a:stCxn id="62" idx="3"/>
            <a:endCxn id="47" idx="1"/>
          </p:cNvCxnSpPr>
          <p:nvPr/>
        </p:nvCxnSpPr>
        <p:spPr>
          <a:xfrm>
            <a:off x="1320516" y="2087740"/>
            <a:ext cx="1776644" cy="563302"/>
          </a:xfrm>
          <a:prstGeom prst="curvedConnector2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53563F63-18C4-3A58-D371-3B5F90A77234}"/>
              </a:ext>
            </a:extLst>
          </p:cNvPr>
          <p:cNvSpPr txBox="1"/>
          <p:nvPr/>
        </p:nvSpPr>
        <p:spPr>
          <a:xfrm>
            <a:off x="2064088" y="2230814"/>
            <a:ext cx="61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User created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2F7FF27-43D8-477B-ED36-A0F1FE976245}"/>
              </a:ext>
            </a:extLst>
          </p:cNvPr>
          <p:cNvSpPr txBox="1"/>
          <p:nvPr/>
        </p:nvSpPr>
        <p:spPr>
          <a:xfrm>
            <a:off x="3459320" y="3416182"/>
            <a:ext cx="6183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Events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AC0677F9-1246-6E49-6FA7-98BFF65A0165}"/>
              </a:ext>
            </a:extLst>
          </p:cNvPr>
          <p:cNvSpPr/>
          <p:nvPr/>
        </p:nvSpPr>
        <p:spPr>
          <a:xfrm>
            <a:off x="6202930" y="1980969"/>
            <a:ext cx="986910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Transaction Processing Service</a:t>
            </a:r>
          </a:p>
        </p:txBody>
      </p:sp>
      <p:cxnSp>
        <p:nvCxnSpPr>
          <p:cNvPr id="150" name="Straight Arrow Connector 82">
            <a:extLst>
              <a:ext uri="{FF2B5EF4-FFF2-40B4-BE49-F238E27FC236}">
                <a16:creationId xmlns:a16="http://schemas.microsoft.com/office/drawing/2014/main" id="{B08D2A64-97E5-1531-DB15-1B2A4449290B}"/>
              </a:ext>
            </a:extLst>
          </p:cNvPr>
          <p:cNvCxnSpPr>
            <a:cxnSpLocks/>
            <a:stCxn id="13" idx="3"/>
            <a:endCxn id="143" idx="1"/>
          </p:cNvCxnSpPr>
          <p:nvPr/>
        </p:nvCxnSpPr>
        <p:spPr>
          <a:xfrm>
            <a:off x="5689902" y="1507151"/>
            <a:ext cx="513028" cy="718795"/>
          </a:xfrm>
          <a:prstGeom prst="curvedConnector3">
            <a:avLst>
              <a:gd name="adj1" fmla="val 50000"/>
            </a:avLst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82">
            <a:extLst>
              <a:ext uri="{FF2B5EF4-FFF2-40B4-BE49-F238E27FC236}">
                <a16:creationId xmlns:a16="http://schemas.microsoft.com/office/drawing/2014/main" id="{C8AE02AF-74CC-C2DA-0CB0-6B64F1249A62}"/>
              </a:ext>
            </a:extLst>
          </p:cNvPr>
          <p:cNvCxnSpPr>
            <a:cxnSpLocks/>
            <a:stCxn id="13" idx="3"/>
            <a:endCxn id="69" idx="1"/>
          </p:cNvCxnSpPr>
          <p:nvPr/>
        </p:nvCxnSpPr>
        <p:spPr>
          <a:xfrm>
            <a:off x="5689902" y="1507151"/>
            <a:ext cx="513028" cy="107051"/>
          </a:xfrm>
          <a:prstGeom prst="curvedConnector3">
            <a:avLst>
              <a:gd name="adj1" fmla="val 50000"/>
            </a:avLst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Rounded Rectangle 156">
            <a:extLst>
              <a:ext uri="{FF2B5EF4-FFF2-40B4-BE49-F238E27FC236}">
                <a16:creationId xmlns:a16="http://schemas.microsoft.com/office/drawing/2014/main" id="{D0BFC54D-C769-E2C0-2BEB-8F31593A30E2}"/>
              </a:ext>
            </a:extLst>
          </p:cNvPr>
          <p:cNvSpPr/>
          <p:nvPr/>
        </p:nvSpPr>
        <p:spPr>
          <a:xfrm>
            <a:off x="4039169" y="454637"/>
            <a:ext cx="1121422" cy="494831"/>
          </a:xfrm>
          <a:prstGeom prst="round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Service Provider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2DD9635A-3852-3FD9-98AA-508DC8BF5673}"/>
              </a:ext>
            </a:extLst>
          </p:cNvPr>
          <p:cNvSpPr txBox="1"/>
          <p:nvPr/>
        </p:nvSpPr>
        <p:spPr>
          <a:xfrm>
            <a:off x="1820897" y="2885940"/>
            <a:ext cx="6183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Events</a:t>
            </a:r>
          </a:p>
        </p:txBody>
      </p:sp>
      <p:cxnSp>
        <p:nvCxnSpPr>
          <p:cNvPr id="186" name="Straight Arrow Connector 82">
            <a:extLst>
              <a:ext uri="{FF2B5EF4-FFF2-40B4-BE49-F238E27FC236}">
                <a16:creationId xmlns:a16="http://schemas.microsoft.com/office/drawing/2014/main" id="{F366AD3A-AD1E-61BE-464B-42AED301497D}"/>
              </a:ext>
            </a:extLst>
          </p:cNvPr>
          <p:cNvCxnSpPr>
            <a:cxnSpLocks/>
            <a:stCxn id="68" idx="0"/>
            <a:endCxn id="47" idx="6"/>
          </p:cNvCxnSpPr>
          <p:nvPr/>
        </p:nvCxnSpPr>
        <p:spPr>
          <a:xfrm rot="10800000">
            <a:off x="4507660" y="2979956"/>
            <a:ext cx="1610743" cy="136478"/>
          </a:xfrm>
          <a:prstGeom prst="curvedConnector3">
            <a:avLst>
              <a:gd name="adj1" fmla="val 50000"/>
            </a:avLst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Rectangle 188">
            <a:extLst>
              <a:ext uri="{FF2B5EF4-FFF2-40B4-BE49-F238E27FC236}">
                <a16:creationId xmlns:a16="http://schemas.microsoft.com/office/drawing/2014/main" id="{70E264D9-FB95-29C4-19B7-2F26612B6C98}"/>
              </a:ext>
            </a:extLst>
          </p:cNvPr>
          <p:cNvSpPr/>
          <p:nvPr/>
        </p:nvSpPr>
        <p:spPr>
          <a:xfrm>
            <a:off x="6202930" y="3816201"/>
            <a:ext cx="986910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Ledger Service</a:t>
            </a:r>
          </a:p>
        </p:txBody>
      </p:sp>
      <p:cxnSp>
        <p:nvCxnSpPr>
          <p:cNvPr id="190" name="Straight Arrow Connector 75">
            <a:extLst>
              <a:ext uri="{FF2B5EF4-FFF2-40B4-BE49-F238E27FC236}">
                <a16:creationId xmlns:a16="http://schemas.microsoft.com/office/drawing/2014/main" id="{65D5F7AE-5E53-C20D-B97D-A21B63D2F663}"/>
              </a:ext>
            </a:extLst>
          </p:cNvPr>
          <p:cNvCxnSpPr>
            <a:cxnSpLocks/>
            <a:stCxn id="47" idx="5"/>
            <a:endCxn id="189" idx="1"/>
          </p:cNvCxnSpPr>
          <p:nvPr/>
        </p:nvCxnSpPr>
        <p:spPr>
          <a:xfrm rot="16200000" flipH="1">
            <a:off x="4858139" y="2716387"/>
            <a:ext cx="752308" cy="1937274"/>
          </a:xfrm>
          <a:prstGeom prst="curvedConnector2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82">
            <a:extLst>
              <a:ext uri="{FF2B5EF4-FFF2-40B4-BE49-F238E27FC236}">
                <a16:creationId xmlns:a16="http://schemas.microsoft.com/office/drawing/2014/main" id="{78BD3958-725E-EB5B-6896-4F0020AAD1E8}"/>
              </a:ext>
            </a:extLst>
          </p:cNvPr>
          <p:cNvCxnSpPr>
            <a:cxnSpLocks/>
            <a:stCxn id="143" idx="2"/>
            <a:endCxn id="47" idx="7"/>
          </p:cNvCxnSpPr>
          <p:nvPr/>
        </p:nvCxnSpPr>
        <p:spPr>
          <a:xfrm rot="5400000">
            <a:off x="5390962" y="1345618"/>
            <a:ext cx="180119" cy="2430729"/>
          </a:xfrm>
          <a:prstGeom prst="curvedConnector3">
            <a:avLst>
              <a:gd name="adj1" fmla="val 50000"/>
            </a:avLst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TextBox 195">
            <a:extLst>
              <a:ext uri="{FF2B5EF4-FFF2-40B4-BE49-F238E27FC236}">
                <a16:creationId xmlns:a16="http://schemas.microsoft.com/office/drawing/2014/main" id="{ED726937-A360-5795-E4ED-C9E6A46A8F1E}"/>
              </a:ext>
            </a:extLst>
          </p:cNvPr>
          <p:cNvSpPr txBox="1"/>
          <p:nvPr/>
        </p:nvSpPr>
        <p:spPr>
          <a:xfrm>
            <a:off x="4651702" y="2304702"/>
            <a:ext cx="10369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Transaction event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EE57F5C7-5EDE-8C43-3ED8-3DF6801D2A61}"/>
              </a:ext>
            </a:extLst>
          </p:cNvPr>
          <p:cNvSpPr txBox="1"/>
          <p:nvPr/>
        </p:nvSpPr>
        <p:spPr>
          <a:xfrm>
            <a:off x="4650712" y="2743938"/>
            <a:ext cx="92121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Funding events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5C4DE1-F85C-7389-04F1-506178D76BEF}"/>
              </a:ext>
            </a:extLst>
          </p:cNvPr>
          <p:cNvSpPr/>
          <p:nvPr/>
        </p:nvSpPr>
        <p:spPr>
          <a:xfrm>
            <a:off x="6202930" y="3204457"/>
            <a:ext cx="986910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FX Service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980C2B-62B7-0D31-4C9F-DE0BC1CCDB9B}"/>
              </a:ext>
            </a:extLst>
          </p:cNvPr>
          <p:cNvSpPr/>
          <p:nvPr/>
        </p:nvSpPr>
        <p:spPr>
          <a:xfrm>
            <a:off x="8043003" y="4381233"/>
            <a:ext cx="715678" cy="478214"/>
          </a:xfrm>
          <a:prstGeom prst="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Card Processor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0863D80-86A4-498C-3CA7-EF0870CBBD8F}"/>
              </a:ext>
            </a:extLst>
          </p:cNvPr>
          <p:cNvSpPr/>
          <p:nvPr/>
        </p:nvSpPr>
        <p:spPr>
          <a:xfrm>
            <a:off x="8892591" y="4900612"/>
            <a:ext cx="1270076" cy="434224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Cards Network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7FE34CDD-09AC-30F8-6B18-DAE122FBDEE3}"/>
              </a:ext>
            </a:extLst>
          </p:cNvPr>
          <p:cNvSpPr/>
          <p:nvPr/>
        </p:nvSpPr>
        <p:spPr>
          <a:xfrm>
            <a:off x="7750749" y="4507380"/>
            <a:ext cx="347466" cy="167517"/>
          </a:xfrm>
          <a:prstGeom prst="rightArrow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10" name="Can 9">
            <a:extLst>
              <a:ext uri="{FF2B5EF4-FFF2-40B4-BE49-F238E27FC236}">
                <a16:creationId xmlns:a16="http://schemas.microsoft.com/office/drawing/2014/main" id="{2DE3568C-B136-5D5F-0809-E63FDE89F3E3}"/>
              </a:ext>
            </a:extLst>
          </p:cNvPr>
          <p:cNvSpPr/>
          <p:nvPr/>
        </p:nvSpPr>
        <p:spPr>
          <a:xfrm>
            <a:off x="2286177" y="3704368"/>
            <a:ext cx="914400" cy="943887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Payment Database</a:t>
            </a:r>
          </a:p>
        </p:txBody>
      </p:sp>
      <p:cxnSp>
        <p:nvCxnSpPr>
          <p:cNvPr id="11" name="Straight Arrow Connector 95">
            <a:extLst>
              <a:ext uri="{FF2B5EF4-FFF2-40B4-BE49-F238E27FC236}">
                <a16:creationId xmlns:a16="http://schemas.microsoft.com/office/drawing/2014/main" id="{1F93F9C5-B2D8-6602-2737-E43176797559}"/>
              </a:ext>
            </a:extLst>
          </p:cNvPr>
          <p:cNvCxnSpPr>
            <a:cxnSpLocks/>
            <a:stCxn id="10" idx="1"/>
            <a:endCxn id="47" idx="3"/>
          </p:cNvCxnSpPr>
          <p:nvPr/>
        </p:nvCxnSpPr>
        <p:spPr>
          <a:xfrm rot="5400000" flipH="1" flipV="1">
            <a:off x="2722519" y="3329728"/>
            <a:ext cx="395498" cy="353783"/>
          </a:xfrm>
          <a:prstGeom prst="curvedConnector3">
            <a:avLst>
              <a:gd name="adj1" fmla="val 50000"/>
            </a:avLst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11E4159-B78B-EB90-893F-117341FE3CE3}"/>
              </a:ext>
            </a:extLst>
          </p:cNvPr>
          <p:cNvSpPr txBox="1"/>
          <p:nvPr/>
        </p:nvSpPr>
        <p:spPr>
          <a:xfrm>
            <a:off x="2189155" y="3317160"/>
            <a:ext cx="61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DB Events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56AF9E2-A48C-B3B5-9F68-DB5161EDD1F3}"/>
              </a:ext>
            </a:extLst>
          </p:cNvPr>
          <p:cNvSpPr/>
          <p:nvPr/>
        </p:nvSpPr>
        <p:spPr>
          <a:xfrm>
            <a:off x="1850194" y="1167804"/>
            <a:ext cx="3839708" cy="678693"/>
          </a:xfrm>
          <a:prstGeom prst="roundRect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lvl="1" algn="just"/>
            <a:r>
              <a:rPr lang="en-GB" sz="1000" b="1" dirty="0">
                <a:solidFill>
                  <a:schemeClr val="bg1"/>
                </a:solidFill>
              </a:rPr>
              <a:t>API Gateway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28671E-5629-C26F-258D-AED9F49A7517}"/>
              </a:ext>
            </a:extLst>
          </p:cNvPr>
          <p:cNvSpPr/>
          <p:nvPr/>
        </p:nvSpPr>
        <p:spPr>
          <a:xfrm>
            <a:off x="2101483" y="1303109"/>
            <a:ext cx="1579618" cy="28161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GraphQL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8E834BA-3697-DD52-0853-5FB69D777701}"/>
              </a:ext>
            </a:extLst>
          </p:cNvPr>
          <p:cNvSpPr/>
          <p:nvPr/>
        </p:nvSpPr>
        <p:spPr>
          <a:xfrm>
            <a:off x="3810071" y="1303109"/>
            <a:ext cx="1579618" cy="28161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REST</a:t>
            </a:r>
          </a:p>
        </p:txBody>
      </p: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3441DA4A-3CDA-013C-4B47-90C91884AFED}"/>
              </a:ext>
            </a:extLst>
          </p:cNvPr>
          <p:cNvCxnSpPr>
            <a:cxnSpLocks/>
            <a:stCxn id="30" idx="2"/>
            <a:endCxn id="20" idx="0"/>
          </p:cNvCxnSpPr>
          <p:nvPr/>
        </p:nvCxnSpPr>
        <p:spPr>
          <a:xfrm>
            <a:off x="2891292" y="932012"/>
            <a:ext cx="0" cy="371097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4C9BF635-E9F4-3BDE-403D-ABE08917D193}"/>
              </a:ext>
            </a:extLst>
          </p:cNvPr>
          <p:cNvCxnSpPr>
            <a:cxnSpLocks/>
            <a:stCxn id="157" idx="2"/>
            <a:endCxn id="21" idx="0"/>
          </p:cNvCxnSpPr>
          <p:nvPr/>
        </p:nvCxnSpPr>
        <p:spPr>
          <a:xfrm>
            <a:off x="4599880" y="949468"/>
            <a:ext cx="0" cy="353641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5DC38C86-66F6-71FB-09D0-28D2548FF9E2}"/>
              </a:ext>
            </a:extLst>
          </p:cNvPr>
          <p:cNvSpPr txBox="1"/>
          <p:nvPr/>
        </p:nvSpPr>
        <p:spPr>
          <a:xfrm>
            <a:off x="253518" y="5503678"/>
            <a:ext cx="6183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Events</a:t>
            </a:r>
          </a:p>
        </p:txBody>
      </p:sp>
      <p:sp>
        <p:nvSpPr>
          <p:cNvPr id="57" name="Right Arrow 56">
            <a:extLst>
              <a:ext uri="{FF2B5EF4-FFF2-40B4-BE49-F238E27FC236}">
                <a16:creationId xmlns:a16="http://schemas.microsoft.com/office/drawing/2014/main" id="{7549B209-4201-2D14-1CD0-A69D9277ABA9}"/>
              </a:ext>
            </a:extLst>
          </p:cNvPr>
          <p:cNvSpPr/>
          <p:nvPr/>
        </p:nvSpPr>
        <p:spPr>
          <a:xfrm>
            <a:off x="7750749" y="3018211"/>
            <a:ext cx="347466" cy="167517"/>
          </a:xfrm>
          <a:prstGeom prst="rightArrow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41682B9-A34B-151A-384B-5B1DCF9DA467}"/>
              </a:ext>
            </a:extLst>
          </p:cNvPr>
          <p:cNvSpPr/>
          <p:nvPr/>
        </p:nvSpPr>
        <p:spPr>
          <a:xfrm>
            <a:off x="6202930" y="2592713"/>
            <a:ext cx="986910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Card Service</a:t>
            </a:r>
          </a:p>
        </p:txBody>
      </p:sp>
      <p:cxnSp>
        <p:nvCxnSpPr>
          <p:cNvPr id="59" name="Straight Arrow Connector 82">
            <a:extLst>
              <a:ext uri="{FF2B5EF4-FFF2-40B4-BE49-F238E27FC236}">
                <a16:creationId xmlns:a16="http://schemas.microsoft.com/office/drawing/2014/main" id="{50185DB7-D091-E02E-699E-5ACF8FAC6FA9}"/>
              </a:ext>
            </a:extLst>
          </p:cNvPr>
          <p:cNvCxnSpPr>
            <a:cxnSpLocks/>
            <a:stCxn id="58" idx="1"/>
            <a:endCxn id="47" idx="5"/>
          </p:cNvCxnSpPr>
          <p:nvPr/>
        </p:nvCxnSpPr>
        <p:spPr>
          <a:xfrm rot="10800000" flipV="1">
            <a:off x="4265656" y="2837690"/>
            <a:ext cx="1937274" cy="471180"/>
          </a:xfrm>
          <a:prstGeom prst="curvedConnector4">
            <a:avLst>
              <a:gd name="adj1" fmla="val 43754"/>
              <a:gd name="adj2" fmla="val 177431"/>
            </a:avLst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7F5340F2-4D8C-1918-AB26-90647E216CB3}"/>
              </a:ext>
            </a:extLst>
          </p:cNvPr>
          <p:cNvSpPr txBox="1"/>
          <p:nvPr/>
        </p:nvSpPr>
        <p:spPr>
          <a:xfrm>
            <a:off x="4515836" y="3239118"/>
            <a:ext cx="921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Authorisation events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DD37D2A-C5FA-89FF-882F-A86CD928B5ED}"/>
              </a:ext>
            </a:extLst>
          </p:cNvPr>
          <p:cNvSpPr/>
          <p:nvPr/>
        </p:nvSpPr>
        <p:spPr>
          <a:xfrm>
            <a:off x="6202930" y="1369225"/>
            <a:ext cx="986910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Account Management Service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63FE5F8-D40B-C30C-6E2F-8BB0419CBF23}"/>
              </a:ext>
            </a:extLst>
          </p:cNvPr>
          <p:cNvSpPr/>
          <p:nvPr/>
        </p:nvSpPr>
        <p:spPr>
          <a:xfrm>
            <a:off x="6202930" y="4427944"/>
            <a:ext cx="986910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Authentication Service</a:t>
            </a:r>
          </a:p>
        </p:txBody>
      </p:sp>
    </p:spTree>
    <p:extLst>
      <p:ext uri="{BB962C8B-B14F-4D97-AF65-F5344CB8AC3E}">
        <p14:creationId xmlns:p14="http://schemas.microsoft.com/office/powerpoint/2010/main" val="1548810002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VTI">
  <a:themeElements>
    <a:clrScheme name="AnalogousFromRegularSeedRightStep">
      <a:dk1>
        <a:srgbClr val="000000"/>
      </a:dk1>
      <a:lt1>
        <a:srgbClr val="FFFFFF"/>
      </a:lt1>
      <a:dk2>
        <a:srgbClr val="1B2430"/>
      </a:dk2>
      <a:lt2>
        <a:srgbClr val="F3F0F0"/>
      </a:lt2>
      <a:accent1>
        <a:srgbClr val="45AFB0"/>
      </a:accent1>
      <a:accent2>
        <a:srgbClr val="3B7EB1"/>
      </a:accent2>
      <a:accent3>
        <a:srgbClr val="4D5FC3"/>
      </a:accent3>
      <a:accent4>
        <a:srgbClr val="5C3DB2"/>
      </a:accent4>
      <a:accent5>
        <a:srgbClr val="9D4DC3"/>
      </a:accent5>
      <a:accent6>
        <a:srgbClr val="B13BA6"/>
      </a:accent6>
      <a:hlink>
        <a:srgbClr val="BF413F"/>
      </a:hlink>
      <a:folHlink>
        <a:srgbClr val="7F7F7F"/>
      </a:folHlink>
    </a:clrScheme>
    <a:fontScheme name="Tropic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opicVTI" id="{DE8751F2-0439-4D1D-A674-AFC241C9701D}" vid="{C41D9140-98E0-4A26-97C4-97FDCB8D6E0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416072</TotalTime>
  <Words>394</Words>
  <Application>Microsoft Macintosh PowerPoint</Application>
  <PresentationFormat>Widescreen</PresentationFormat>
  <Paragraphs>115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Gill Sans Nova</vt:lpstr>
      <vt:lpstr>TropicVTI</vt:lpstr>
      <vt:lpstr>FX Payout 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Payment Event Processing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payment process</dc:title>
  <dc:creator>Hamid Lahooti</dc:creator>
  <cp:lastModifiedBy>no-reply</cp:lastModifiedBy>
  <cp:revision>742</cp:revision>
  <cp:lastPrinted>2022-04-28T06:37:59Z</cp:lastPrinted>
  <dcterms:created xsi:type="dcterms:W3CDTF">2022-04-22T06:49:27Z</dcterms:created>
  <dcterms:modified xsi:type="dcterms:W3CDTF">2026-02-04T13:45:51Z</dcterms:modified>
</cp:coreProperties>
</file>