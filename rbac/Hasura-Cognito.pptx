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78" r:id="rId2"/>
    <p:sldId id="379" r:id="rId3"/>
    <p:sldId id="377" r:id="rId4"/>
    <p:sldId id="376" r:id="rId5"/>
    <p:sldId id="380" r:id="rId6"/>
    <p:sldId id="385" r:id="rId7"/>
    <p:sldId id="381" r:id="rId8"/>
    <p:sldId id="386" r:id="rId9"/>
    <p:sldId id="382" r:id="rId10"/>
    <p:sldId id="383" r:id="rId11"/>
    <p:sldId id="3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23"/>
    <p:restoredTop sz="94715"/>
  </p:normalViewPr>
  <p:slideViewPr>
    <p:cSldViewPr snapToGrid="0">
      <p:cViewPr varScale="1">
        <p:scale>
          <a:sx n="136" d="100"/>
          <a:sy n="136" d="100"/>
        </p:scale>
        <p:origin x="224" y="1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9EDFA-B63A-D048-AB2D-072646E077F9}" type="datetimeFigureOut">
              <a:rPr lang="en-GB" smtClean="0"/>
              <a:t>19/02/2026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026140-28C9-F344-A84F-BFD4CD4BF735}" type="slidenum">
              <a:rPr lang="en-GB" smtClean="0"/>
              <a:t>‹#›</a:t>
            </a:fld>
            <a:endParaRPr lang="en-GB"/>
          </a:p>
        </p:txBody>
      </p:sp>
    </p:spTree>
    <p:extLst>
      <p:ext uri="{BB962C8B-B14F-4D97-AF65-F5344CB8AC3E}">
        <p14:creationId xmlns:p14="http://schemas.microsoft.com/office/powerpoint/2010/main" val="2990073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35D9D-C8D6-AC40-BF4E-C6E4A89F1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512C8-9768-79D9-314C-B5BF195BD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04C62-72B6-96F5-9922-D36A273F93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3417603-CCDC-A5C4-507A-5D91E3C12F53}"/>
              </a:ext>
            </a:extLst>
          </p:cNvPr>
          <p:cNvSpPr>
            <a:spLocks noGrp="1"/>
          </p:cNvSpPr>
          <p:nvPr>
            <p:ph type="sldNum" sz="quarter" idx="5"/>
          </p:nvPr>
        </p:nvSpPr>
        <p:spPr/>
        <p:txBody>
          <a:bodyPr/>
          <a:lstStyle/>
          <a:p>
            <a:fld id="{1EE4701D-FC48-104F-98C6-7719D862D992}" type="slidenum">
              <a:rPr lang="en-US" smtClean="0"/>
              <a:t>1</a:t>
            </a:fld>
            <a:endParaRPr lang="en-US"/>
          </a:p>
        </p:txBody>
      </p:sp>
    </p:spTree>
    <p:extLst>
      <p:ext uri="{BB962C8B-B14F-4D97-AF65-F5344CB8AC3E}">
        <p14:creationId xmlns:p14="http://schemas.microsoft.com/office/powerpoint/2010/main" val="678489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3226-066E-1321-7A2E-CEA07E44287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55386D0-3BB7-74F2-090A-7615B00A99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800548A6-F4C5-3473-1225-6D50B55DBD5E}"/>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71775F06-670D-DAEF-5114-CCA034BD4B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41358A-ECFF-0D3B-CC76-B52D0F1DB949}"/>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139606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230B-1CD1-7F3B-04DF-7834B61831B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FF1DE88-07E9-6A21-4DB1-37D7591F510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E59DD44-6366-BD19-E5D4-8925EB18D5D4}"/>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39F3975E-C791-E513-C710-3D1C9CD3AA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97818D-465F-CC1C-4BA6-C45A9FD288A4}"/>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3902121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A50CD-2DBD-D93B-F714-64880F7E22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02DB993-0686-1D92-81F1-2747F980C2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CE5C20E-F422-C280-161B-E8FB89EC1E96}"/>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305268FB-84DD-6E69-ACA6-96AEB12B51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573EFC-0EDF-B355-F480-AB52E4A6CE23}"/>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2258257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AA3AB-BFEA-B049-76B4-01752CFA5AF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72CF9F-A267-E127-A895-1A784B437C2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8C61B7D8-3EF9-ED63-4202-A0567114404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3422626-A9C7-93DE-359F-BBC5A28E4AC9}"/>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6" name="Footer Placeholder 5">
            <a:extLst>
              <a:ext uri="{FF2B5EF4-FFF2-40B4-BE49-F238E27FC236}">
                <a16:creationId xmlns:a16="http://schemas.microsoft.com/office/drawing/2014/main" id="{B173B9C1-F627-9B20-5A53-ABBAB023D9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552B68-1E10-F30D-4EC0-840E78CB9B60}"/>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1087038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787F7-3BF5-9F99-DE79-FB12697FDA3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FFE2EB1-447E-5FE1-2FDB-495F6EDB30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2BAA0C-9388-2FCB-FE2E-FE3FBC09BD4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9514A4B-CA5B-D833-A1C1-0F4E7F47D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3A8BD95-EDF3-75C8-4AB1-736B9B60CC9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7439D6F-A960-B40B-5403-1805DEE1ECE6}"/>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8" name="Footer Placeholder 7">
            <a:extLst>
              <a:ext uri="{FF2B5EF4-FFF2-40B4-BE49-F238E27FC236}">
                <a16:creationId xmlns:a16="http://schemas.microsoft.com/office/drawing/2014/main" id="{73A2F0B8-0F91-083D-AF98-9678E13160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95F1F86-204D-0FE0-B242-CEA14BB3F675}"/>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115194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C3F4-E407-CF6E-D084-13B00F6428D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6EF896D-D0CD-06DB-54D1-E5B498D3E4E6}"/>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4" name="Footer Placeholder 3">
            <a:extLst>
              <a:ext uri="{FF2B5EF4-FFF2-40B4-BE49-F238E27FC236}">
                <a16:creationId xmlns:a16="http://schemas.microsoft.com/office/drawing/2014/main" id="{E44B6979-1FFF-A972-B365-80F2463E3DD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74F64A7-C6A2-CF6B-E8EA-051EBF772919}"/>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31272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F1A3A-E155-57BD-A177-8E2068520FE8}"/>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3" name="Footer Placeholder 2">
            <a:extLst>
              <a:ext uri="{FF2B5EF4-FFF2-40B4-BE49-F238E27FC236}">
                <a16:creationId xmlns:a16="http://schemas.microsoft.com/office/drawing/2014/main" id="{68595992-1CE6-2B66-A1CA-5AE2EB1A5CB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71302BA-995D-5C4B-D9B7-3655579EC72F}"/>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3687827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58FD-A40A-3D5A-D091-E26AAA2313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0859CBE2-6AB5-6276-5716-B0832A4E2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38C5240-C792-E525-13A8-FBAB2A77DB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114F56-6AAA-39C3-BA2A-52857C0CA539}"/>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6" name="Footer Placeholder 5">
            <a:extLst>
              <a:ext uri="{FF2B5EF4-FFF2-40B4-BE49-F238E27FC236}">
                <a16:creationId xmlns:a16="http://schemas.microsoft.com/office/drawing/2014/main" id="{289C1E20-CCE4-12EA-E618-8A285319A9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74F515B-B9F7-38D1-3D5A-640462F082DB}"/>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147216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BC1B-7E68-ABBD-FAB7-EE3353243B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77CE051-21EF-A5D8-4751-846609F153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A09B809-EF3E-9DDE-F710-FC98D5B71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62838D4-0CB7-F529-C9CA-7BBD96A77742}"/>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6" name="Footer Placeholder 5">
            <a:extLst>
              <a:ext uri="{FF2B5EF4-FFF2-40B4-BE49-F238E27FC236}">
                <a16:creationId xmlns:a16="http://schemas.microsoft.com/office/drawing/2014/main" id="{D18F48E5-B005-7C27-79AF-24D451FDEB1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215653A-E173-160D-EAB9-7D4D6FC81A40}"/>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1613601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FD88-8556-87B3-5D64-90D526DF13AC}"/>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01D5E7E-CAE4-2712-6042-CC6A3CE6E15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407966A-2E41-1D04-7612-49CE49FB27B5}"/>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06292686-3EEA-EDF8-CD9D-9B58D4CBEA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51CC6E-9FAA-7045-06D8-08F27A542B2A}"/>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3913501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554B86-0924-70B9-03C9-A1F2266604B7}"/>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E7490F5-CF0B-2543-D7AE-B3C62FB0911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54FFE52-06C6-EEA1-139E-4B981289ECA2}"/>
              </a:ext>
            </a:extLst>
          </p:cNvPr>
          <p:cNvSpPr>
            <a:spLocks noGrp="1"/>
          </p:cNvSpPr>
          <p:nvPr>
            <p:ph type="dt" sz="half" idx="10"/>
          </p:nvPr>
        </p:nvSpPr>
        <p:spPr/>
        <p:txBody>
          <a:body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46569C57-5569-AFE7-03FE-EBFCC866E4D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22B42F-831B-543A-77DA-2DF4F14B3FA6}"/>
              </a:ext>
            </a:extLst>
          </p:cNvPr>
          <p:cNvSpPr>
            <a:spLocks noGrp="1"/>
          </p:cNvSpPr>
          <p:nvPr>
            <p:ph type="sldNum" sz="quarter" idx="12"/>
          </p:nvPr>
        </p:nvSpPr>
        <p:spPr/>
        <p:txBody>
          <a:bodyPr/>
          <a:lstStyle/>
          <a:p>
            <a:fld id="{2A78D3F6-4B98-BB44-8CFB-147089F0379C}" type="slidenum">
              <a:rPr lang="en-GB" smtClean="0"/>
              <a:t>‹#›</a:t>
            </a:fld>
            <a:endParaRPr lang="en-GB"/>
          </a:p>
        </p:txBody>
      </p:sp>
    </p:spTree>
    <p:extLst>
      <p:ext uri="{BB962C8B-B14F-4D97-AF65-F5344CB8AC3E}">
        <p14:creationId xmlns:p14="http://schemas.microsoft.com/office/powerpoint/2010/main" val="241875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40CBF0-A813-FDA2-97F3-2F1578779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DEF49B0-5EBF-7DCD-5E9D-509EB3C9F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A0A94D1-9A26-AAC3-44A3-0795C47B71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E42BBD-3CE8-8E43-99E9-B5DC15DBF86E}" type="datetimeFigureOut">
              <a:rPr lang="en-GB" smtClean="0"/>
              <a:t>19/02/2026</a:t>
            </a:fld>
            <a:endParaRPr lang="en-GB"/>
          </a:p>
        </p:txBody>
      </p:sp>
      <p:sp>
        <p:nvSpPr>
          <p:cNvPr id="5" name="Footer Placeholder 4">
            <a:extLst>
              <a:ext uri="{FF2B5EF4-FFF2-40B4-BE49-F238E27FC236}">
                <a16:creationId xmlns:a16="http://schemas.microsoft.com/office/drawing/2014/main" id="{5B191EB6-1513-2EE6-EF5B-1005F83CC5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C0898D4-DB5E-EAD5-9BAA-D89C5389FA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78D3F6-4B98-BB44-8CFB-147089F0379C}" type="slidenum">
              <a:rPr lang="en-GB" smtClean="0"/>
              <a:t>‹#›</a:t>
            </a:fld>
            <a:endParaRPr lang="en-GB"/>
          </a:p>
        </p:txBody>
      </p:sp>
    </p:spTree>
    <p:extLst>
      <p:ext uri="{BB962C8B-B14F-4D97-AF65-F5344CB8AC3E}">
        <p14:creationId xmlns:p14="http://schemas.microsoft.com/office/powerpoint/2010/main" val="3286878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aws.amazon.com/cognito/latest/developerguide/user-pool-lambda-pre-sign-up.html#aws-lambda-triggers-pre-registration-example-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docs.aws.amazon.com/cognito/latest/developerguide/user-pool-lambda-custom-message.html" TargetMode="External"/><Relationship Id="rId3" Type="http://schemas.openxmlformats.org/officeDocument/2006/relationships/hyperlink" Target="https://docs.aws.amazon.com/cognito/latest/developerguide/user-pool-lambda-post-authentication.html" TargetMode="External"/><Relationship Id="rId7" Type="http://schemas.openxmlformats.org/officeDocument/2006/relationships/hyperlink" Target="https://docs.aws.amazon.com/cognito/latest/developerguide/user-pool-lambda-migrate-user.html" TargetMode="External"/><Relationship Id="rId2" Type="http://schemas.openxmlformats.org/officeDocument/2006/relationships/hyperlink" Target="https://docs.aws.amazon.com/cognito/latest/developerguide/user-pool-lambda-pre-authentication.html" TargetMode="External"/><Relationship Id="rId1" Type="http://schemas.openxmlformats.org/officeDocument/2006/relationships/slideLayout" Target="../slideLayouts/slideLayout2.xml"/><Relationship Id="rId6" Type="http://schemas.openxmlformats.org/officeDocument/2006/relationships/hyperlink" Target="https://docs.aws.amazon.com/cognito/latest/developerguide/user-pool-lambda-post-confirmation.html" TargetMode="External"/><Relationship Id="rId5" Type="http://schemas.openxmlformats.org/officeDocument/2006/relationships/hyperlink" Target="https://docs.aws.amazon.com/cognito/latest/developerguide/user-pool-lambda-pre-sign-up.html" TargetMode="External"/><Relationship Id="rId4" Type="http://schemas.openxmlformats.org/officeDocument/2006/relationships/hyperlink" Target="https://docs.aws.amazon.com/cognito/latest/developerguide/user-pool-lambda-pre-token-generation.html" TargetMode="External"/><Relationship Id="rId9" Type="http://schemas.openxmlformats.org/officeDocument/2006/relationships/hyperlink" Target="https://docs.aws.amazon.com/cognito/latest/developerguide/user-pool-lambda-custom-sender-trigger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04D80-ED49-9908-AF45-2F5519463F2E}"/>
            </a:ext>
          </a:extLst>
        </p:cNvPr>
        <p:cNvGrpSpPr/>
        <p:nvPr/>
      </p:nvGrpSpPr>
      <p:grpSpPr>
        <a:xfrm>
          <a:off x="0" y="0"/>
          <a:ext cx="0" cy="0"/>
          <a:chOff x="0" y="0"/>
          <a:chExt cx="0" cy="0"/>
        </a:xfrm>
      </p:grpSpPr>
      <p:sp>
        <p:nvSpPr>
          <p:cNvPr id="30" name="Rounded Rectangle 29">
            <a:extLst>
              <a:ext uri="{FF2B5EF4-FFF2-40B4-BE49-F238E27FC236}">
                <a16:creationId xmlns:a16="http://schemas.microsoft.com/office/drawing/2014/main" id="{3F25BFCF-ACAC-D3A8-8C19-027E53F8A8F9}"/>
              </a:ext>
            </a:extLst>
          </p:cNvPr>
          <p:cNvSpPr/>
          <p:nvPr/>
        </p:nvSpPr>
        <p:spPr>
          <a:xfrm>
            <a:off x="1833711" y="924133"/>
            <a:ext cx="1121422" cy="494831"/>
          </a:xfrm>
          <a:prstGeom prst="roundRect">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rPr>
              <a:t>Front-end</a:t>
            </a:r>
          </a:p>
        </p:txBody>
      </p:sp>
      <p:sp>
        <p:nvSpPr>
          <p:cNvPr id="47" name="Oval 46">
            <a:extLst>
              <a:ext uri="{FF2B5EF4-FFF2-40B4-BE49-F238E27FC236}">
                <a16:creationId xmlns:a16="http://schemas.microsoft.com/office/drawing/2014/main" id="{D53A8F32-5DFA-647D-3AE5-8AB0A5A2DDC9}"/>
              </a:ext>
            </a:extLst>
          </p:cNvPr>
          <p:cNvSpPr/>
          <p:nvPr/>
        </p:nvSpPr>
        <p:spPr>
          <a:xfrm>
            <a:off x="5294115" y="2354378"/>
            <a:ext cx="1652502" cy="930310"/>
          </a:xfrm>
          <a:prstGeom prst="ellipse">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rPr>
              <a:t>Elevate Auth Server</a:t>
            </a:r>
          </a:p>
        </p:txBody>
      </p:sp>
      <p:sp>
        <p:nvSpPr>
          <p:cNvPr id="2" name="Title 1">
            <a:extLst>
              <a:ext uri="{FF2B5EF4-FFF2-40B4-BE49-F238E27FC236}">
                <a16:creationId xmlns:a16="http://schemas.microsoft.com/office/drawing/2014/main" id="{5FBE9DED-4ADA-46B3-5C51-4829EF1A14E2}"/>
              </a:ext>
            </a:extLst>
          </p:cNvPr>
          <p:cNvSpPr>
            <a:spLocks noGrp="1"/>
          </p:cNvSpPr>
          <p:nvPr>
            <p:ph type="title"/>
          </p:nvPr>
        </p:nvSpPr>
        <p:spPr>
          <a:xfrm>
            <a:off x="215164" y="256130"/>
            <a:ext cx="4953601" cy="385321"/>
          </a:xfrm>
        </p:spPr>
        <p:txBody>
          <a:bodyPr>
            <a:normAutofit fontScale="90000"/>
          </a:bodyPr>
          <a:lstStyle/>
          <a:p>
            <a:r>
              <a:rPr lang="en-GB" sz="2400" dirty="0"/>
              <a:t>Cognito-based User Authentication flow</a:t>
            </a:r>
          </a:p>
        </p:txBody>
      </p:sp>
      <p:cxnSp>
        <p:nvCxnSpPr>
          <p:cNvPr id="79" name="Straight Arrow Connector 78">
            <a:extLst>
              <a:ext uri="{FF2B5EF4-FFF2-40B4-BE49-F238E27FC236}">
                <a16:creationId xmlns:a16="http://schemas.microsoft.com/office/drawing/2014/main" id="{08C2153B-C0FB-3FB1-E213-4C61FDC5F468}"/>
              </a:ext>
            </a:extLst>
          </p:cNvPr>
          <p:cNvCxnSpPr>
            <a:cxnSpLocks/>
            <a:stCxn id="47" idx="2"/>
            <a:endCxn id="21" idx="3"/>
          </p:cNvCxnSpPr>
          <p:nvPr/>
        </p:nvCxnSpPr>
        <p:spPr>
          <a:xfrm rot="10800000">
            <a:off x="4127519" y="1930869"/>
            <a:ext cx="1166596" cy="888665"/>
          </a:xfrm>
          <a:prstGeom prst="curvedConnector3">
            <a:avLst>
              <a:gd name="adj1" fmla="val 50000"/>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F39D193-5D37-E18C-75CB-139E4591B799}"/>
              </a:ext>
            </a:extLst>
          </p:cNvPr>
          <p:cNvCxnSpPr>
            <a:cxnSpLocks/>
            <a:stCxn id="20" idx="2"/>
            <a:endCxn id="89" idx="0"/>
          </p:cNvCxnSpPr>
          <p:nvPr/>
        </p:nvCxnSpPr>
        <p:spPr>
          <a:xfrm rot="5400000">
            <a:off x="633502" y="2899241"/>
            <a:ext cx="1655134" cy="12700"/>
          </a:xfrm>
          <a:prstGeom prst="curvedConnector3">
            <a:avLst>
              <a:gd name="adj1" fmla="val 50000"/>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82">
            <a:extLst>
              <a:ext uri="{FF2B5EF4-FFF2-40B4-BE49-F238E27FC236}">
                <a16:creationId xmlns:a16="http://schemas.microsoft.com/office/drawing/2014/main" id="{BCEA0515-575D-85A5-A035-00B21D440786}"/>
              </a:ext>
            </a:extLst>
          </p:cNvPr>
          <p:cNvCxnSpPr>
            <a:cxnSpLocks/>
            <a:stCxn id="13" idx="3"/>
            <a:endCxn id="47" idx="0"/>
          </p:cNvCxnSpPr>
          <p:nvPr/>
        </p:nvCxnSpPr>
        <p:spPr>
          <a:xfrm>
            <a:off x="4313586" y="1927224"/>
            <a:ext cx="1806780" cy="427154"/>
          </a:xfrm>
          <a:prstGeom prst="curvedConnector2">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75">
            <a:extLst>
              <a:ext uri="{FF2B5EF4-FFF2-40B4-BE49-F238E27FC236}">
                <a16:creationId xmlns:a16="http://schemas.microsoft.com/office/drawing/2014/main" id="{9C1B5C7F-9459-D4D2-47D6-E2DC6B4A3E09}"/>
              </a:ext>
            </a:extLst>
          </p:cNvPr>
          <p:cNvCxnSpPr>
            <a:cxnSpLocks/>
            <a:stCxn id="3" idx="3"/>
            <a:endCxn id="84" idx="1"/>
          </p:cNvCxnSpPr>
          <p:nvPr/>
        </p:nvCxnSpPr>
        <p:spPr>
          <a:xfrm>
            <a:off x="8069815" y="4191963"/>
            <a:ext cx="703543" cy="6950"/>
          </a:xfrm>
          <a:prstGeom prst="straightConnector1">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196" name="TextBox 195">
            <a:extLst>
              <a:ext uri="{FF2B5EF4-FFF2-40B4-BE49-F238E27FC236}">
                <a16:creationId xmlns:a16="http://schemas.microsoft.com/office/drawing/2014/main" id="{4AA7D9FE-78CE-05B5-2546-DC3C75461DE4}"/>
              </a:ext>
            </a:extLst>
          </p:cNvPr>
          <p:cNvSpPr txBox="1"/>
          <p:nvPr/>
        </p:nvSpPr>
        <p:spPr>
          <a:xfrm>
            <a:off x="4291594" y="2292565"/>
            <a:ext cx="1036989" cy="246221"/>
          </a:xfrm>
          <a:prstGeom prst="rect">
            <a:avLst/>
          </a:prstGeom>
          <a:noFill/>
        </p:spPr>
        <p:txBody>
          <a:bodyPr wrap="square" rtlCol="0">
            <a:spAutoFit/>
          </a:bodyPr>
          <a:lstStyle/>
          <a:p>
            <a:r>
              <a:rPr lang="en-GB" sz="1000" b="1" dirty="0"/>
              <a:t>JWT token</a:t>
            </a:r>
          </a:p>
        </p:txBody>
      </p:sp>
      <p:sp>
        <p:nvSpPr>
          <p:cNvPr id="197" name="TextBox 196">
            <a:extLst>
              <a:ext uri="{FF2B5EF4-FFF2-40B4-BE49-F238E27FC236}">
                <a16:creationId xmlns:a16="http://schemas.microsoft.com/office/drawing/2014/main" id="{B5B3206B-C339-69FA-A892-3114DD5A8C50}"/>
              </a:ext>
            </a:extLst>
          </p:cNvPr>
          <p:cNvSpPr txBox="1"/>
          <p:nvPr/>
        </p:nvSpPr>
        <p:spPr>
          <a:xfrm>
            <a:off x="3323540" y="2474906"/>
            <a:ext cx="921217" cy="246221"/>
          </a:xfrm>
          <a:prstGeom prst="rect">
            <a:avLst/>
          </a:prstGeom>
          <a:noFill/>
        </p:spPr>
        <p:txBody>
          <a:bodyPr wrap="square" rtlCol="0">
            <a:spAutoFit/>
          </a:bodyPr>
          <a:lstStyle/>
          <a:p>
            <a:r>
              <a:rPr lang="en-GB" sz="1000" dirty="0"/>
              <a:t>JWT Token</a:t>
            </a:r>
          </a:p>
        </p:txBody>
      </p:sp>
      <p:sp>
        <p:nvSpPr>
          <p:cNvPr id="13" name="Rounded Rectangle 12">
            <a:extLst>
              <a:ext uri="{FF2B5EF4-FFF2-40B4-BE49-F238E27FC236}">
                <a16:creationId xmlns:a16="http://schemas.microsoft.com/office/drawing/2014/main" id="{5FF33210-4CA0-47E5-CBD9-98544411352E}"/>
              </a:ext>
            </a:extLst>
          </p:cNvPr>
          <p:cNvSpPr/>
          <p:nvPr/>
        </p:nvSpPr>
        <p:spPr>
          <a:xfrm>
            <a:off x="473878" y="1654757"/>
            <a:ext cx="3839708" cy="544934"/>
          </a:xfrm>
          <a:prstGeom prst="roundRect">
            <a:avLst/>
          </a:prstGeom>
          <a:solidFill>
            <a:schemeClr val="accent1">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lvl="1" algn="just"/>
            <a:endParaRPr lang="en-GB" sz="1000" b="1" dirty="0">
              <a:solidFill>
                <a:schemeClr val="bg1"/>
              </a:solidFill>
            </a:endParaRPr>
          </a:p>
        </p:txBody>
      </p:sp>
      <p:sp>
        <p:nvSpPr>
          <p:cNvPr id="20" name="Rectangle 19">
            <a:extLst>
              <a:ext uri="{FF2B5EF4-FFF2-40B4-BE49-F238E27FC236}">
                <a16:creationId xmlns:a16="http://schemas.microsoft.com/office/drawing/2014/main" id="{A5308A8F-35FB-AA8F-934F-17BB9B75FE4B}"/>
              </a:ext>
            </a:extLst>
          </p:cNvPr>
          <p:cNvSpPr/>
          <p:nvPr/>
        </p:nvSpPr>
        <p:spPr>
          <a:xfrm>
            <a:off x="671260" y="1790061"/>
            <a:ext cx="1579618" cy="281613"/>
          </a:xfrm>
          <a:prstGeom prst="rect">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rPr>
              <a:t>GraphQL</a:t>
            </a:r>
          </a:p>
        </p:txBody>
      </p:sp>
      <p:sp>
        <p:nvSpPr>
          <p:cNvPr id="21" name="Rectangle 20">
            <a:extLst>
              <a:ext uri="{FF2B5EF4-FFF2-40B4-BE49-F238E27FC236}">
                <a16:creationId xmlns:a16="http://schemas.microsoft.com/office/drawing/2014/main" id="{63F2F45B-272E-BFDD-2C62-9A04D3C7DBC0}"/>
              </a:ext>
            </a:extLst>
          </p:cNvPr>
          <p:cNvSpPr/>
          <p:nvPr/>
        </p:nvSpPr>
        <p:spPr>
          <a:xfrm>
            <a:off x="2547901" y="1790061"/>
            <a:ext cx="1579618" cy="281613"/>
          </a:xfrm>
          <a:prstGeom prst="rect">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rPr>
              <a:t>REST</a:t>
            </a:r>
          </a:p>
        </p:txBody>
      </p:sp>
      <p:cxnSp>
        <p:nvCxnSpPr>
          <p:cNvPr id="146" name="Straight Arrow Connector 145">
            <a:extLst>
              <a:ext uri="{FF2B5EF4-FFF2-40B4-BE49-F238E27FC236}">
                <a16:creationId xmlns:a16="http://schemas.microsoft.com/office/drawing/2014/main" id="{49C2BA52-FB9B-FB7D-F938-0C2059BD603E}"/>
              </a:ext>
            </a:extLst>
          </p:cNvPr>
          <p:cNvCxnSpPr>
            <a:cxnSpLocks/>
            <a:stCxn id="30" idx="1"/>
            <a:endCxn id="20" idx="0"/>
          </p:cNvCxnSpPr>
          <p:nvPr/>
        </p:nvCxnSpPr>
        <p:spPr>
          <a:xfrm rot="10800000" flipV="1">
            <a:off x="1461069" y="1171549"/>
            <a:ext cx="372642" cy="618512"/>
          </a:xfrm>
          <a:prstGeom prst="bentConnector2">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724421F1-D3DF-9BC1-60A6-710353BB26A9}"/>
              </a:ext>
            </a:extLst>
          </p:cNvPr>
          <p:cNvCxnSpPr>
            <a:cxnSpLocks/>
            <a:stCxn id="30" idx="3"/>
            <a:endCxn id="21" idx="0"/>
          </p:cNvCxnSpPr>
          <p:nvPr/>
        </p:nvCxnSpPr>
        <p:spPr>
          <a:xfrm>
            <a:off x="2955133" y="1171549"/>
            <a:ext cx="382577" cy="618512"/>
          </a:xfrm>
          <a:prstGeom prst="bentConnector2">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81" name="Direct Access Storage 80">
            <a:extLst>
              <a:ext uri="{FF2B5EF4-FFF2-40B4-BE49-F238E27FC236}">
                <a16:creationId xmlns:a16="http://schemas.microsoft.com/office/drawing/2014/main" id="{04BF6136-CAC0-6639-0A82-41BD1E55724A}"/>
              </a:ext>
            </a:extLst>
          </p:cNvPr>
          <p:cNvSpPr/>
          <p:nvPr/>
        </p:nvSpPr>
        <p:spPr>
          <a:xfrm>
            <a:off x="6275510" y="5320731"/>
            <a:ext cx="1855982" cy="832854"/>
          </a:xfrm>
          <a:prstGeom prst="flowChartMagneticDrum">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Cognito User Pool</a:t>
            </a:r>
          </a:p>
        </p:txBody>
      </p:sp>
      <p:sp>
        <p:nvSpPr>
          <p:cNvPr id="84" name="TextBox 83">
            <a:extLst>
              <a:ext uri="{FF2B5EF4-FFF2-40B4-BE49-F238E27FC236}">
                <a16:creationId xmlns:a16="http://schemas.microsoft.com/office/drawing/2014/main" id="{F672E119-E94B-01E6-8F85-387B5B0106C3}"/>
              </a:ext>
            </a:extLst>
          </p:cNvPr>
          <p:cNvSpPr txBox="1"/>
          <p:nvPr/>
        </p:nvSpPr>
        <p:spPr>
          <a:xfrm>
            <a:off x="8773358" y="2829307"/>
            <a:ext cx="3278373" cy="2739211"/>
          </a:xfrm>
          <a:prstGeom prst="rect">
            <a:avLst/>
          </a:prstGeom>
          <a:solidFill>
            <a:srgbClr val="FFFF00"/>
          </a:solidFill>
        </p:spPr>
        <p:txBody>
          <a:bodyPr wrap="square" rtlCol="0">
            <a:spAutoFit/>
          </a:bodyPr>
          <a:lstStyle/>
          <a:p>
            <a:r>
              <a:rPr lang="en-GB" sz="1200" b="1" dirty="0"/>
              <a:t>pre-auth Lambda trigger (Node.js)</a:t>
            </a:r>
          </a:p>
          <a:p>
            <a:r>
              <a:rPr lang="en-GB" sz="800" dirty="0" err="1"/>
              <a:t>exports.handler</a:t>
            </a:r>
            <a:r>
              <a:rPr lang="en-GB" sz="800" dirty="0"/>
              <a:t> = async (event) =&gt; {</a:t>
            </a:r>
            <a:br>
              <a:rPr lang="en-GB" sz="800" dirty="0"/>
            </a:br>
            <a:r>
              <a:rPr lang="en-GB" sz="800" dirty="0"/>
              <a:t>if (</a:t>
            </a:r>
            <a:r>
              <a:rPr lang="en-GB" sz="800" dirty="0" err="1"/>
              <a:t>event.triggerSource</a:t>
            </a:r>
            <a:r>
              <a:rPr lang="en-GB" sz="800" dirty="0"/>
              <a:t> === '</a:t>
            </a:r>
            <a:r>
              <a:rPr lang="en-GB" sz="800" dirty="0" err="1"/>
              <a:t>TokenGeneration_HostedAuth</a:t>
            </a:r>
            <a:r>
              <a:rPr lang="en-GB" sz="800" dirty="0"/>
              <a:t>' ||</a:t>
            </a:r>
            <a:br>
              <a:rPr lang="en-GB" sz="800" dirty="0"/>
            </a:br>
            <a:r>
              <a:rPr lang="en-GB" sz="800" dirty="0" err="1"/>
              <a:t>event.triggerSource</a:t>
            </a:r>
            <a:r>
              <a:rPr lang="en-GB" sz="800" dirty="0"/>
              <a:t> === '</a:t>
            </a:r>
            <a:r>
              <a:rPr lang="en-GB" sz="800" dirty="0" err="1"/>
              <a:t>TokenGeneration_UserPoolClient</a:t>
            </a:r>
            <a:r>
              <a:rPr lang="en-GB" sz="800" dirty="0"/>
              <a:t>') {</a:t>
            </a:r>
            <a:br>
              <a:rPr lang="en-GB" sz="800" dirty="0"/>
            </a:br>
            <a:r>
              <a:rPr lang="en-GB" sz="800" dirty="0"/>
              <a:t>// Define default role and allowed roles</a:t>
            </a:r>
            <a:br>
              <a:rPr lang="en-GB" sz="800" dirty="0"/>
            </a:br>
            <a:r>
              <a:rPr lang="en-GB" sz="800" dirty="0" err="1"/>
              <a:t>const</a:t>
            </a:r>
            <a:r>
              <a:rPr lang="en-GB" sz="800" dirty="0"/>
              <a:t> </a:t>
            </a:r>
            <a:r>
              <a:rPr lang="en-GB" sz="800" dirty="0" err="1"/>
              <a:t>hasuraClaims</a:t>
            </a:r>
            <a:r>
              <a:rPr lang="en-GB" sz="800" dirty="0"/>
              <a:t> = {</a:t>
            </a:r>
            <a:br>
              <a:rPr lang="en-GB" sz="800" dirty="0"/>
            </a:br>
            <a:r>
              <a:rPr lang="en-GB" sz="800" dirty="0"/>
              <a:t>'x-</a:t>
            </a:r>
            <a:r>
              <a:rPr lang="en-GB" sz="800" dirty="0" err="1"/>
              <a:t>hasura</a:t>
            </a:r>
            <a:r>
              <a:rPr lang="en-GB" sz="800" dirty="0"/>
              <a:t>-default-role': 'user',</a:t>
            </a:r>
            <a:br>
              <a:rPr lang="en-GB" sz="800" dirty="0"/>
            </a:br>
            <a:r>
              <a:rPr lang="en-GB" sz="800" dirty="0"/>
              <a:t>'x-</a:t>
            </a:r>
            <a:r>
              <a:rPr lang="en-GB" sz="800" dirty="0" err="1"/>
              <a:t>hasura</a:t>
            </a:r>
            <a:r>
              <a:rPr lang="en-GB" sz="800" dirty="0"/>
              <a:t>-allowed-roles': ['user', 'admin'],</a:t>
            </a:r>
            <a:br>
              <a:rPr lang="en-GB" sz="800" dirty="0"/>
            </a:br>
            <a:r>
              <a:rPr lang="en-GB" sz="800" dirty="0"/>
              <a:t>'x-</a:t>
            </a:r>
            <a:r>
              <a:rPr lang="en-GB" sz="800" dirty="0" err="1"/>
              <a:t>hasura</a:t>
            </a:r>
            <a:r>
              <a:rPr lang="en-GB" sz="800" dirty="0"/>
              <a:t>-user-id': </a:t>
            </a:r>
            <a:r>
              <a:rPr lang="en-GB" sz="800" dirty="0" err="1"/>
              <a:t>event.request.userAttributes.sub</a:t>
            </a:r>
            <a:br>
              <a:rPr lang="en-GB" sz="800" dirty="0"/>
            </a:br>
            <a:r>
              <a:rPr lang="en-GB" sz="800" dirty="0"/>
              <a:t>};</a:t>
            </a:r>
            <a:br>
              <a:rPr lang="en-GB" sz="800" dirty="0"/>
            </a:br>
            <a:br>
              <a:rPr lang="en-GB" sz="800" dirty="0"/>
            </a:br>
            <a:r>
              <a:rPr lang="en-GB" sz="800" dirty="0" err="1"/>
              <a:t>event.response</a:t>
            </a:r>
            <a:r>
              <a:rPr lang="en-GB" sz="800" dirty="0"/>
              <a:t> = {</a:t>
            </a:r>
            <a:br>
              <a:rPr lang="en-GB" sz="800" dirty="0"/>
            </a:br>
            <a:r>
              <a:rPr lang="en-GB" sz="800" dirty="0" err="1"/>
              <a:t>claimsOverrideDetails</a:t>
            </a:r>
            <a:r>
              <a:rPr lang="en-GB" sz="800" dirty="0"/>
              <a:t>: {</a:t>
            </a:r>
            <a:br>
              <a:rPr lang="en-GB" sz="800" dirty="0"/>
            </a:br>
            <a:r>
              <a:rPr lang="en-GB" sz="800" dirty="0" err="1"/>
              <a:t>claimsToAddOrOverride</a:t>
            </a:r>
            <a:r>
              <a:rPr lang="en-GB" sz="800" dirty="0"/>
              <a:t>: {</a:t>
            </a:r>
            <a:br>
              <a:rPr lang="en-GB" sz="800" dirty="0"/>
            </a:br>
            <a:r>
              <a:rPr lang="en-GB" sz="800" dirty="0"/>
              <a:t>'https://</a:t>
            </a:r>
            <a:r>
              <a:rPr lang="en-GB" sz="800" dirty="0" err="1"/>
              <a:t>hasura.io</a:t>
            </a:r>
            <a:r>
              <a:rPr lang="en-GB" sz="800" dirty="0"/>
              <a:t>/</a:t>
            </a:r>
            <a:r>
              <a:rPr lang="en-GB" sz="800" dirty="0" err="1"/>
              <a:t>jwt</a:t>
            </a:r>
            <a:r>
              <a:rPr lang="en-GB" sz="800" dirty="0"/>
              <a:t>/claims': </a:t>
            </a:r>
            <a:r>
              <a:rPr lang="en-GB" sz="800" dirty="0" err="1"/>
              <a:t>JSON.stringify</a:t>
            </a:r>
            <a:r>
              <a:rPr lang="en-GB" sz="800" dirty="0"/>
              <a:t>(</a:t>
            </a:r>
            <a:r>
              <a:rPr lang="en-GB" sz="800" dirty="0" err="1"/>
              <a:t>hasuraClaims</a:t>
            </a:r>
            <a:r>
              <a:rPr lang="en-GB" sz="800" dirty="0"/>
              <a:t>)</a:t>
            </a:r>
            <a:br>
              <a:rPr lang="en-GB" sz="800" dirty="0"/>
            </a:br>
            <a:r>
              <a:rPr lang="en-GB" sz="800" dirty="0"/>
              <a:t>}</a:t>
            </a:r>
            <a:br>
              <a:rPr lang="en-GB" sz="800" dirty="0"/>
            </a:br>
            <a:r>
              <a:rPr lang="en-GB" sz="800" dirty="0"/>
              <a:t>}</a:t>
            </a:r>
            <a:br>
              <a:rPr lang="en-GB" sz="800" dirty="0"/>
            </a:br>
            <a:r>
              <a:rPr lang="en-GB" sz="800" dirty="0"/>
              <a:t>};</a:t>
            </a:r>
            <a:br>
              <a:rPr lang="en-GB" sz="800" dirty="0"/>
            </a:br>
            <a:r>
              <a:rPr lang="en-GB" sz="800" dirty="0"/>
              <a:t>}</a:t>
            </a:r>
            <a:br>
              <a:rPr lang="en-GB" sz="800" dirty="0"/>
            </a:br>
            <a:r>
              <a:rPr lang="en-GB" sz="800" dirty="0"/>
              <a:t>return event;</a:t>
            </a:r>
            <a:br>
              <a:rPr lang="en-GB" sz="800" dirty="0"/>
            </a:br>
            <a:r>
              <a:rPr lang="en-GB" sz="800" dirty="0"/>
              <a:t>};</a:t>
            </a:r>
          </a:p>
        </p:txBody>
      </p:sp>
      <p:sp>
        <p:nvSpPr>
          <p:cNvPr id="89" name="Oval 88">
            <a:extLst>
              <a:ext uri="{FF2B5EF4-FFF2-40B4-BE49-F238E27FC236}">
                <a16:creationId xmlns:a16="http://schemas.microsoft.com/office/drawing/2014/main" id="{FB0F865D-F473-7EA4-CAF5-1E485AFAB524}"/>
              </a:ext>
            </a:extLst>
          </p:cNvPr>
          <p:cNvSpPr/>
          <p:nvPr/>
        </p:nvSpPr>
        <p:spPr>
          <a:xfrm>
            <a:off x="634818" y="3726808"/>
            <a:ext cx="1652502" cy="930310"/>
          </a:xfrm>
          <a:prstGeom prst="ellipse">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err="1">
                <a:solidFill>
                  <a:schemeClr val="bg1"/>
                </a:solidFill>
              </a:rPr>
              <a:t>Hasura</a:t>
            </a:r>
            <a:endParaRPr lang="en-GB" sz="1000" dirty="0">
              <a:solidFill>
                <a:schemeClr val="bg1"/>
              </a:solidFill>
            </a:endParaRPr>
          </a:p>
        </p:txBody>
      </p:sp>
      <p:sp>
        <p:nvSpPr>
          <p:cNvPr id="93" name="TextBox 92">
            <a:extLst>
              <a:ext uri="{FF2B5EF4-FFF2-40B4-BE49-F238E27FC236}">
                <a16:creationId xmlns:a16="http://schemas.microsoft.com/office/drawing/2014/main" id="{33A40F68-1A5E-A904-302F-C0BD25A45B1A}"/>
              </a:ext>
            </a:extLst>
          </p:cNvPr>
          <p:cNvSpPr txBox="1"/>
          <p:nvPr/>
        </p:nvSpPr>
        <p:spPr>
          <a:xfrm>
            <a:off x="852152" y="2421212"/>
            <a:ext cx="921217" cy="553998"/>
          </a:xfrm>
          <a:prstGeom prst="rect">
            <a:avLst/>
          </a:prstGeom>
          <a:noFill/>
        </p:spPr>
        <p:txBody>
          <a:bodyPr wrap="square" rtlCol="0">
            <a:spAutoFit/>
          </a:bodyPr>
          <a:lstStyle/>
          <a:p>
            <a:r>
              <a:rPr lang="en-GB" sz="1000" b="1" dirty="0"/>
              <a:t>Token + User ID + User Role + Query</a:t>
            </a:r>
          </a:p>
        </p:txBody>
      </p:sp>
      <p:sp>
        <p:nvSpPr>
          <p:cNvPr id="97" name="Can 96">
            <a:extLst>
              <a:ext uri="{FF2B5EF4-FFF2-40B4-BE49-F238E27FC236}">
                <a16:creationId xmlns:a16="http://schemas.microsoft.com/office/drawing/2014/main" id="{203CFAF5-8D01-F2F1-2B9C-F3D69265C256}"/>
              </a:ext>
            </a:extLst>
          </p:cNvPr>
          <p:cNvSpPr/>
          <p:nvPr/>
        </p:nvSpPr>
        <p:spPr>
          <a:xfrm>
            <a:off x="1003869" y="5209698"/>
            <a:ext cx="914400" cy="943887"/>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Payment Database</a:t>
            </a:r>
          </a:p>
        </p:txBody>
      </p:sp>
      <p:cxnSp>
        <p:nvCxnSpPr>
          <p:cNvPr id="98" name="Straight Arrow Connector 95">
            <a:extLst>
              <a:ext uri="{FF2B5EF4-FFF2-40B4-BE49-F238E27FC236}">
                <a16:creationId xmlns:a16="http://schemas.microsoft.com/office/drawing/2014/main" id="{E25AB4E1-778A-765F-4F6B-4468C79E53D4}"/>
              </a:ext>
            </a:extLst>
          </p:cNvPr>
          <p:cNvCxnSpPr>
            <a:cxnSpLocks/>
            <a:stCxn id="89" idx="4"/>
            <a:endCxn id="97" idx="1"/>
          </p:cNvCxnSpPr>
          <p:nvPr/>
        </p:nvCxnSpPr>
        <p:spPr>
          <a:xfrm>
            <a:off x="1461069" y="4657118"/>
            <a:ext cx="0" cy="552580"/>
          </a:xfrm>
          <a:prstGeom prst="straightConnector1">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B1053A9A-3935-DAAC-AACE-50A44EBBDFE8}"/>
              </a:ext>
            </a:extLst>
          </p:cNvPr>
          <p:cNvSpPr txBox="1"/>
          <p:nvPr/>
        </p:nvSpPr>
        <p:spPr>
          <a:xfrm>
            <a:off x="6491065" y="6211717"/>
            <a:ext cx="1424872" cy="246221"/>
          </a:xfrm>
          <a:prstGeom prst="rect">
            <a:avLst/>
          </a:prstGeom>
          <a:noFill/>
        </p:spPr>
        <p:txBody>
          <a:bodyPr wrap="square" rtlCol="0">
            <a:spAutoFit/>
          </a:bodyPr>
          <a:lstStyle/>
          <a:p>
            <a:r>
              <a:rPr lang="en-GB" sz="1000" b="1" dirty="0"/>
              <a:t>Users, Groups, Roles</a:t>
            </a:r>
          </a:p>
        </p:txBody>
      </p:sp>
      <p:cxnSp>
        <p:nvCxnSpPr>
          <p:cNvPr id="106" name="Straight Arrow Connector 78">
            <a:extLst>
              <a:ext uri="{FF2B5EF4-FFF2-40B4-BE49-F238E27FC236}">
                <a16:creationId xmlns:a16="http://schemas.microsoft.com/office/drawing/2014/main" id="{C7D2AE0E-FF2F-2D80-D398-E9F39B281CFA}"/>
              </a:ext>
            </a:extLst>
          </p:cNvPr>
          <p:cNvCxnSpPr>
            <a:cxnSpLocks/>
            <a:stCxn id="84" idx="0"/>
            <a:endCxn id="3" idx="0"/>
          </p:cNvCxnSpPr>
          <p:nvPr/>
        </p:nvCxnSpPr>
        <p:spPr>
          <a:xfrm rot="16200000" flipH="1" flipV="1">
            <a:off x="8319657" y="1713150"/>
            <a:ext cx="976731" cy="3209044"/>
          </a:xfrm>
          <a:prstGeom prst="curvedConnector3">
            <a:avLst>
              <a:gd name="adj1" fmla="val -23405"/>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79AEBED3-2B22-9917-AAFB-047B766D6D86}"/>
              </a:ext>
            </a:extLst>
          </p:cNvPr>
          <p:cNvSpPr txBox="1"/>
          <p:nvPr/>
        </p:nvSpPr>
        <p:spPr>
          <a:xfrm>
            <a:off x="7914671" y="2321017"/>
            <a:ext cx="1550457" cy="400110"/>
          </a:xfrm>
          <a:prstGeom prst="rect">
            <a:avLst/>
          </a:prstGeom>
          <a:noFill/>
        </p:spPr>
        <p:txBody>
          <a:bodyPr wrap="square" rtlCol="0">
            <a:spAutoFit/>
          </a:bodyPr>
          <a:lstStyle/>
          <a:p>
            <a:r>
              <a:rPr lang="en-GB" sz="1000" dirty="0"/>
              <a:t>Elevate specific JWT token</a:t>
            </a:r>
          </a:p>
        </p:txBody>
      </p:sp>
      <p:sp>
        <p:nvSpPr>
          <p:cNvPr id="3" name="Rounded Rectangle 2">
            <a:extLst>
              <a:ext uri="{FF2B5EF4-FFF2-40B4-BE49-F238E27FC236}">
                <a16:creationId xmlns:a16="http://schemas.microsoft.com/office/drawing/2014/main" id="{B6EB970A-22FF-2E0E-875F-1826D049CC41}"/>
              </a:ext>
            </a:extLst>
          </p:cNvPr>
          <p:cNvSpPr/>
          <p:nvPr/>
        </p:nvSpPr>
        <p:spPr>
          <a:xfrm>
            <a:off x="6337187" y="3806038"/>
            <a:ext cx="1732628" cy="771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AWS Cognito</a:t>
            </a:r>
          </a:p>
        </p:txBody>
      </p:sp>
      <p:cxnSp>
        <p:nvCxnSpPr>
          <p:cNvPr id="12" name="Straight Arrow Connector 82">
            <a:extLst>
              <a:ext uri="{FF2B5EF4-FFF2-40B4-BE49-F238E27FC236}">
                <a16:creationId xmlns:a16="http://schemas.microsoft.com/office/drawing/2014/main" id="{25E39D76-A850-FAEA-C49F-5C62BA125749}"/>
              </a:ext>
            </a:extLst>
          </p:cNvPr>
          <p:cNvCxnSpPr>
            <a:cxnSpLocks/>
            <a:endCxn id="3" idx="1"/>
          </p:cNvCxnSpPr>
          <p:nvPr/>
        </p:nvCxnSpPr>
        <p:spPr>
          <a:xfrm rot="5400000">
            <a:off x="5883550" y="3738325"/>
            <a:ext cx="907275" cy="12700"/>
          </a:xfrm>
          <a:prstGeom prst="curvedConnector4">
            <a:avLst>
              <a:gd name="adj1" fmla="val 28732"/>
              <a:gd name="adj2" fmla="val 3198969"/>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E4349929-64D1-7A1C-0B2D-4DE9D89C5649}"/>
              </a:ext>
            </a:extLst>
          </p:cNvPr>
          <p:cNvSpPr/>
          <p:nvPr/>
        </p:nvSpPr>
        <p:spPr>
          <a:xfrm>
            <a:off x="2511459" y="3726808"/>
            <a:ext cx="1652502" cy="930310"/>
          </a:xfrm>
          <a:prstGeom prst="ellipse">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1"/>
                </a:solidFill>
              </a:rPr>
              <a:t>REST server (Payment, CMS)</a:t>
            </a:r>
          </a:p>
        </p:txBody>
      </p:sp>
      <p:cxnSp>
        <p:nvCxnSpPr>
          <p:cNvPr id="17" name="Straight Arrow Connector 95">
            <a:extLst>
              <a:ext uri="{FF2B5EF4-FFF2-40B4-BE49-F238E27FC236}">
                <a16:creationId xmlns:a16="http://schemas.microsoft.com/office/drawing/2014/main" id="{DF169CCF-2C81-EB58-EDC4-CF3C9FFA7F4A}"/>
              </a:ext>
            </a:extLst>
          </p:cNvPr>
          <p:cNvCxnSpPr>
            <a:cxnSpLocks/>
            <a:stCxn id="21" idx="2"/>
            <a:endCxn id="16" idx="0"/>
          </p:cNvCxnSpPr>
          <p:nvPr/>
        </p:nvCxnSpPr>
        <p:spPr>
          <a:xfrm>
            <a:off x="3337710" y="2071674"/>
            <a:ext cx="0" cy="1655134"/>
          </a:xfrm>
          <a:prstGeom prst="straightConnector1">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95">
            <a:extLst>
              <a:ext uri="{FF2B5EF4-FFF2-40B4-BE49-F238E27FC236}">
                <a16:creationId xmlns:a16="http://schemas.microsoft.com/office/drawing/2014/main" id="{3F84E840-C151-BBB2-D088-9B9D3F047EB6}"/>
              </a:ext>
            </a:extLst>
          </p:cNvPr>
          <p:cNvCxnSpPr>
            <a:cxnSpLocks/>
            <a:stCxn id="3" idx="2"/>
            <a:endCxn id="81" idx="0"/>
          </p:cNvCxnSpPr>
          <p:nvPr/>
        </p:nvCxnSpPr>
        <p:spPr>
          <a:xfrm>
            <a:off x="7203501" y="4577888"/>
            <a:ext cx="0" cy="742843"/>
          </a:xfrm>
          <a:prstGeom prst="straightConnector1">
            <a:avLst/>
          </a:prstGeom>
          <a:ln>
            <a:solidFill>
              <a:srgbClr val="FCA2FD"/>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A8F5E30-EEF3-4CA3-C43E-F8B64A74B8F8}"/>
              </a:ext>
            </a:extLst>
          </p:cNvPr>
          <p:cNvSpPr txBox="1"/>
          <p:nvPr/>
        </p:nvSpPr>
        <p:spPr>
          <a:xfrm>
            <a:off x="5027196" y="1790061"/>
            <a:ext cx="1158461" cy="246221"/>
          </a:xfrm>
          <a:prstGeom prst="rect">
            <a:avLst/>
          </a:prstGeom>
          <a:noFill/>
        </p:spPr>
        <p:txBody>
          <a:bodyPr wrap="square" rtlCol="0">
            <a:spAutoFit/>
          </a:bodyPr>
          <a:lstStyle/>
          <a:p>
            <a:r>
              <a:rPr lang="en-GB" sz="1000" dirty="0"/>
              <a:t>User credentials</a:t>
            </a:r>
          </a:p>
        </p:txBody>
      </p:sp>
    </p:spTree>
    <p:extLst>
      <p:ext uri="{BB962C8B-B14F-4D97-AF65-F5344CB8AC3E}">
        <p14:creationId xmlns:p14="http://schemas.microsoft.com/office/powerpoint/2010/main" val="1829669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74CB23-DAFB-5192-AE5F-6C98A4DBCB86}"/>
              </a:ext>
            </a:extLst>
          </p:cNvPr>
          <p:cNvSpPr txBox="1"/>
          <p:nvPr/>
        </p:nvSpPr>
        <p:spPr>
          <a:xfrm>
            <a:off x="2709334" y="670861"/>
            <a:ext cx="6096000" cy="4678204"/>
          </a:xfrm>
          <a:prstGeom prst="rect">
            <a:avLst/>
          </a:prstGeom>
          <a:noFill/>
        </p:spPr>
        <p:txBody>
          <a:bodyPr wrap="square">
            <a:spAutoFit/>
          </a:bodyPr>
          <a:lstStyle/>
          <a:p>
            <a:pPr>
              <a:buNone/>
            </a:pPr>
            <a:r>
              <a:rPr lang="en-GB" sz="2800" b="1" dirty="0">
                <a:effectLst/>
                <a:latin typeface="Times New Roman" panose="02020603050405020304" pitchFamily="18" charset="0"/>
                <a:ea typeface="Times New Roman" panose="02020603050405020304" pitchFamily="18" charset="0"/>
                <a:cs typeface="Times New Roman" panose="02020603050405020304" pitchFamily="18" charset="0"/>
              </a:rPr>
              <a:t>RBAC in Cognito</a:t>
            </a:r>
          </a:p>
          <a:p>
            <a:pPr>
              <a:buNone/>
            </a:pP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GB" dirty="0">
                <a:latin typeface="Times New Roman" panose="02020603050405020304" pitchFamily="18" charset="0"/>
                <a:ea typeface="Times New Roman" panose="02020603050405020304" pitchFamily="18" charset="0"/>
                <a:cs typeface="Times New Roman" panose="02020603050405020304" pitchFamily="18" charset="0"/>
              </a:rPr>
              <a:t>M</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anage roles and permissions by:</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itchFamily="2" charset="2"/>
              <a:buChar char=""/>
              <a:tabLst>
                <a:tab pos="457200" algn="l"/>
              </a:tabLs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Cognito Groups</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 assign users to predefined groups, e.g. </a:t>
            </a:r>
            <a:r>
              <a:rPr lang="en-GB" sz="1200" dirty="0">
                <a:effectLst/>
                <a:latin typeface="Courier New" panose="02070309020205020404" pitchFamily="49" charset="0"/>
                <a:ea typeface="Times New Roman" panose="02020603050405020304" pitchFamily="18" charset="0"/>
                <a:cs typeface="Times New Roman" panose="02020603050405020304" pitchFamily="18" charset="0"/>
              </a:rPr>
              <a:t>admin</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200" dirty="0">
                <a:effectLst/>
                <a:latin typeface="Courier New" panose="02070309020205020404" pitchFamily="49" charset="0"/>
                <a:ea typeface="Times New Roman" panose="02020603050405020304" pitchFamily="18" charset="0"/>
                <a:cs typeface="Times New Roman" panose="02020603050405020304" pitchFamily="18" charset="0"/>
              </a:rPr>
              <a:t>customer</a:t>
            </a:r>
          </a:p>
          <a:p>
            <a:pPr marL="342900" indent="-342900">
              <a:buSzPts val="1000"/>
              <a:buFont typeface="Symbol" pitchFamily="2" charset="2"/>
              <a:buChar char=""/>
              <a:tabLst>
                <a:tab pos="457200" algn="l"/>
              </a:tabLst>
            </a:pPr>
            <a:r>
              <a:rPr lang="en-GB" b="1" dirty="0">
                <a:latin typeface="Times New Roman" panose="02020603050405020304" pitchFamily="18" charset="0"/>
                <a:ea typeface="Times New Roman" panose="02020603050405020304" pitchFamily="18" charset="0"/>
                <a:cs typeface="Times New Roman" panose="02020603050405020304" pitchFamily="18" charset="0"/>
              </a:rPr>
              <a:t>Custom Attributes</a:t>
            </a:r>
            <a:r>
              <a:rPr lang="en-GB" dirty="0">
                <a:latin typeface="Times New Roman" panose="02020603050405020304" pitchFamily="18" charset="0"/>
                <a:ea typeface="Times New Roman" panose="02020603050405020304" pitchFamily="18" charset="0"/>
                <a:cs typeface="Times New Roman" panose="02020603050405020304" pitchFamily="18" charset="0"/>
              </a:rPr>
              <a:t> → Up to 50 can be added</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itchFamily="2" charset="2"/>
              <a:buChar char=""/>
              <a:tabLst>
                <a:tab pos="457200" algn="l"/>
              </a:tabLs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Lambda Custom Attributes</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 assign per-user roles or metadata</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buSzPts val="1000"/>
              <a:buFont typeface="Symbol" pitchFamily="2" charset="2"/>
              <a:buChar char=""/>
              <a:tabLst>
                <a:tab pos="457200" algn="l"/>
              </a:tabLs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Post-Confirmation Lambda Triggers</a:t>
            </a:r>
            <a:r>
              <a:rPr lang="en-GB" sz="1800" dirty="0">
                <a:effectLst/>
                <a:latin typeface="Times New Roman" panose="02020603050405020304" pitchFamily="18" charset="0"/>
                <a:ea typeface="Times New Roman" panose="02020603050405020304" pitchFamily="18" charset="0"/>
                <a:cs typeface="Times New Roman" panose="02020603050405020304" pitchFamily="18" charset="0"/>
              </a:rPr>
              <a:t> → auto-assign group on sign-up</a:t>
            </a:r>
          </a:p>
          <a:p>
            <a:pPr marL="342900" lvl="0" indent="-342900">
              <a:buSzPts val="1000"/>
              <a:buFont typeface="Symbol" pitchFamily="2" charset="2"/>
              <a:buChar char=""/>
              <a:tabLst>
                <a:tab pos="457200" algn="l"/>
              </a:tabLst>
            </a:pPr>
            <a:r>
              <a:rPr lang="en-GB" dirty="0">
                <a:latin typeface="Times New Roman" panose="02020603050405020304" pitchFamily="18" charset="0"/>
                <a:ea typeface="Aptos" panose="020B0004020202020204" pitchFamily="34" charset="0"/>
                <a:cs typeface="Times New Roman" panose="02020603050405020304" pitchFamily="18" charset="0"/>
              </a:rPr>
              <a:t>X-</a:t>
            </a:r>
            <a:r>
              <a:rPr lang="en-GB" dirty="0" err="1">
                <a:latin typeface="Times New Roman" panose="02020603050405020304" pitchFamily="18" charset="0"/>
                <a:ea typeface="Aptos" panose="020B0004020202020204" pitchFamily="34" charset="0"/>
                <a:cs typeface="Times New Roman" panose="02020603050405020304" pitchFamily="18" charset="0"/>
              </a:rPr>
              <a:t>hasura</a:t>
            </a:r>
            <a:r>
              <a:rPr lang="en-GB" dirty="0">
                <a:latin typeface="Times New Roman" panose="02020603050405020304" pitchFamily="18" charset="0"/>
                <a:ea typeface="Aptos" panose="020B0004020202020204" pitchFamily="34" charset="0"/>
                <a:cs typeface="Times New Roman" panose="02020603050405020304" pitchFamily="18" charset="0"/>
              </a:rPr>
              <a:t>-default-role : Least privilege role</a:t>
            </a:r>
          </a:p>
          <a:p>
            <a:pPr marL="342900" lvl="0" indent="-342900">
              <a:buSzPts val="1000"/>
              <a:buFont typeface="Symbol" pitchFamily="2" charset="2"/>
              <a:buChar char=""/>
              <a:tabLst>
                <a:tab pos="457200" algn="l"/>
              </a:tabLst>
            </a:pPr>
            <a:r>
              <a:rPr lang="en-GB" dirty="0">
                <a:latin typeface="Times New Roman" panose="02020603050405020304" pitchFamily="18" charset="0"/>
                <a:ea typeface="Aptos" panose="020B0004020202020204" pitchFamily="34" charset="0"/>
                <a:cs typeface="Times New Roman" panose="02020603050405020304" pitchFamily="18" charset="0"/>
              </a:rPr>
              <a:t>X-</a:t>
            </a:r>
            <a:r>
              <a:rPr lang="en-GB" dirty="0" err="1">
                <a:latin typeface="Times New Roman" panose="02020603050405020304" pitchFamily="18" charset="0"/>
                <a:ea typeface="Aptos" panose="020B0004020202020204" pitchFamily="34" charset="0"/>
                <a:cs typeface="Times New Roman" panose="02020603050405020304" pitchFamily="18" charset="0"/>
              </a:rPr>
              <a:t>hasura</a:t>
            </a:r>
            <a:r>
              <a:rPr lang="en-GB" dirty="0">
                <a:latin typeface="Times New Roman" panose="02020603050405020304" pitchFamily="18" charset="0"/>
                <a:ea typeface="Aptos" panose="020B0004020202020204" pitchFamily="34" charset="0"/>
                <a:cs typeface="Times New Roman" panose="02020603050405020304" pitchFamily="18" charset="0"/>
              </a:rPr>
              <a:t>-allowed-roles: A list of roles that are allowed to be set for x-</a:t>
            </a:r>
            <a:r>
              <a:rPr lang="en-GB" dirty="0" err="1">
                <a:latin typeface="Times New Roman" panose="02020603050405020304" pitchFamily="18" charset="0"/>
                <a:ea typeface="Aptos" panose="020B0004020202020204" pitchFamily="34" charset="0"/>
                <a:cs typeface="Times New Roman" panose="02020603050405020304" pitchFamily="18" charset="0"/>
              </a:rPr>
              <a:t>hasura</a:t>
            </a:r>
            <a:r>
              <a:rPr lang="en-GB" dirty="0">
                <a:latin typeface="Times New Roman" panose="02020603050405020304" pitchFamily="18" charset="0"/>
                <a:ea typeface="Aptos" panose="020B0004020202020204" pitchFamily="34" charset="0"/>
                <a:cs typeface="Times New Roman" panose="02020603050405020304" pitchFamily="18" charset="0"/>
              </a:rPr>
              <a:t>-default-role in HTTP header by </a:t>
            </a:r>
            <a:r>
              <a:rPr lang="en-GB" dirty="0" err="1">
                <a:latin typeface="Times New Roman" panose="02020603050405020304" pitchFamily="18" charset="0"/>
                <a:ea typeface="Aptos" panose="020B0004020202020204" pitchFamily="34" charset="0"/>
                <a:cs typeface="Times New Roman" panose="02020603050405020304" pitchFamily="18" charset="0"/>
              </a:rPr>
              <a:t>Hasura</a:t>
            </a:r>
            <a:r>
              <a:rPr lang="en-GB" dirty="0">
                <a:latin typeface="Times New Roman" panose="02020603050405020304" pitchFamily="18" charset="0"/>
                <a:ea typeface="Aptos" panose="020B0004020202020204" pitchFamily="34" charset="0"/>
                <a:cs typeface="Times New Roman" panose="02020603050405020304" pitchFamily="18" charset="0"/>
              </a:rPr>
              <a:t> client </a:t>
            </a:r>
          </a:p>
          <a:p>
            <a:pPr marL="342900" lvl="0" indent="-342900">
              <a:buSzPts val="1000"/>
              <a:buFont typeface="Symbol" pitchFamily="2" charset="2"/>
              <a:buChar char=""/>
              <a:tabLst>
                <a:tab pos="457200" algn="l"/>
              </a:tabLst>
            </a:pPr>
            <a:r>
              <a:rPr lang="en-GB" sz="1800" dirty="0">
                <a:effectLst/>
                <a:latin typeface="Times New Roman" panose="02020603050405020304" pitchFamily="18" charset="0"/>
                <a:ea typeface="Aptos" panose="020B0004020202020204" pitchFamily="34" charset="0"/>
                <a:cs typeface="Times New Roman" panose="02020603050405020304" pitchFamily="18" charset="0"/>
              </a:rPr>
              <a:t>To override the default role, </a:t>
            </a:r>
            <a:r>
              <a:rPr lang="en-GB" dirty="0">
                <a:latin typeface="Times New Roman" panose="02020603050405020304" pitchFamily="18" charset="0"/>
                <a:ea typeface="Aptos" panose="020B0004020202020204" pitchFamily="34" charset="0"/>
                <a:cs typeface="Times New Roman" panose="02020603050405020304" pitchFamily="18" charset="0"/>
              </a:rPr>
              <a:t>Elevate</a:t>
            </a:r>
            <a:r>
              <a:rPr lang="en-GB" sz="1800" dirty="0">
                <a:effectLst/>
                <a:latin typeface="Times New Roman" panose="02020603050405020304" pitchFamily="18" charset="0"/>
                <a:ea typeface="Aptos" panose="020B0004020202020204" pitchFamily="34" charset="0"/>
                <a:cs typeface="Times New Roman" panose="02020603050405020304" pitchFamily="18" charset="0"/>
              </a:rPr>
              <a:t> frontend must set a value for x-</a:t>
            </a:r>
            <a:r>
              <a:rPr lang="en-GB" sz="1800" dirty="0" err="1">
                <a:effectLst/>
                <a:latin typeface="Times New Roman" panose="02020603050405020304" pitchFamily="18" charset="0"/>
                <a:ea typeface="Aptos" panose="020B0004020202020204" pitchFamily="34" charset="0"/>
                <a:cs typeface="Times New Roman" panose="02020603050405020304" pitchFamily="18" charset="0"/>
              </a:rPr>
              <a:t>hasura</a:t>
            </a:r>
            <a:r>
              <a:rPr lang="en-GB" sz="1800" dirty="0">
                <a:effectLst/>
                <a:latin typeface="Times New Roman" panose="02020603050405020304" pitchFamily="18" charset="0"/>
                <a:ea typeface="Aptos" panose="020B0004020202020204" pitchFamily="34" charset="0"/>
                <a:cs typeface="Times New Roman" panose="02020603050405020304" pitchFamily="18" charset="0"/>
              </a:rPr>
              <a:t>-default-role in HTTP header</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15321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8B10B7-87BC-02CB-23B0-5B95AF419404}"/>
              </a:ext>
            </a:extLst>
          </p:cNvPr>
          <p:cNvSpPr txBox="1"/>
          <p:nvPr/>
        </p:nvSpPr>
        <p:spPr>
          <a:xfrm>
            <a:off x="2912532" y="410275"/>
            <a:ext cx="6096000" cy="5909310"/>
          </a:xfrm>
          <a:prstGeom prst="rect">
            <a:avLst/>
          </a:prstGeom>
          <a:solidFill>
            <a:srgbClr val="FFFF00"/>
          </a:solidFill>
        </p:spPr>
        <p:txBody>
          <a:bodyPr wrap="square">
            <a:spAutoFit/>
          </a:bodyPr>
          <a:lstStyle/>
          <a:p>
            <a:pPr marL="285750" indent="-285750">
              <a:buFont typeface="Arial" panose="020B0604020202020204" pitchFamily="34" charset="0"/>
              <a:buChar char="•"/>
            </a:pPr>
            <a:r>
              <a:rPr lang="en-GB" b="1" dirty="0">
                <a:latin typeface="-apple-system"/>
              </a:rPr>
              <a:t>L</a:t>
            </a:r>
            <a:r>
              <a:rPr lang="en-GB" b="1" i="0" u="none" strike="noStrike" dirty="0">
                <a:effectLst/>
                <a:latin typeface="-apple-system"/>
              </a:rPr>
              <a:t>everage Cognito groups for customer roles and custom attributes </a:t>
            </a:r>
            <a:r>
              <a:rPr lang="en-GB" b="1" dirty="0">
                <a:latin typeface="-apple-system"/>
              </a:rPr>
              <a:t>such as </a:t>
            </a:r>
            <a:r>
              <a:rPr lang="en-GB" b="1" dirty="0" err="1">
                <a:latin typeface="-apple-system"/>
              </a:rPr>
              <a:t>frontier_customer_id</a:t>
            </a:r>
            <a:endParaRPr lang="en-GB" b="1" dirty="0">
              <a:latin typeface="-apple-system"/>
            </a:endParaRPr>
          </a:p>
          <a:p>
            <a:pPr marL="285750" indent="-285750">
              <a:buFont typeface="Arial" panose="020B0604020202020204" pitchFamily="34" charset="0"/>
              <a:buChar char="•"/>
            </a:pPr>
            <a:r>
              <a:rPr lang="en-GB" b="1" i="0" u="none" strike="noStrike" dirty="0">
                <a:effectLst/>
                <a:latin typeface="-apple-system"/>
              </a:rPr>
              <a:t>For each Elevate role such as operations, compliance etc., create a user group</a:t>
            </a:r>
          </a:p>
          <a:p>
            <a:pPr marL="285750" indent="-285750">
              <a:buFont typeface="Arial" panose="020B0604020202020204" pitchFamily="34" charset="0"/>
              <a:buChar char="•"/>
            </a:pPr>
            <a:r>
              <a:rPr lang="en-GB" b="1" i="0" u="none" strike="noStrike" dirty="0">
                <a:effectLst/>
                <a:latin typeface="-apple-system"/>
              </a:rPr>
              <a:t>For each role a user can have within an organization (like Maker, Checker, etc.), create separate Cognito groups</a:t>
            </a:r>
          </a:p>
          <a:p>
            <a:pPr marL="285750" indent="-285750">
              <a:buFont typeface="Arial" panose="020B0604020202020204" pitchFamily="34" charset="0"/>
              <a:buChar char="•"/>
            </a:pPr>
            <a:r>
              <a:rPr lang="en-GB" b="1" i="0" u="none" strike="noStrike" dirty="0">
                <a:effectLst/>
                <a:latin typeface="-apple-system"/>
              </a:rPr>
              <a:t>users can be assigned different roles by placing them in the appropriate groups within Cognito</a:t>
            </a:r>
          </a:p>
          <a:p>
            <a:pPr marL="285750" indent="-285750">
              <a:buFont typeface="Arial" panose="020B0604020202020204" pitchFamily="34" charset="0"/>
              <a:buChar char="•"/>
            </a:pPr>
            <a:r>
              <a:rPr lang="en-GB" b="1" i="0" u="none" strike="noStrike" dirty="0">
                <a:effectLst/>
                <a:latin typeface="-apple-system"/>
              </a:rPr>
              <a:t>Customer details will be linked to users, stored in custom attributes within Cognito</a:t>
            </a:r>
            <a:r>
              <a:rPr lang="en-GB" b="1" dirty="0">
                <a:latin typeface="-apple-system"/>
              </a:rPr>
              <a:t> and </a:t>
            </a:r>
            <a:r>
              <a:rPr lang="en-GB" b="1" i="0" u="none" strike="noStrike" dirty="0">
                <a:effectLst/>
                <a:latin typeface="-apple-system"/>
              </a:rPr>
              <a:t>retrieved whenever the user logs in.</a:t>
            </a:r>
          </a:p>
          <a:p>
            <a:pPr marL="285750" indent="-285750">
              <a:buFont typeface="Arial" panose="020B0604020202020204" pitchFamily="34" charset="0"/>
              <a:buChar char="•"/>
            </a:pPr>
            <a:r>
              <a:rPr lang="en-GB" b="1" dirty="0" err="1">
                <a:latin typeface="-apple-system"/>
              </a:rPr>
              <a:t>Hasura</a:t>
            </a:r>
            <a:r>
              <a:rPr lang="en-GB" b="1" dirty="0">
                <a:latin typeface="-apple-system"/>
              </a:rPr>
              <a:t> attributes such as x-</a:t>
            </a:r>
            <a:r>
              <a:rPr lang="en-GB" b="1" dirty="0" err="1">
                <a:latin typeface="-apple-system"/>
              </a:rPr>
              <a:t>hasura</a:t>
            </a:r>
            <a:r>
              <a:rPr lang="en-GB" b="1" dirty="0">
                <a:latin typeface="-apple-system"/>
              </a:rPr>
              <a:t>-default-role can be initialised in the pre-auth Lambda function</a:t>
            </a:r>
            <a:endParaRPr lang="en-GB" b="1" i="0" u="none" strike="noStrike" dirty="0">
              <a:effectLst/>
              <a:latin typeface="-apple-system"/>
            </a:endParaRPr>
          </a:p>
          <a:p>
            <a:pPr marL="285750" indent="-285750">
              <a:buFont typeface="Arial" panose="020B0604020202020204" pitchFamily="34" charset="0"/>
              <a:buChar char="•"/>
            </a:pPr>
            <a:r>
              <a:rPr lang="en-GB" b="1" i="0" u="none" strike="noStrike" dirty="0">
                <a:effectLst/>
                <a:latin typeface="-apple-system"/>
              </a:rPr>
              <a:t>On the backend side, when a user logs in, you can check both their assigned Cognito group (for their role) and their organization from the custom attributes to make authorization decisions. This setup keeps user management in Cognito, while Postgres holds the organization data, which you can link by querying when needed. This keeps everything in Cognito for user and role management. </a:t>
            </a:r>
            <a:endParaRPr lang="en-GB" b="1" dirty="0"/>
          </a:p>
        </p:txBody>
      </p:sp>
    </p:spTree>
    <p:extLst>
      <p:ext uri="{BB962C8B-B14F-4D97-AF65-F5344CB8AC3E}">
        <p14:creationId xmlns:p14="http://schemas.microsoft.com/office/powerpoint/2010/main" val="2838583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E559D998-AB6C-46E1-B394-118E9A1E2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JWT Mode">
            <a:extLst>
              <a:ext uri="{FF2B5EF4-FFF2-40B4-BE49-F238E27FC236}">
                <a16:creationId xmlns:a16="http://schemas.microsoft.com/office/drawing/2014/main" id="{9AB243FB-6CF0-81DA-B1B7-52930D5837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15" b="-1"/>
          <a:stretch>
            <a:fillRect/>
          </a:stretch>
        </p:blipFill>
        <p:spPr bwMode="auto">
          <a:xfrm>
            <a:off x="20" y="10"/>
            <a:ext cx="12191980" cy="6865943"/>
          </a:xfrm>
          <a:custGeom>
            <a:avLst/>
            <a:gdLst/>
            <a:ahLst/>
            <a:cxnLst/>
            <a:rect l="l" t="t" r="r" b="b"/>
            <a:pathLst>
              <a:path w="12192000" h="6857681">
                <a:moveTo>
                  <a:pt x="0" y="0"/>
                </a:moveTo>
                <a:lnTo>
                  <a:pt x="6033794" y="0"/>
                </a:lnTo>
                <a:lnTo>
                  <a:pt x="6104632" y="17448"/>
                </a:lnTo>
                <a:cubicBezTo>
                  <a:pt x="6167597" y="23966"/>
                  <a:pt x="6148747" y="27214"/>
                  <a:pt x="6198111" y="26888"/>
                </a:cubicBezTo>
                <a:cubicBezTo>
                  <a:pt x="6203032" y="26525"/>
                  <a:pt x="6212450" y="35708"/>
                  <a:pt x="6231511" y="33431"/>
                </a:cubicBezTo>
                <a:cubicBezTo>
                  <a:pt x="6261681" y="37362"/>
                  <a:pt x="6245025" y="48416"/>
                  <a:pt x="6283668" y="52056"/>
                </a:cubicBezTo>
                <a:cubicBezTo>
                  <a:pt x="6280095" y="55478"/>
                  <a:pt x="6317954" y="53783"/>
                  <a:pt x="6321602" y="65933"/>
                </a:cubicBezTo>
                <a:cubicBezTo>
                  <a:pt x="6338020" y="69803"/>
                  <a:pt x="6363241" y="73066"/>
                  <a:pt x="6382175" y="75274"/>
                </a:cubicBezTo>
                <a:cubicBezTo>
                  <a:pt x="6410543" y="81224"/>
                  <a:pt x="6424665" y="87641"/>
                  <a:pt x="6428857" y="91880"/>
                </a:cubicBezTo>
                <a:cubicBezTo>
                  <a:pt x="6457257" y="98611"/>
                  <a:pt x="6454186" y="99822"/>
                  <a:pt x="6491478" y="114104"/>
                </a:cubicBezTo>
                <a:cubicBezTo>
                  <a:pt x="6513363" y="108974"/>
                  <a:pt x="6532168" y="120070"/>
                  <a:pt x="6541328" y="130204"/>
                </a:cubicBezTo>
                <a:cubicBezTo>
                  <a:pt x="6566101" y="139804"/>
                  <a:pt x="6619910" y="162727"/>
                  <a:pt x="6655300" y="165762"/>
                </a:cubicBezTo>
                <a:cubicBezTo>
                  <a:pt x="6709422" y="165032"/>
                  <a:pt x="6694278" y="176304"/>
                  <a:pt x="6718357" y="184874"/>
                </a:cubicBezTo>
                <a:cubicBezTo>
                  <a:pt x="6737101" y="195527"/>
                  <a:pt x="6734493" y="186329"/>
                  <a:pt x="6754054" y="199796"/>
                </a:cubicBezTo>
                <a:lnTo>
                  <a:pt x="6790284" y="215417"/>
                </a:lnTo>
                <a:lnTo>
                  <a:pt x="6833979" y="239878"/>
                </a:lnTo>
                <a:lnTo>
                  <a:pt x="6843981" y="246602"/>
                </a:lnTo>
                <a:cubicBezTo>
                  <a:pt x="6849111" y="246626"/>
                  <a:pt x="6852366" y="247045"/>
                  <a:pt x="6854445" y="247782"/>
                </a:cubicBezTo>
                <a:cubicBezTo>
                  <a:pt x="6854496" y="247881"/>
                  <a:pt x="6854549" y="247980"/>
                  <a:pt x="6854600" y="248079"/>
                </a:cubicBezTo>
                <a:lnTo>
                  <a:pt x="6869364" y="251040"/>
                </a:lnTo>
                <a:cubicBezTo>
                  <a:pt x="6886479" y="251404"/>
                  <a:pt x="6920818" y="277370"/>
                  <a:pt x="6937072" y="276678"/>
                </a:cubicBezTo>
                <a:cubicBezTo>
                  <a:pt x="6944247" y="293133"/>
                  <a:pt x="6941053" y="265766"/>
                  <a:pt x="6968404" y="280704"/>
                </a:cubicBezTo>
                <a:cubicBezTo>
                  <a:pt x="6980596" y="282696"/>
                  <a:pt x="6985722" y="284716"/>
                  <a:pt x="6995938" y="286247"/>
                </a:cubicBezTo>
                <a:cubicBezTo>
                  <a:pt x="6996079" y="286667"/>
                  <a:pt x="7029560" y="289467"/>
                  <a:pt x="7029701" y="289887"/>
                </a:cubicBezTo>
                <a:lnTo>
                  <a:pt x="7054104" y="293980"/>
                </a:lnTo>
                <a:lnTo>
                  <a:pt x="7059678" y="296051"/>
                </a:lnTo>
                <a:lnTo>
                  <a:pt x="7092167" y="292851"/>
                </a:lnTo>
                <a:lnTo>
                  <a:pt x="7108387" y="292672"/>
                </a:lnTo>
                <a:lnTo>
                  <a:pt x="7114139" y="289579"/>
                </a:lnTo>
                <a:cubicBezTo>
                  <a:pt x="7119705" y="287930"/>
                  <a:pt x="7126840" y="287741"/>
                  <a:pt x="7137488" y="290860"/>
                </a:cubicBezTo>
                <a:lnTo>
                  <a:pt x="7139729" y="292153"/>
                </a:lnTo>
                <a:lnTo>
                  <a:pt x="7172532" y="286561"/>
                </a:lnTo>
                <a:cubicBezTo>
                  <a:pt x="7179544" y="284784"/>
                  <a:pt x="7207552" y="294171"/>
                  <a:pt x="7213458" y="290616"/>
                </a:cubicBezTo>
                <a:cubicBezTo>
                  <a:pt x="7269364" y="295457"/>
                  <a:pt x="7303569" y="278925"/>
                  <a:pt x="7371827" y="290351"/>
                </a:cubicBezTo>
                <a:cubicBezTo>
                  <a:pt x="7417519" y="294938"/>
                  <a:pt x="7443196" y="294841"/>
                  <a:pt x="7472683" y="298450"/>
                </a:cubicBezTo>
                <a:cubicBezTo>
                  <a:pt x="7502170" y="302059"/>
                  <a:pt x="7529752" y="308462"/>
                  <a:pt x="7548749" y="312007"/>
                </a:cubicBezTo>
                <a:cubicBezTo>
                  <a:pt x="7567746" y="315552"/>
                  <a:pt x="7562619" y="317217"/>
                  <a:pt x="7586664" y="319723"/>
                </a:cubicBezTo>
                <a:cubicBezTo>
                  <a:pt x="7610709" y="322229"/>
                  <a:pt x="7669675" y="320322"/>
                  <a:pt x="7693021" y="327043"/>
                </a:cubicBezTo>
                <a:cubicBezTo>
                  <a:pt x="7718238" y="326359"/>
                  <a:pt x="7721537" y="337391"/>
                  <a:pt x="7735314" y="336075"/>
                </a:cubicBezTo>
                <a:cubicBezTo>
                  <a:pt x="7806549" y="352546"/>
                  <a:pt x="7865892" y="349618"/>
                  <a:pt x="7952583" y="346950"/>
                </a:cubicBezTo>
                <a:cubicBezTo>
                  <a:pt x="8009730" y="351831"/>
                  <a:pt x="8008698" y="354607"/>
                  <a:pt x="8033745" y="357420"/>
                </a:cubicBezTo>
                <a:cubicBezTo>
                  <a:pt x="8041390" y="360247"/>
                  <a:pt x="8045181" y="350414"/>
                  <a:pt x="8052068" y="354306"/>
                </a:cubicBezTo>
                <a:lnTo>
                  <a:pt x="8087434" y="359505"/>
                </a:lnTo>
                <a:lnTo>
                  <a:pt x="8113399" y="369645"/>
                </a:lnTo>
                <a:lnTo>
                  <a:pt x="8137804" y="376078"/>
                </a:lnTo>
                <a:lnTo>
                  <a:pt x="8167138" y="378809"/>
                </a:lnTo>
                <a:cubicBezTo>
                  <a:pt x="8176124" y="381225"/>
                  <a:pt x="8176713" y="389019"/>
                  <a:pt x="8188557" y="388892"/>
                </a:cubicBezTo>
                <a:cubicBezTo>
                  <a:pt x="8224517" y="394064"/>
                  <a:pt x="8289287" y="398547"/>
                  <a:pt x="8338182" y="404244"/>
                </a:cubicBezTo>
                <a:cubicBezTo>
                  <a:pt x="8362404" y="400849"/>
                  <a:pt x="8397142" y="407351"/>
                  <a:pt x="8407187" y="417040"/>
                </a:cubicBezTo>
                <a:cubicBezTo>
                  <a:pt x="8419182" y="419735"/>
                  <a:pt x="8448098" y="419784"/>
                  <a:pt x="8459765" y="417876"/>
                </a:cubicBezTo>
                <a:cubicBezTo>
                  <a:pt x="8470121" y="418155"/>
                  <a:pt x="8471999" y="421843"/>
                  <a:pt x="8485759" y="423277"/>
                </a:cubicBezTo>
                <a:cubicBezTo>
                  <a:pt x="8500778" y="426656"/>
                  <a:pt x="8533354" y="442668"/>
                  <a:pt x="8547497" y="447675"/>
                </a:cubicBezTo>
                <a:cubicBezTo>
                  <a:pt x="8561640" y="452682"/>
                  <a:pt x="8547256" y="447497"/>
                  <a:pt x="8570615" y="453317"/>
                </a:cubicBezTo>
                <a:cubicBezTo>
                  <a:pt x="8578949" y="455301"/>
                  <a:pt x="8577204" y="463036"/>
                  <a:pt x="8595122" y="466725"/>
                </a:cubicBezTo>
                <a:cubicBezTo>
                  <a:pt x="8613041" y="470415"/>
                  <a:pt x="8653176" y="474680"/>
                  <a:pt x="8678126" y="475454"/>
                </a:cubicBezTo>
                <a:cubicBezTo>
                  <a:pt x="8706000" y="462935"/>
                  <a:pt x="8696233" y="479979"/>
                  <a:pt x="8747203" y="464224"/>
                </a:cubicBezTo>
                <a:cubicBezTo>
                  <a:pt x="8748514" y="466239"/>
                  <a:pt x="8769343" y="465372"/>
                  <a:pt x="8790692" y="466720"/>
                </a:cubicBezTo>
                <a:cubicBezTo>
                  <a:pt x="8812041" y="468068"/>
                  <a:pt x="8857501" y="479363"/>
                  <a:pt x="8875298" y="472310"/>
                </a:cubicBezTo>
                <a:lnTo>
                  <a:pt x="9032306" y="471571"/>
                </a:lnTo>
                <a:lnTo>
                  <a:pt x="9122435" y="483407"/>
                </a:lnTo>
                <a:cubicBezTo>
                  <a:pt x="9153775" y="485302"/>
                  <a:pt x="9159039" y="493942"/>
                  <a:pt x="9179171" y="490552"/>
                </a:cubicBezTo>
                <a:cubicBezTo>
                  <a:pt x="9213108" y="492737"/>
                  <a:pt x="9191622" y="508779"/>
                  <a:pt x="9230778" y="495862"/>
                </a:cubicBezTo>
                <a:cubicBezTo>
                  <a:pt x="9220076" y="509598"/>
                  <a:pt x="9249178" y="492136"/>
                  <a:pt x="9269314" y="503195"/>
                </a:cubicBezTo>
                <a:cubicBezTo>
                  <a:pt x="9297556" y="495041"/>
                  <a:pt x="9326591" y="505312"/>
                  <a:pt x="9343734" y="506508"/>
                </a:cubicBezTo>
                <a:cubicBezTo>
                  <a:pt x="9360877" y="507704"/>
                  <a:pt x="9347612" y="511465"/>
                  <a:pt x="9372172" y="510372"/>
                </a:cubicBezTo>
                <a:lnTo>
                  <a:pt x="9406856" y="515908"/>
                </a:lnTo>
                <a:cubicBezTo>
                  <a:pt x="9405045" y="511337"/>
                  <a:pt x="9410063" y="512684"/>
                  <a:pt x="9423824" y="513399"/>
                </a:cubicBezTo>
                <a:lnTo>
                  <a:pt x="9460782" y="509325"/>
                </a:lnTo>
                <a:lnTo>
                  <a:pt x="9486144" y="513434"/>
                </a:lnTo>
                <a:cubicBezTo>
                  <a:pt x="9489544" y="513295"/>
                  <a:pt x="9513720" y="508821"/>
                  <a:pt x="9513235" y="505310"/>
                </a:cubicBezTo>
                <a:cubicBezTo>
                  <a:pt x="9539685" y="520038"/>
                  <a:pt x="9542332" y="510786"/>
                  <a:pt x="9569455" y="507032"/>
                </a:cubicBezTo>
                <a:cubicBezTo>
                  <a:pt x="9592710" y="508415"/>
                  <a:pt x="9572665" y="508880"/>
                  <a:pt x="9628861" y="510620"/>
                </a:cubicBezTo>
                <a:cubicBezTo>
                  <a:pt x="9650737" y="526789"/>
                  <a:pt x="9635011" y="498901"/>
                  <a:pt x="9677951" y="521543"/>
                </a:cubicBezTo>
                <a:cubicBezTo>
                  <a:pt x="9680053" y="519778"/>
                  <a:pt x="9706563" y="521397"/>
                  <a:pt x="9720438" y="523172"/>
                </a:cubicBezTo>
                <a:cubicBezTo>
                  <a:pt x="9734313" y="524947"/>
                  <a:pt x="9746849" y="522784"/>
                  <a:pt x="9761204" y="532196"/>
                </a:cubicBezTo>
                <a:cubicBezTo>
                  <a:pt x="9771692" y="535091"/>
                  <a:pt x="9752949" y="530854"/>
                  <a:pt x="9785747" y="535781"/>
                </a:cubicBezTo>
                <a:cubicBezTo>
                  <a:pt x="9818545" y="540708"/>
                  <a:pt x="9925449" y="557390"/>
                  <a:pt x="9957993" y="561756"/>
                </a:cubicBezTo>
                <a:cubicBezTo>
                  <a:pt x="9990537" y="566122"/>
                  <a:pt x="9967648" y="568686"/>
                  <a:pt x="9981009" y="569119"/>
                </a:cubicBezTo>
                <a:cubicBezTo>
                  <a:pt x="9994370" y="569552"/>
                  <a:pt x="10023139" y="562486"/>
                  <a:pt x="10038159" y="564356"/>
                </a:cubicBezTo>
                <a:cubicBezTo>
                  <a:pt x="10057015" y="566262"/>
                  <a:pt x="10059811" y="573563"/>
                  <a:pt x="10071129" y="573194"/>
                </a:cubicBezTo>
                <a:cubicBezTo>
                  <a:pt x="10081593" y="562977"/>
                  <a:pt x="10092704" y="563090"/>
                  <a:pt x="10110830" y="569286"/>
                </a:cubicBezTo>
                <a:cubicBezTo>
                  <a:pt x="10144643" y="572070"/>
                  <a:pt x="10144670" y="561560"/>
                  <a:pt x="10177323" y="563075"/>
                </a:cubicBezTo>
                <a:cubicBezTo>
                  <a:pt x="10191652" y="562496"/>
                  <a:pt x="10199318" y="565790"/>
                  <a:pt x="10223224" y="562516"/>
                </a:cubicBezTo>
                <a:cubicBezTo>
                  <a:pt x="10240245" y="563214"/>
                  <a:pt x="10274444" y="564970"/>
                  <a:pt x="10297489" y="554688"/>
                </a:cubicBezTo>
                <a:cubicBezTo>
                  <a:pt x="10322484" y="553379"/>
                  <a:pt x="10304332" y="552915"/>
                  <a:pt x="10331612" y="555505"/>
                </a:cubicBezTo>
                <a:cubicBezTo>
                  <a:pt x="10364938" y="556023"/>
                  <a:pt x="10378810" y="549792"/>
                  <a:pt x="10398068" y="551274"/>
                </a:cubicBezTo>
                <a:cubicBezTo>
                  <a:pt x="10410608" y="547019"/>
                  <a:pt x="10396406" y="552090"/>
                  <a:pt x="10444604" y="546749"/>
                </a:cubicBezTo>
                <a:cubicBezTo>
                  <a:pt x="10463706" y="556208"/>
                  <a:pt x="10480046" y="543272"/>
                  <a:pt x="10496391" y="545310"/>
                </a:cubicBezTo>
                <a:cubicBezTo>
                  <a:pt x="10522313" y="544276"/>
                  <a:pt x="10586025" y="544389"/>
                  <a:pt x="10609659" y="542925"/>
                </a:cubicBezTo>
                <a:cubicBezTo>
                  <a:pt x="10633293" y="541461"/>
                  <a:pt x="10608137" y="539280"/>
                  <a:pt x="10638198" y="536528"/>
                </a:cubicBezTo>
                <a:cubicBezTo>
                  <a:pt x="10693566" y="548777"/>
                  <a:pt x="10724464" y="526732"/>
                  <a:pt x="10780502" y="524034"/>
                </a:cubicBezTo>
                <a:cubicBezTo>
                  <a:pt x="10814519" y="506962"/>
                  <a:pt x="10838626" y="524696"/>
                  <a:pt x="10875821" y="511631"/>
                </a:cubicBezTo>
                <a:cubicBezTo>
                  <a:pt x="10900992" y="507636"/>
                  <a:pt x="10904648" y="511453"/>
                  <a:pt x="10918825" y="509588"/>
                </a:cubicBezTo>
                <a:cubicBezTo>
                  <a:pt x="10933002" y="507723"/>
                  <a:pt x="10948992" y="503227"/>
                  <a:pt x="10960884" y="500440"/>
                </a:cubicBezTo>
                <a:cubicBezTo>
                  <a:pt x="10967249" y="504078"/>
                  <a:pt x="11016720" y="497668"/>
                  <a:pt x="11015578" y="492864"/>
                </a:cubicBezTo>
                <a:cubicBezTo>
                  <a:pt x="11022928" y="494510"/>
                  <a:pt x="11043247" y="500882"/>
                  <a:pt x="11045541" y="493276"/>
                </a:cubicBezTo>
                <a:cubicBezTo>
                  <a:pt x="11083069" y="493195"/>
                  <a:pt x="11104152" y="492128"/>
                  <a:pt x="11136980" y="502266"/>
                </a:cubicBezTo>
                <a:cubicBezTo>
                  <a:pt x="11160311" y="506043"/>
                  <a:pt x="11144016" y="504016"/>
                  <a:pt x="11158537" y="506413"/>
                </a:cubicBezTo>
                <a:cubicBezTo>
                  <a:pt x="11173058" y="508810"/>
                  <a:pt x="11197248" y="504516"/>
                  <a:pt x="11220930" y="503946"/>
                </a:cubicBezTo>
                <a:cubicBezTo>
                  <a:pt x="11244941" y="504078"/>
                  <a:pt x="11272916" y="508160"/>
                  <a:pt x="11290697" y="509588"/>
                </a:cubicBezTo>
                <a:cubicBezTo>
                  <a:pt x="11308478" y="511016"/>
                  <a:pt x="11312720" y="510673"/>
                  <a:pt x="11327615" y="512515"/>
                </a:cubicBezTo>
                <a:cubicBezTo>
                  <a:pt x="11352471" y="509065"/>
                  <a:pt x="11373358" y="510883"/>
                  <a:pt x="11391973" y="518258"/>
                </a:cubicBezTo>
                <a:cubicBezTo>
                  <a:pt x="11406458" y="520151"/>
                  <a:pt x="11399034" y="524460"/>
                  <a:pt x="11409760" y="526257"/>
                </a:cubicBezTo>
                <a:cubicBezTo>
                  <a:pt x="11420486" y="528054"/>
                  <a:pt x="11427325" y="519930"/>
                  <a:pt x="11456330" y="521896"/>
                </a:cubicBezTo>
                <a:cubicBezTo>
                  <a:pt x="11466649" y="522293"/>
                  <a:pt x="11466304" y="529914"/>
                  <a:pt x="11488341" y="531019"/>
                </a:cubicBezTo>
                <a:cubicBezTo>
                  <a:pt x="11510378" y="532124"/>
                  <a:pt x="11598983" y="536881"/>
                  <a:pt x="11631415" y="538053"/>
                </a:cubicBezTo>
                <a:cubicBezTo>
                  <a:pt x="11663847" y="539225"/>
                  <a:pt x="11650717" y="536007"/>
                  <a:pt x="11666264" y="535672"/>
                </a:cubicBezTo>
                <a:cubicBezTo>
                  <a:pt x="11681811" y="535337"/>
                  <a:pt x="11700204" y="526934"/>
                  <a:pt x="11724698" y="536041"/>
                </a:cubicBezTo>
                <a:cubicBezTo>
                  <a:pt x="11743020" y="531196"/>
                  <a:pt x="11743491" y="542315"/>
                  <a:pt x="11763807" y="545183"/>
                </a:cubicBezTo>
                <a:cubicBezTo>
                  <a:pt x="11775016" y="549241"/>
                  <a:pt x="11789046" y="548064"/>
                  <a:pt x="11798300" y="550863"/>
                </a:cubicBezTo>
                <a:cubicBezTo>
                  <a:pt x="11807554" y="553662"/>
                  <a:pt x="11814870" y="554166"/>
                  <a:pt x="11821716" y="557213"/>
                </a:cubicBezTo>
                <a:cubicBezTo>
                  <a:pt x="11828562" y="560260"/>
                  <a:pt x="11830643" y="566367"/>
                  <a:pt x="11839374" y="569145"/>
                </a:cubicBezTo>
                <a:cubicBezTo>
                  <a:pt x="11848105" y="571923"/>
                  <a:pt x="11861759" y="576813"/>
                  <a:pt x="11871722" y="578644"/>
                </a:cubicBezTo>
                <a:cubicBezTo>
                  <a:pt x="11881685" y="580475"/>
                  <a:pt x="11880173" y="577641"/>
                  <a:pt x="11899154" y="580133"/>
                </a:cubicBezTo>
                <a:cubicBezTo>
                  <a:pt x="11930093" y="585454"/>
                  <a:pt x="11957956" y="589309"/>
                  <a:pt x="11992753" y="588833"/>
                </a:cubicBezTo>
                <a:cubicBezTo>
                  <a:pt x="11999276" y="598540"/>
                  <a:pt x="12009663" y="594134"/>
                  <a:pt x="12023554" y="588997"/>
                </a:cubicBezTo>
                <a:cubicBezTo>
                  <a:pt x="12049522" y="596077"/>
                  <a:pt x="12093380" y="601562"/>
                  <a:pt x="12137802" y="617391"/>
                </a:cubicBezTo>
                <a:cubicBezTo>
                  <a:pt x="12156710" y="627093"/>
                  <a:pt x="12160884" y="628759"/>
                  <a:pt x="12174434" y="631430"/>
                </a:cubicBezTo>
                <a:lnTo>
                  <a:pt x="12192000" y="634770"/>
                </a:lnTo>
                <a:lnTo>
                  <a:pt x="12192000" y="6857681"/>
                </a:lnTo>
                <a:lnTo>
                  <a:pt x="9979612" y="6857681"/>
                </a:lnTo>
                <a:lnTo>
                  <a:pt x="9971269" y="6854457"/>
                </a:lnTo>
                <a:cubicBezTo>
                  <a:pt x="9959912" y="6851181"/>
                  <a:pt x="9949163" y="6849764"/>
                  <a:pt x="9939502" y="6851921"/>
                </a:cubicBezTo>
                <a:cubicBezTo>
                  <a:pt x="9891606" y="6835635"/>
                  <a:pt x="9864404" y="6844006"/>
                  <a:pt x="9834453" y="6832151"/>
                </a:cubicBezTo>
                <a:cubicBezTo>
                  <a:pt x="9804501" y="6820296"/>
                  <a:pt x="9801374" y="6798259"/>
                  <a:pt x="9759795" y="6780787"/>
                </a:cubicBezTo>
                <a:cubicBezTo>
                  <a:pt x="9718217" y="6763314"/>
                  <a:pt x="9629817" y="6740362"/>
                  <a:pt x="9584980" y="6727313"/>
                </a:cubicBezTo>
                <a:cubicBezTo>
                  <a:pt x="9546420" y="6722010"/>
                  <a:pt x="9530408" y="6725469"/>
                  <a:pt x="9490770" y="6702489"/>
                </a:cubicBezTo>
                <a:cubicBezTo>
                  <a:pt x="9443320" y="6701025"/>
                  <a:pt x="9424336" y="6690023"/>
                  <a:pt x="9380405" y="6676541"/>
                </a:cubicBezTo>
                <a:cubicBezTo>
                  <a:pt x="9335978" y="6675243"/>
                  <a:pt x="9297645" y="6680915"/>
                  <a:pt x="9259939" y="6674414"/>
                </a:cubicBezTo>
                <a:cubicBezTo>
                  <a:pt x="9244772" y="6679394"/>
                  <a:pt x="9230416" y="6681084"/>
                  <a:pt x="9216296" y="6672209"/>
                </a:cubicBezTo>
                <a:cubicBezTo>
                  <a:pt x="9174886" y="6673387"/>
                  <a:pt x="9165078" y="6684906"/>
                  <a:pt x="9138624" y="6674601"/>
                </a:cubicBezTo>
                <a:cubicBezTo>
                  <a:pt x="9108454" y="6672027"/>
                  <a:pt x="9060163" y="6657862"/>
                  <a:pt x="9035273" y="6656766"/>
                </a:cubicBezTo>
                <a:cubicBezTo>
                  <a:pt x="9043993" y="6670577"/>
                  <a:pt x="8988276" y="6655711"/>
                  <a:pt x="8989286" y="6668016"/>
                </a:cubicBezTo>
                <a:cubicBezTo>
                  <a:pt x="8965548" y="6651220"/>
                  <a:pt x="8960144" y="6673151"/>
                  <a:pt x="8932387" y="6668707"/>
                </a:cubicBezTo>
                <a:cubicBezTo>
                  <a:pt x="8918435" y="6662528"/>
                  <a:pt x="8909159" y="6661716"/>
                  <a:pt x="8898375" y="6669282"/>
                </a:cubicBezTo>
                <a:cubicBezTo>
                  <a:pt x="8833747" y="6639096"/>
                  <a:pt x="8863155" y="6669089"/>
                  <a:pt x="8806495" y="6658618"/>
                </a:cubicBezTo>
                <a:cubicBezTo>
                  <a:pt x="8757168" y="6647242"/>
                  <a:pt x="8702613" y="6640665"/>
                  <a:pt x="8650927" y="6611139"/>
                </a:cubicBezTo>
                <a:cubicBezTo>
                  <a:pt x="8640770" y="6602610"/>
                  <a:pt x="8619775" y="6599998"/>
                  <a:pt x="8604033" y="6605300"/>
                </a:cubicBezTo>
                <a:cubicBezTo>
                  <a:pt x="8601324" y="6606213"/>
                  <a:pt x="8598878" y="6607331"/>
                  <a:pt x="8596767" y="6608618"/>
                </a:cubicBezTo>
                <a:cubicBezTo>
                  <a:pt x="8565299" y="6587556"/>
                  <a:pt x="8548876" y="6598771"/>
                  <a:pt x="8533762" y="6584302"/>
                </a:cubicBezTo>
                <a:cubicBezTo>
                  <a:pt x="8487059" y="6579247"/>
                  <a:pt x="8451683" y="6594395"/>
                  <a:pt x="8437660" y="6581725"/>
                </a:cubicBezTo>
                <a:cubicBezTo>
                  <a:pt x="8414209" y="6582991"/>
                  <a:pt x="8383722" y="6598678"/>
                  <a:pt x="8364494" y="6585073"/>
                </a:cubicBezTo>
                <a:cubicBezTo>
                  <a:pt x="8363342" y="6596536"/>
                  <a:pt x="8336540" y="6576888"/>
                  <a:pt x="8323751" y="6584665"/>
                </a:cubicBezTo>
                <a:cubicBezTo>
                  <a:pt x="8314841" y="6591411"/>
                  <a:pt x="8304634" y="6587022"/>
                  <a:pt x="8293791" y="6586903"/>
                </a:cubicBezTo>
                <a:cubicBezTo>
                  <a:pt x="8280721" y="6592424"/>
                  <a:pt x="8232642" y="6585021"/>
                  <a:pt x="8219223" y="6578961"/>
                </a:cubicBezTo>
                <a:cubicBezTo>
                  <a:pt x="8185638" y="6557431"/>
                  <a:pt x="8123924" y="6576522"/>
                  <a:pt x="8096330" y="6560092"/>
                </a:cubicBezTo>
                <a:cubicBezTo>
                  <a:pt x="8087121" y="6557869"/>
                  <a:pt x="8078422" y="6557144"/>
                  <a:pt x="8070086" y="6557355"/>
                </a:cubicBezTo>
                <a:lnTo>
                  <a:pt x="8047207" y="6560092"/>
                </a:lnTo>
                <a:lnTo>
                  <a:pt x="8041620" y="6565163"/>
                </a:lnTo>
                <a:lnTo>
                  <a:pt x="8027134" y="6564473"/>
                </a:lnTo>
                <a:lnTo>
                  <a:pt x="8023214" y="6565355"/>
                </a:lnTo>
                <a:cubicBezTo>
                  <a:pt x="8015729" y="6567060"/>
                  <a:pt x="8008307" y="6568574"/>
                  <a:pt x="8000801" y="6569339"/>
                </a:cubicBezTo>
                <a:cubicBezTo>
                  <a:pt x="8005606" y="6544751"/>
                  <a:pt x="7937754" y="6571777"/>
                  <a:pt x="7954618" y="6551428"/>
                </a:cubicBezTo>
                <a:cubicBezTo>
                  <a:pt x="7914215" y="6551344"/>
                  <a:pt x="7940865" y="6531998"/>
                  <a:pt x="7896427" y="6551123"/>
                </a:cubicBezTo>
                <a:lnTo>
                  <a:pt x="7643090" y="6532163"/>
                </a:lnTo>
                <a:cubicBezTo>
                  <a:pt x="7673996" y="6576436"/>
                  <a:pt x="7562550" y="6494154"/>
                  <a:pt x="7553164" y="6525457"/>
                </a:cubicBezTo>
                <a:cubicBezTo>
                  <a:pt x="7546247" y="6496957"/>
                  <a:pt x="7465610" y="6497391"/>
                  <a:pt x="7421154" y="6476273"/>
                </a:cubicBezTo>
                <a:cubicBezTo>
                  <a:pt x="7361551" y="6472649"/>
                  <a:pt x="7315144" y="6450550"/>
                  <a:pt x="7255968" y="6462166"/>
                </a:cubicBezTo>
                <a:cubicBezTo>
                  <a:pt x="7253251" y="6458417"/>
                  <a:pt x="7249451" y="6455333"/>
                  <a:pt x="7244911" y="6452730"/>
                </a:cubicBezTo>
                <a:lnTo>
                  <a:pt x="7230265" y="6446549"/>
                </a:lnTo>
                <a:lnTo>
                  <a:pt x="7227815" y="6447125"/>
                </a:lnTo>
                <a:cubicBezTo>
                  <a:pt x="7217801" y="6447570"/>
                  <a:pt x="7212312" y="6446146"/>
                  <a:pt x="7208840" y="6443899"/>
                </a:cubicBezTo>
                <a:lnTo>
                  <a:pt x="7205995" y="6440529"/>
                </a:lnTo>
                <a:lnTo>
                  <a:pt x="7193384" y="6437481"/>
                </a:lnTo>
                <a:lnTo>
                  <a:pt x="7169652" y="6429226"/>
                </a:lnTo>
                <a:lnTo>
                  <a:pt x="7164173" y="6429791"/>
                </a:lnTo>
                <a:lnTo>
                  <a:pt x="7126763" y="6420626"/>
                </a:lnTo>
                <a:lnTo>
                  <a:pt x="7125753" y="6421501"/>
                </a:lnTo>
                <a:cubicBezTo>
                  <a:pt x="7122639" y="6423254"/>
                  <a:pt x="7118733" y="6424154"/>
                  <a:pt x="7113057" y="6423293"/>
                </a:cubicBezTo>
                <a:cubicBezTo>
                  <a:pt x="7114552" y="6439288"/>
                  <a:pt x="7106783" y="6428384"/>
                  <a:pt x="7089914" y="6424434"/>
                </a:cubicBezTo>
                <a:cubicBezTo>
                  <a:pt x="7088470" y="6448394"/>
                  <a:pt x="7044915" y="6428308"/>
                  <a:pt x="7030458" y="6439456"/>
                </a:cubicBezTo>
                <a:cubicBezTo>
                  <a:pt x="7018098" y="6436014"/>
                  <a:pt x="7005002" y="6432811"/>
                  <a:pt x="6991398" y="6430012"/>
                </a:cubicBezTo>
                <a:lnTo>
                  <a:pt x="6983250" y="6428652"/>
                </a:lnTo>
                <a:lnTo>
                  <a:pt x="6982969" y="6428851"/>
                </a:lnTo>
                <a:cubicBezTo>
                  <a:pt x="6980946" y="6429033"/>
                  <a:pt x="6978171" y="6428766"/>
                  <a:pt x="6974140" y="6427864"/>
                </a:cubicBezTo>
                <a:lnTo>
                  <a:pt x="6968396" y="6426177"/>
                </a:lnTo>
                <a:lnTo>
                  <a:pt x="6952590" y="6423541"/>
                </a:lnTo>
                <a:lnTo>
                  <a:pt x="6946361" y="6424122"/>
                </a:lnTo>
                <a:lnTo>
                  <a:pt x="6942752" y="6426497"/>
                </a:lnTo>
                <a:lnTo>
                  <a:pt x="6941472" y="6425953"/>
                </a:lnTo>
                <a:cubicBezTo>
                  <a:pt x="6933258" y="6419432"/>
                  <a:pt x="6934084" y="6412085"/>
                  <a:pt x="6907932" y="6428597"/>
                </a:cubicBezTo>
                <a:cubicBezTo>
                  <a:pt x="6887113" y="6416820"/>
                  <a:pt x="6874835" y="6427475"/>
                  <a:pt x="6837100" y="6425985"/>
                </a:cubicBezTo>
                <a:cubicBezTo>
                  <a:pt x="6826990" y="6416391"/>
                  <a:pt x="6813527" y="6417132"/>
                  <a:pt x="6798354" y="6421041"/>
                </a:cubicBezTo>
                <a:cubicBezTo>
                  <a:pt x="6766250" y="6412267"/>
                  <a:pt x="6729955" y="6415375"/>
                  <a:pt x="6690235" y="6411268"/>
                </a:cubicBezTo>
                <a:cubicBezTo>
                  <a:pt x="6654585" y="6395260"/>
                  <a:pt x="6622599" y="6408785"/>
                  <a:pt x="6580197" y="6404322"/>
                </a:cubicBezTo>
                <a:cubicBezTo>
                  <a:pt x="6554864" y="6382418"/>
                  <a:pt x="6541862" y="6413854"/>
                  <a:pt x="6516748" y="6416928"/>
                </a:cubicBezTo>
                <a:lnTo>
                  <a:pt x="6510427" y="6416567"/>
                </a:lnTo>
                <a:lnTo>
                  <a:pt x="6496409" y="6411723"/>
                </a:lnTo>
                <a:lnTo>
                  <a:pt x="6491671" y="6409264"/>
                </a:lnTo>
                <a:cubicBezTo>
                  <a:pt x="6488210" y="6407807"/>
                  <a:pt x="6485652" y="6407144"/>
                  <a:pt x="6483603" y="6407023"/>
                </a:cubicBezTo>
                <a:lnTo>
                  <a:pt x="6483235" y="6407169"/>
                </a:lnTo>
                <a:lnTo>
                  <a:pt x="6476007" y="6404672"/>
                </a:lnTo>
                <a:cubicBezTo>
                  <a:pt x="6464202" y="6399995"/>
                  <a:pt x="6453088" y="6395002"/>
                  <a:pt x="6442802" y="6389891"/>
                </a:cubicBezTo>
                <a:cubicBezTo>
                  <a:pt x="6423332" y="6398448"/>
                  <a:pt x="6390988" y="6372810"/>
                  <a:pt x="6377838" y="6395551"/>
                </a:cubicBezTo>
                <a:cubicBezTo>
                  <a:pt x="6363436" y="6389290"/>
                  <a:pt x="6361258" y="6377704"/>
                  <a:pt x="6354860" y="6393247"/>
                </a:cubicBezTo>
                <a:cubicBezTo>
                  <a:pt x="6349784" y="6391587"/>
                  <a:pt x="6345558" y="6391878"/>
                  <a:pt x="6341683" y="6393098"/>
                </a:cubicBezTo>
                <a:lnTo>
                  <a:pt x="6340276" y="6393789"/>
                </a:lnTo>
                <a:lnTo>
                  <a:pt x="6308531" y="6379516"/>
                </a:lnTo>
                <a:lnTo>
                  <a:pt x="6302948" y="6379253"/>
                </a:lnTo>
                <a:cubicBezTo>
                  <a:pt x="6248814" y="6382108"/>
                  <a:pt x="6205926" y="6362006"/>
                  <a:pt x="6140607" y="6334265"/>
                </a:cubicBezTo>
                <a:cubicBezTo>
                  <a:pt x="6137487" y="6331108"/>
                  <a:pt x="6051161" y="6339116"/>
                  <a:pt x="6050365" y="6335126"/>
                </a:cubicBezTo>
                <a:cubicBezTo>
                  <a:pt x="6006576" y="6331181"/>
                  <a:pt x="6035144" y="6327580"/>
                  <a:pt x="5978838" y="6322018"/>
                </a:cubicBezTo>
                <a:cubicBezTo>
                  <a:pt x="5962530" y="6314338"/>
                  <a:pt x="5894920" y="6289616"/>
                  <a:pt x="5897645" y="6301654"/>
                </a:cubicBezTo>
                <a:lnTo>
                  <a:pt x="5796158" y="6279213"/>
                </a:lnTo>
                <a:lnTo>
                  <a:pt x="5664797" y="6258481"/>
                </a:lnTo>
                <a:lnTo>
                  <a:pt x="5558293" y="6242384"/>
                </a:lnTo>
                <a:lnTo>
                  <a:pt x="5549921" y="6243309"/>
                </a:lnTo>
                <a:lnTo>
                  <a:pt x="5528450" y="6240218"/>
                </a:lnTo>
                <a:lnTo>
                  <a:pt x="5520604" y="6238128"/>
                </a:lnTo>
                <a:cubicBezTo>
                  <a:pt x="5515114" y="6237034"/>
                  <a:pt x="5511354" y="6236750"/>
                  <a:pt x="5508634" y="6237043"/>
                </a:cubicBezTo>
                <a:lnTo>
                  <a:pt x="5508268" y="6237311"/>
                </a:lnTo>
                <a:lnTo>
                  <a:pt x="5497199" y="6235718"/>
                </a:lnTo>
                <a:cubicBezTo>
                  <a:pt x="5478687" y="6232353"/>
                  <a:pt x="5460838" y="6228438"/>
                  <a:pt x="5443971" y="6224189"/>
                </a:cubicBezTo>
                <a:cubicBezTo>
                  <a:pt x="5425088" y="6239333"/>
                  <a:pt x="5365198" y="6213813"/>
                  <a:pt x="5364587" y="6245607"/>
                </a:cubicBezTo>
                <a:cubicBezTo>
                  <a:pt x="5341603" y="6240798"/>
                  <a:pt x="5330518" y="6226543"/>
                  <a:pt x="5333425" y="6247706"/>
                </a:cubicBezTo>
                <a:cubicBezTo>
                  <a:pt x="5325718" y="6246708"/>
                  <a:pt x="5320498" y="6247999"/>
                  <a:pt x="5316391" y="6250403"/>
                </a:cubicBezTo>
                <a:lnTo>
                  <a:pt x="5315083" y="6251588"/>
                </a:lnTo>
                <a:lnTo>
                  <a:pt x="5264093" y="6240388"/>
                </a:lnTo>
                <a:lnTo>
                  <a:pt x="5256734" y="6241276"/>
                </a:lnTo>
                <a:lnTo>
                  <a:pt x="5224251" y="6230935"/>
                </a:lnTo>
                <a:lnTo>
                  <a:pt x="5207068" y="6227214"/>
                </a:lnTo>
                <a:lnTo>
                  <a:pt x="5203042" y="6222819"/>
                </a:lnTo>
                <a:lnTo>
                  <a:pt x="5013633" y="6212104"/>
                </a:lnTo>
                <a:cubicBezTo>
                  <a:pt x="5007363" y="6208771"/>
                  <a:pt x="4867451" y="6189553"/>
                  <a:pt x="4863573" y="6184654"/>
                </a:cubicBezTo>
                <a:lnTo>
                  <a:pt x="4651416" y="6166539"/>
                </a:lnTo>
                <a:cubicBezTo>
                  <a:pt x="4624977" y="6160344"/>
                  <a:pt x="4469364" y="6128170"/>
                  <a:pt x="4481486" y="6142882"/>
                </a:cubicBezTo>
                <a:cubicBezTo>
                  <a:pt x="4405439" y="6106748"/>
                  <a:pt x="4365783" y="6101727"/>
                  <a:pt x="4269331" y="6098123"/>
                </a:cubicBezTo>
                <a:cubicBezTo>
                  <a:pt x="4210440" y="6124597"/>
                  <a:pt x="4245321" y="6098279"/>
                  <a:pt x="4190801" y="6099192"/>
                </a:cubicBezTo>
                <a:cubicBezTo>
                  <a:pt x="4212420" y="6071793"/>
                  <a:pt x="4151268" y="6084104"/>
                  <a:pt x="4127486" y="6076624"/>
                </a:cubicBezTo>
                <a:cubicBezTo>
                  <a:pt x="4117403" y="6077826"/>
                  <a:pt x="4107474" y="6080022"/>
                  <a:pt x="4097468" y="6082472"/>
                </a:cubicBezTo>
                <a:lnTo>
                  <a:pt x="4092230" y="6083737"/>
                </a:lnTo>
                <a:lnTo>
                  <a:pt x="4072646" y="6083192"/>
                </a:lnTo>
                <a:lnTo>
                  <a:pt x="4065392" y="6090055"/>
                </a:lnTo>
                <a:lnTo>
                  <a:pt x="4034674" y="6094262"/>
                </a:lnTo>
                <a:cubicBezTo>
                  <a:pt x="4023438" y="6094753"/>
                  <a:pt x="4011659" y="6094013"/>
                  <a:pt x="3999109" y="6091300"/>
                </a:cubicBezTo>
                <a:cubicBezTo>
                  <a:pt x="3960965" y="6070220"/>
                  <a:pt x="3878759" y="6097089"/>
                  <a:pt x="3832245" y="6069403"/>
                </a:cubicBezTo>
                <a:cubicBezTo>
                  <a:pt x="3780875" y="6064935"/>
                  <a:pt x="3723613" y="6065226"/>
                  <a:pt x="3690889" y="6064489"/>
                </a:cubicBezTo>
                <a:cubicBezTo>
                  <a:pt x="3674068" y="6075123"/>
                  <a:pt x="3636813" y="6049759"/>
                  <a:pt x="3635899" y="6064980"/>
                </a:cubicBezTo>
                <a:lnTo>
                  <a:pt x="3620576" y="6070271"/>
                </a:lnTo>
                <a:lnTo>
                  <a:pt x="3604087" y="6064439"/>
                </a:lnTo>
                <a:cubicBezTo>
                  <a:pt x="3590166" y="6069757"/>
                  <a:pt x="3579308" y="6073243"/>
                  <a:pt x="3568387" y="6069146"/>
                </a:cubicBezTo>
                <a:lnTo>
                  <a:pt x="3503818" y="6089506"/>
                </a:lnTo>
                <a:cubicBezTo>
                  <a:pt x="3510915" y="6100196"/>
                  <a:pt x="3472416" y="6088681"/>
                  <a:pt x="3466246" y="6098777"/>
                </a:cubicBezTo>
                <a:cubicBezTo>
                  <a:pt x="3462890" y="6107015"/>
                  <a:pt x="3450430" y="6105442"/>
                  <a:pt x="3440422" y="6107901"/>
                </a:cubicBezTo>
                <a:cubicBezTo>
                  <a:pt x="3432391" y="6116010"/>
                  <a:pt x="3383132" y="6120663"/>
                  <a:pt x="3366542" y="6118330"/>
                </a:cubicBezTo>
                <a:cubicBezTo>
                  <a:pt x="3311828" y="6124732"/>
                  <a:pt x="3277604" y="6138667"/>
                  <a:pt x="3240669" y="6130264"/>
                </a:cubicBezTo>
                <a:cubicBezTo>
                  <a:pt x="3230661" y="6130422"/>
                  <a:pt x="3222184" y="6131822"/>
                  <a:pt x="3214708" y="6133988"/>
                </a:cubicBezTo>
                <a:lnTo>
                  <a:pt x="3194214" y="6147821"/>
                </a:lnTo>
                <a:lnTo>
                  <a:pt x="3180468" y="6150623"/>
                </a:lnTo>
                <a:lnTo>
                  <a:pt x="3177508" y="6152351"/>
                </a:lnTo>
                <a:cubicBezTo>
                  <a:pt x="3171873" y="6155673"/>
                  <a:pt x="3166158" y="6158806"/>
                  <a:pt x="3159834" y="6161276"/>
                </a:cubicBezTo>
                <a:cubicBezTo>
                  <a:pt x="3135185" y="6159416"/>
                  <a:pt x="3121213" y="6160394"/>
                  <a:pt x="3104835" y="6155927"/>
                </a:cubicBezTo>
                <a:cubicBezTo>
                  <a:pt x="3067805" y="6165414"/>
                  <a:pt x="3078432" y="6141523"/>
                  <a:pt x="3051373" y="6169421"/>
                </a:cubicBezTo>
                <a:cubicBezTo>
                  <a:pt x="2978033" y="6169169"/>
                  <a:pt x="2947947" y="6220998"/>
                  <a:pt x="2877306" y="6208324"/>
                </a:cubicBezTo>
                <a:cubicBezTo>
                  <a:pt x="2821913" y="6217975"/>
                  <a:pt x="2762952" y="6223226"/>
                  <a:pt x="2719018" y="6227333"/>
                </a:cubicBezTo>
                <a:cubicBezTo>
                  <a:pt x="2639811" y="6232636"/>
                  <a:pt x="2504877" y="6234795"/>
                  <a:pt x="2454061" y="6236538"/>
                </a:cubicBezTo>
                <a:cubicBezTo>
                  <a:pt x="2403245" y="6238280"/>
                  <a:pt x="2420126" y="6239079"/>
                  <a:pt x="2414120" y="6237789"/>
                </a:cubicBezTo>
                <a:lnTo>
                  <a:pt x="2384765" y="6235638"/>
                </a:lnTo>
                <a:lnTo>
                  <a:pt x="2365600" y="6233135"/>
                </a:lnTo>
                <a:cubicBezTo>
                  <a:pt x="2356752" y="6235910"/>
                  <a:pt x="2350716" y="6235915"/>
                  <a:pt x="2345941" y="6234695"/>
                </a:cubicBezTo>
                <a:lnTo>
                  <a:pt x="2340941" y="6232305"/>
                </a:lnTo>
                <a:lnTo>
                  <a:pt x="2327235" y="6232519"/>
                </a:lnTo>
                <a:lnTo>
                  <a:pt x="2299646" y="6230633"/>
                </a:lnTo>
                <a:lnTo>
                  <a:pt x="2295035" y="6232443"/>
                </a:lnTo>
                <a:lnTo>
                  <a:pt x="2268728" y="6240177"/>
                </a:lnTo>
                <a:cubicBezTo>
                  <a:pt x="2268628" y="6240521"/>
                  <a:pt x="2254084" y="6233657"/>
                  <a:pt x="2253984" y="6234001"/>
                </a:cubicBezTo>
                <a:cubicBezTo>
                  <a:pt x="2239122" y="6237048"/>
                  <a:pt x="2209108" y="6234931"/>
                  <a:pt x="2191113" y="6240434"/>
                </a:cubicBezTo>
                <a:lnTo>
                  <a:pt x="2146012" y="6259810"/>
                </a:lnTo>
                <a:cubicBezTo>
                  <a:pt x="2145973" y="6259892"/>
                  <a:pt x="2128598" y="6274390"/>
                  <a:pt x="2128560" y="6274472"/>
                </a:cubicBezTo>
                <a:cubicBezTo>
                  <a:pt x="2126838" y="6275117"/>
                  <a:pt x="2124109" y="6275530"/>
                  <a:pt x="2119778" y="6275665"/>
                </a:cubicBezTo>
                <a:lnTo>
                  <a:pt x="2110434" y="6282700"/>
                </a:lnTo>
                <a:lnTo>
                  <a:pt x="2081418" y="6289059"/>
                </a:lnTo>
                <a:lnTo>
                  <a:pt x="2088526" y="6281659"/>
                </a:lnTo>
                <a:cubicBezTo>
                  <a:pt x="2076371" y="6277676"/>
                  <a:pt x="2071903" y="6270803"/>
                  <a:pt x="2059717" y="6292002"/>
                </a:cubicBezTo>
                <a:cubicBezTo>
                  <a:pt x="2032291" y="6286224"/>
                  <a:pt x="2028634" y="6298813"/>
                  <a:pt x="1993045" y="6306390"/>
                </a:cubicBezTo>
                <a:cubicBezTo>
                  <a:pt x="1976971" y="6300063"/>
                  <a:pt x="1965178" y="6303922"/>
                  <a:pt x="1954075" y="6311066"/>
                </a:cubicBezTo>
                <a:cubicBezTo>
                  <a:pt x="1918456" y="6310689"/>
                  <a:pt x="1887456" y="6322102"/>
                  <a:pt x="1848190" y="6327771"/>
                </a:cubicBezTo>
                <a:lnTo>
                  <a:pt x="1737951" y="6344513"/>
                </a:lnTo>
                <a:lnTo>
                  <a:pt x="1696709" y="6346605"/>
                </a:lnTo>
                <a:cubicBezTo>
                  <a:pt x="1692504" y="6346100"/>
                  <a:pt x="1663837" y="6347211"/>
                  <a:pt x="1661872" y="6347587"/>
                </a:cubicBezTo>
                <a:lnTo>
                  <a:pt x="1655864" y="6347808"/>
                </a:lnTo>
                <a:lnTo>
                  <a:pt x="1633028" y="6358060"/>
                </a:lnTo>
                <a:cubicBezTo>
                  <a:pt x="1618899" y="6356602"/>
                  <a:pt x="1619623" y="6369112"/>
                  <a:pt x="1606576" y="6366899"/>
                </a:cubicBezTo>
                <a:lnTo>
                  <a:pt x="1461291" y="6379054"/>
                </a:lnTo>
                <a:lnTo>
                  <a:pt x="1428798" y="6379606"/>
                </a:lnTo>
                <a:cubicBezTo>
                  <a:pt x="1424834" y="6377722"/>
                  <a:pt x="1419064" y="6376842"/>
                  <a:pt x="1409244" y="6378241"/>
                </a:cubicBezTo>
                <a:lnTo>
                  <a:pt x="1406951" y="6379043"/>
                </a:lnTo>
                <a:lnTo>
                  <a:pt x="1391002" y="6374347"/>
                </a:lnTo>
                <a:cubicBezTo>
                  <a:pt x="1385899" y="6372215"/>
                  <a:pt x="1381417" y="6369535"/>
                  <a:pt x="1377852" y="6366097"/>
                </a:cubicBezTo>
                <a:cubicBezTo>
                  <a:pt x="1352108" y="6365458"/>
                  <a:pt x="1267249" y="6359383"/>
                  <a:pt x="1239424" y="6359700"/>
                </a:cubicBezTo>
                <a:cubicBezTo>
                  <a:pt x="1211599" y="6360016"/>
                  <a:pt x="1221978" y="6361392"/>
                  <a:pt x="1208014" y="6357188"/>
                </a:cubicBezTo>
                <a:lnTo>
                  <a:pt x="1152751" y="6345283"/>
                </a:lnTo>
                <a:lnTo>
                  <a:pt x="949771" y="6335308"/>
                </a:lnTo>
                <a:cubicBezTo>
                  <a:pt x="888502" y="6312655"/>
                  <a:pt x="822682" y="6331858"/>
                  <a:pt x="752723" y="6320875"/>
                </a:cubicBezTo>
                <a:cubicBezTo>
                  <a:pt x="697396" y="6317271"/>
                  <a:pt x="686655" y="6275609"/>
                  <a:pt x="665167" y="6275293"/>
                </a:cubicBezTo>
                <a:cubicBezTo>
                  <a:pt x="657908" y="6276764"/>
                  <a:pt x="625159" y="6270979"/>
                  <a:pt x="618141" y="6273378"/>
                </a:cubicBezTo>
                <a:cubicBezTo>
                  <a:pt x="606112" y="6250236"/>
                  <a:pt x="628751" y="6263137"/>
                  <a:pt x="596498" y="6261621"/>
                </a:cubicBezTo>
                <a:cubicBezTo>
                  <a:pt x="598654" y="6267969"/>
                  <a:pt x="583476" y="6241875"/>
                  <a:pt x="568296" y="6259035"/>
                </a:cubicBezTo>
                <a:lnTo>
                  <a:pt x="550874" y="6247808"/>
                </a:lnTo>
                <a:lnTo>
                  <a:pt x="521056" y="6251759"/>
                </a:lnTo>
                <a:cubicBezTo>
                  <a:pt x="512844" y="6252767"/>
                  <a:pt x="496898" y="6238469"/>
                  <a:pt x="487255" y="6237156"/>
                </a:cubicBezTo>
                <a:cubicBezTo>
                  <a:pt x="449168" y="6235869"/>
                  <a:pt x="452372" y="6218847"/>
                  <a:pt x="431825" y="6228675"/>
                </a:cubicBezTo>
                <a:cubicBezTo>
                  <a:pt x="409674" y="6239271"/>
                  <a:pt x="353899" y="6202116"/>
                  <a:pt x="346639" y="6209624"/>
                </a:cubicBezTo>
                <a:cubicBezTo>
                  <a:pt x="335776" y="6218525"/>
                  <a:pt x="269484" y="6176632"/>
                  <a:pt x="271007" y="6188053"/>
                </a:cubicBezTo>
                <a:cubicBezTo>
                  <a:pt x="223668" y="6157668"/>
                  <a:pt x="207158" y="6173403"/>
                  <a:pt x="189996" y="6162482"/>
                </a:cubicBezTo>
                <a:cubicBezTo>
                  <a:pt x="167941" y="6147838"/>
                  <a:pt x="134526" y="6155297"/>
                  <a:pt x="121342" y="6139836"/>
                </a:cubicBezTo>
                <a:cubicBezTo>
                  <a:pt x="108158" y="6124375"/>
                  <a:pt x="113782" y="6146084"/>
                  <a:pt x="90669" y="6116573"/>
                </a:cubicBezTo>
                <a:cubicBezTo>
                  <a:pt x="76705" y="6097951"/>
                  <a:pt x="64226" y="6077165"/>
                  <a:pt x="49115" y="6053333"/>
                </a:cubicBezTo>
                <a:cubicBezTo>
                  <a:pt x="34004" y="6029501"/>
                  <a:pt x="12038" y="6070748"/>
                  <a:pt x="0" y="602404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45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7D2F92B-41C3-FF98-0D17-EA8AF0D9F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888" y="0"/>
            <a:ext cx="76422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66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AE18-99A2-022B-6267-3DC1483205B0}"/>
              </a:ext>
            </a:extLst>
          </p:cNvPr>
          <p:cNvSpPr>
            <a:spLocks noGrp="1"/>
          </p:cNvSpPr>
          <p:nvPr>
            <p:ph type="title"/>
          </p:nvPr>
        </p:nvSpPr>
        <p:spPr>
          <a:xfrm>
            <a:off x="67734" y="60325"/>
            <a:ext cx="10515600" cy="422275"/>
          </a:xfrm>
        </p:spPr>
        <p:txBody>
          <a:bodyPr>
            <a:noAutofit/>
          </a:bodyPr>
          <a:lstStyle/>
          <a:p>
            <a:r>
              <a:rPr lang="en-GB" sz="2400" dirty="0"/>
              <a:t>Cognito pre-authentication</a:t>
            </a:r>
          </a:p>
        </p:txBody>
      </p:sp>
      <p:pic>
        <p:nvPicPr>
          <p:cNvPr id="5122" name="Picture 2" descr="Pre authentication Lambda trigger - client flow">
            <a:extLst>
              <a:ext uri="{FF2B5EF4-FFF2-40B4-BE49-F238E27FC236}">
                <a16:creationId xmlns:a16="http://schemas.microsoft.com/office/drawing/2014/main" id="{E2AD7382-B5A1-14E4-437E-52A46BF86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75" y="482600"/>
            <a:ext cx="8145463" cy="637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599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68479-4E15-A5ED-2A55-A58AFF4BE47B}"/>
              </a:ext>
            </a:extLst>
          </p:cNvPr>
          <p:cNvSpPr>
            <a:spLocks noGrp="1"/>
          </p:cNvSpPr>
          <p:nvPr>
            <p:ph type="title"/>
          </p:nvPr>
        </p:nvSpPr>
        <p:spPr/>
        <p:txBody>
          <a:bodyPr>
            <a:normAutofit/>
          </a:bodyPr>
          <a:lstStyle/>
          <a:p>
            <a:r>
              <a:rPr lang="en-GB" sz="2800" dirty="0"/>
              <a:t>Cognito Managed login</a:t>
            </a:r>
          </a:p>
        </p:txBody>
      </p:sp>
      <p:sp>
        <p:nvSpPr>
          <p:cNvPr id="3" name="Content Placeholder 2">
            <a:extLst>
              <a:ext uri="{FF2B5EF4-FFF2-40B4-BE49-F238E27FC236}">
                <a16:creationId xmlns:a16="http://schemas.microsoft.com/office/drawing/2014/main" id="{C5731F15-DB14-F98A-D517-56A0E1460F15}"/>
              </a:ext>
            </a:extLst>
          </p:cNvPr>
          <p:cNvSpPr>
            <a:spLocks noGrp="1"/>
          </p:cNvSpPr>
          <p:nvPr>
            <p:ph idx="1"/>
          </p:nvPr>
        </p:nvSpPr>
        <p:spPr/>
        <p:txBody>
          <a:bodyPr/>
          <a:lstStyle/>
          <a:p>
            <a:r>
              <a:rPr lang="en-GB" dirty="0"/>
              <a:t>Cognito provides UI for login, logout, forgotten password, change password</a:t>
            </a:r>
          </a:p>
        </p:txBody>
      </p:sp>
    </p:spTree>
    <p:extLst>
      <p:ext uri="{BB962C8B-B14F-4D97-AF65-F5344CB8AC3E}">
        <p14:creationId xmlns:p14="http://schemas.microsoft.com/office/powerpoint/2010/main" val="99597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06D5F7-325C-CF19-8D64-392D1997C163}"/>
              </a:ext>
            </a:extLst>
          </p:cNvPr>
          <p:cNvSpPr>
            <a:spLocks noGrp="1"/>
          </p:cNvSpPr>
          <p:nvPr>
            <p:ph type="title"/>
          </p:nvPr>
        </p:nvSpPr>
        <p:spPr>
          <a:xfrm>
            <a:off x="67734" y="60325"/>
            <a:ext cx="10515600" cy="422275"/>
          </a:xfrm>
        </p:spPr>
        <p:txBody>
          <a:bodyPr>
            <a:noAutofit/>
          </a:bodyPr>
          <a:lstStyle/>
          <a:p>
            <a:r>
              <a:rPr lang="en-GB" sz="2400" dirty="0"/>
              <a:t>Cognito post-authentication</a:t>
            </a:r>
          </a:p>
        </p:txBody>
      </p:sp>
      <p:pic>
        <p:nvPicPr>
          <p:cNvPr id="6146" name="Picture 2" descr="Post authentication Lambda trigger - client flow">
            <a:extLst>
              <a:ext uri="{FF2B5EF4-FFF2-40B4-BE49-F238E27FC236}">
                <a16:creationId xmlns:a16="http://schemas.microsoft.com/office/drawing/2014/main" id="{005D04F5-ADDF-B363-37F8-2A0AE6B87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963" y="694266"/>
            <a:ext cx="6959643" cy="54694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228CD11-8022-23A8-3D16-3B2B39D4AF35}"/>
              </a:ext>
            </a:extLst>
          </p:cNvPr>
          <p:cNvSpPr txBox="1"/>
          <p:nvPr/>
        </p:nvSpPr>
        <p:spPr>
          <a:xfrm>
            <a:off x="8759339" y="271462"/>
            <a:ext cx="2660650" cy="1754326"/>
          </a:xfrm>
          <a:prstGeom prst="rect">
            <a:avLst/>
          </a:prstGeom>
          <a:solidFill>
            <a:srgbClr val="FFFF00"/>
          </a:solidFill>
        </p:spPr>
        <p:txBody>
          <a:bodyPr wrap="square">
            <a:spAutoFit/>
          </a:bodyPr>
          <a:lstStyle/>
          <a:p>
            <a:r>
              <a:rPr lang="en-GB" b="0" i="0" u="none" strike="noStrike" dirty="0">
                <a:effectLst/>
                <a:latin typeface="Amazon Ember"/>
              </a:rPr>
              <a:t>A post authentication Lambda that doesn't return the request body to Amazon Cognito can still cause authentication to fail to complete.</a:t>
            </a:r>
            <a:endParaRPr lang="en-GB" dirty="0"/>
          </a:p>
        </p:txBody>
      </p:sp>
    </p:spTree>
    <p:extLst>
      <p:ext uri="{BB962C8B-B14F-4D97-AF65-F5344CB8AC3E}">
        <p14:creationId xmlns:p14="http://schemas.microsoft.com/office/powerpoint/2010/main" val="188280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ost authentication Lambda trigger - client flow">
            <a:extLst>
              <a:ext uri="{FF2B5EF4-FFF2-40B4-BE49-F238E27FC236}">
                <a16:creationId xmlns:a16="http://schemas.microsoft.com/office/drawing/2014/main" id="{511D6580-FD31-20A7-DF4B-ED2483E97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963" y="0"/>
            <a:ext cx="8726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121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ADB8B6-4212-E372-8EF7-771F675DDFAF}"/>
              </a:ext>
            </a:extLst>
          </p:cNvPr>
          <p:cNvSpPr txBox="1"/>
          <p:nvPr/>
        </p:nvSpPr>
        <p:spPr>
          <a:xfrm>
            <a:off x="3048000" y="971860"/>
            <a:ext cx="6096000" cy="4575612"/>
          </a:xfrm>
          <a:prstGeom prst="rect">
            <a:avLst/>
          </a:prstGeom>
          <a:noFill/>
        </p:spPr>
        <p:txBody>
          <a:bodyPr wrap="square">
            <a:spAutoFit/>
          </a:bodyPr>
          <a:lstStyle/>
          <a:p>
            <a:pPr algn="l">
              <a:buFont typeface="Arial" panose="020B0604020202020204" pitchFamily="34" charset="0"/>
              <a:buChar char="•"/>
            </a:pPr>
            <a:r>
              <a:rPr lang="en-GB" b="0" i="0" u="none" strike="noStrike" dirty="0">
                <a:solidFill>
                  <a:schemeClr val="accent2"/>
                </a:solidFill>
                <a:effectLst/>
                <a:latin typeface="Amazon Ember"/>
              </a:rPr>
              <a:t>If your Lambda function doesn't return the request and response parameters to Amazon Cognito, or returns an error, the authentication event doesn't succeed. </a:t>
            </a:r>
          </a:p>
          <a:p>
            <a:pPr algn="l">
              <a:buFont typeface="Arial" panose="020B0604020202020204" pitchFamily="34" charset="0"/>
              <a:buChar char="•"/>
            </a:pPr>
            <a:r>
              <a:rPr lang="en-GB" b="0" i="0" u="none" strike="noStrike" dirty="0">
                <a:solidFill>
                  <a:schemeClr val="accent2"/>
                </a:solidFill>
                <a:effectLst/>
                <a:latin typeface="Amazon Ember"/>
              </a:rPr>
              <a:t>You can return an error in your function to prevent a user's sign-up, authentication, token generation, or any other stage of their authentication flow that invokes Lambda trigger.</a:t>
            </a:r>
          </a:p>
          <a:p>
            <a:pPr algn="l">
              <a:spcBef>
                <a:spcPts val="375"/>
              </a:spcBef>
              <a:buFont typeface="Arial" panose="020B0604020202020204" pitchFamily="34" charset="0"/>
              <a:buChar char="•"/>
            </a:pPr>
            <a:r>
              <a:rPr lang="en-GB" b="0" i="0" u="none" strike="noStrike" dirty="0">
                <a:solidFill>
                  <a:schemeClr val="accent2"/>
                </a:solidFill>
                <a:effectLst/>
                <a:latin typeface="Amazon Ember"/>
              </a:rPr>
              <a:t>Managed login returns errors that Lambda triggers generate as error text above the sign-in prompt. The Amazon Cognito user pools API returns trigger errors in the format </a:t>
            </a:r>
            <a:r>
              <a:rPr lang="en-GB" b="0" i="1" u="none" strike="noStrike" dirty="0">
                <a:solidFill>
                  <a:schemeClr val="accent2"/>
                </a:solidFill>
                <a:effectLst/>
                <a:latin typeface="Monaco" pitchFamily="2" charset="77"/>
              </a:rPr>
              <a:t>[trigger]</a:t>
            </a:r>
            <a:r>
              <a:rPr lang="en-GB" b="0" i="0" u="none" strike="noStrike" dirty="0">
                <a:solidFill>
                  <a:schemeClr val="accent2"/>
                </a:solidFill>
                <a:effectLst/>
                <a:latin typeface="Monaco" pitchFamily="2" charset="77"/>
              </a:rPr>
              <a:t> failed with error </a:t>
            </a:r>
            <a:r>
              <a:rPr lang="en-GB" b="0" i="1" u="none" strike="noStrike" dirty="0">
                <a:solidFill>
                  <a:schemeClr val="accent2"/>
                </a:solidFill>
                <a:effectLst/>
                <a:latin typeface="Monaco" pitchFamily="2" charset="77"/>
              </a:rPr>
              <a:t>[error text from response]</a:t>
            </a:r>
            <a:r>
              <a:rPr lang="en-GB" b="0" i="0" u="none" strike="noStrike" dirty="0">
                <a:solidFill>
                  <a:schemeClr val="accent2"/>
                </a:solidFill>
                <a:effectLst/>
                <a:latin typeface="Amazon Ember"/>
              </a:rPr>
              <a:t>. As a best practice, only generate errors in your Lambda functions that you want your users to see. Use output methods like </a:t>
            </a:r>
            <a:r>
              <a:rPr lang="en-GB" b="0" i="0" u="none" strike="noStrike" dirty="0">
                <a:solidFill>
                  <a:schemeClr val="accent2"/>
                </a:solidFill>
                <a:effectLst/>
                <a:latin typeface="Monaco" pitchFamily="2" charset="77"/>
              </a:rPr>
              <a:t>print()</a:t>
            </a:r>
            <a:r>
              <a:rPr lang="en-GB" b="0" i="0" u="none" strike="noStrike" dirty="0">
                <a:solidFill>
                  <a:schemeClr val="accent2"/>
                </a:solidFill>
                <a:effectLst/>
                <a:latin typeface="Amazon Ember"/>
              </a:rPr>
              <a:t> to log any sensitive or debugging information to CloudWatch Logs. For an example, see </a:t>
            </a:r>
            <a:r>
              <a:rPr lang="en-GB" b="0" i="0" u="none" strike="noStrike" dirty="0">
                <a:solidFill>
                  <a:srgbClr val="467886"/>
                </a:solidFill>
                <a:effectLst/>
                <a:latin typeface="Amazon Ember"/>
                <a:hlinkClick r:id="rId2">
                  <a:extLst>
                    <a:ext uri="{A12FA001-AC4F-418D-AE19-62706E023703}">
                      <ahyp:hlinkClr xmlns:ahyp="http://schemas.microsoft.com/office/drawing/2018/hyperlinkcolor" val="tx"/>
                    </a:ext>
                  </a:extLst>
                </a:hlinkClick>
              </a:rPr>
              <a:t>Pre sign-up example: Deny sign-up if user name</a:t>
            </a:r>
            <a:r>
              <a:rPr lang="en-GB" b="0" i="0" u="none" strike="noStrike" dirty="0">
                <a:solidFill>
                  <a:schemeClr val="accent2"/>
                </a:solidFill>
                <a:effectLst/>
                <a:latin typeface="Amazon Ember"/>
                <a:hlinkClick r:id="rId2">
                  <a:extLst>
                    <a:ext uri="{A12FA001-AC4F-418D-AE19-62706E023703}">
                      <ahyp:hlinkClr xmlns:ahyp="http://schemas.microsoft.com/office/drawing/2018/hyperlinkcolor" val="tx"/>
                    </a:ext>
                  </a:extLst>
                </a:hlinkClick>
              </a:rPr>
              <a:t> has fewer than five characters</a:t>
            </a:r>
            <a:r>
              <a:rPr lang="en-GB" b="0" i="0" u="none" strike="noStrike" dirty="0">
                <a:solidFill>
                  <a:schemeClr val="accent2"/>
                </a:solidFill>
                <a:effectLst/>
                <a:latin typeface="Amazon Ember"/>
              </a:rPr>
              <a:t>.</a:t>
            </a:r>
          </a:p>
        </p:txBody>
      </p:sp>
    </p:spTree>
    <p:extLst>
      <p:ext uri="{BB962C8B-B14F-4D97-AF65-F5344CB8AC3E}">
        <p14:creationId xmlns:p14="http://schemas.microsoft.com/office/powerpoint/2010/main" val="398024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02C4903-4CDB-CC8C-B382-4A5A9B4F8D01}"/>
              </a:ext>
            </a:extLst>
          </p:cNvPr>
          <p:cNvGraphicFramePr>
            <a:graphicFrameLocks noGrp="1"/>
          </p:cNvGraphicFramePr>
          <p:nvPr>
            <p:extLst>
              <p:ext uri="{D42A27DB-BD31-4B8C-83A1-F6EECF244321}">
                <p14:modId xmlns:p14="http://schemas.microsoft.com/office/powerpoint/2010/main" val="2103412313"/>
              </p:ext>
            </p:extLst>
          </p:nvPr>
        </p:nvGraphicFramePr>
        <p:xfrm>
          <a:off x="2302933" y="702733"/>
          <a:ext cx="6426771" cy="5474227"/>
        </p:xfrm>
        <a:graphic>
          <a:graphicData uri="http://schemas.openxmlformats.org/drawingml/2006/table">
            <a:tbl>
              <a:tblPr/>
              <a:tblGrid>
                <a:gridCol w="2142257">
                  <a:extLst>
                    <a:ext uri="{9D8B030D-6E8A-4147-A177-3AD203B41FA5}">
                      <a16:colId xmlns:a16="http://schemas.microsoft.com/office/drawing/2014/main" val="1455412445"/>
                    </a:ext>
                  </a:extLst>
                </a:gridCol>
                <a:gridCol w="2142257">
                  <a:extLst>
                    <a:ext uri="{9D8B030D-6E8A-4147-A177-3AD203B41FA5}">
                      <a16:colId xmlns:a16="http://schemas.microsoft.com/office/drawing/2014/main" val="3485690660"/>
                    </a:ext>
                  </a:extLst>
                </a:gridCol>
                <a:gridCol w="2142257">
                  <a:extLst>
                    <a:ext uri="{9D8B030D-6E8A-4147-A177-3AD203B41FA5}">
                      <a16:colId xmlns:a16="http://schemas.microsoft.com/office/drawing/2014/main" val="3964410633"/>
                    </a:ext>
                  </a:extLst>
                </a:gridCol>
              </a:tblGrid>
              <a:tr h="230494">
                <a:tc>
                  <a:txBody>
                    <a:bodyPr/>
                    <a:lstStyle/>
                    <a:p>
                      <a:pPr algn="l" fontAlgn="t" latinLnBrk="0">
                        <a:buNone/>
                      </a:pPr>
                      <a:r>
                        <a:rPr lang="en-GB" sz="900" b="1">
                          <a:effectLst/>
                        </a:rPr>
                        <a:t>User Pool Flow</a:t>
                      </a:r>
                    </a:p>
                  </a:txBody>
                  <a:tcPr marL="95424" marR="95424" marT="22902" marB="22902">
                    <a:lnL w="12700" cap="flat" cmpd="sng" algn="ctr">
                      <a:solidFill>
                        <a:srgbClr val="737C86"/>
                      </a:solidFill>
                      <a:prstDash val="solid"/>
                      <a:round/>
                      <a:headEnd type="none" w="med" len="med"/>
                      <a:tailEnd type="none" w="med" len="med"/>
                    </a:lnL>
                    <a:lnR w="12700" cap="flat" cmpd="sng" algn="ctr">
                      <a:solidFill>
                        <a:srgbClr val="737C86"/>
                      </a:solidFill>
                      <a:prstDash val="solid"/>
                      <a:round/>
                      <a:headEnd type="none" w="med" len="med"/>
                      <a:tailEnd type="none" w="med" len="med"/>
                    </a:lnR>
                    <a:lnT w="12700"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algn="l" fontAlgn="t" latinLnBrk="0">
                        <a:buNone/>
                      </a:pPr>
                      <a:r>
                        <a:rPr lang="en-GB" sz="900" b="1">
                          <a:effectLst/>
                        </a:rPr>
                        <a:t>Operation</a:t>
                      </a:r>
                    </a:p>
                  </a:txBody>
                  <a:tcPr marL="95424" marR="95424" marT="22902" marB="22902">
                    <a:lnL w="12700" cap="flat" cmpd="sng" algn="ctr">
                      <a:solidFill>
                        <a:srgbClr val="737C86"/>
                      </a:solidFill>
                      <a:prstDash val="solid"/>
                      <a:round/>
                      <a:headEnd type="none" w="med" len="med"/>
                      <a:tailEnd type="none" w="med" len="med"/>
                    </a:lnL>
                    <a:lnR w="12700" cap="flat" cmpd="sng" algn="ctr">
                      <a:solidFill>
                        <a:srgbClr val="737C86"/>
                      </a:solidFill>
                      <a:prstDash val="solid"/>
                      <a:round/>
                      <a:headEnd type="none" w="med" len="med"/>
                      <a:tailEnd type="none" w="med" len="med"/>
                    </a:lnR>
                    <a:lnT w="12700"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algn="l" fontAlgn="t" latinLnBrk="0">
                        <a:buNone/>
                      </a:pPr>
                      <a:r>
                        <a:rPr lang="en-GB" sz="900" b="1">
                          <a:effectLst/>
                        </a:rPr>
                        <a:t>Description</a:t>
                      </a:r>
                    </a:p>
                  </a:txBody>
                  <a:tcPr marL="95424" marR="95424" marT="22902" marB="22902">
                    <a:lnL w="12700"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12700"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2360316169"/>
                  </a:ext>
                </a:extLst>
              </a:tr>
              <a:tr h="393760">
                <a:tc rowSpan="3">
                  <a:txBody>
                    <a:bodyPr/>
                    <a:lstStyle/>
                    <a:p>
                      <a:pPr fontAlgn="t" latinLnBrk="0">
                        <a:buNone/>
                      </a:pPr>
                      <a:r>
                        <a:rPr lang="en-GB" sz="900" b="1">
                          <a:effectLst/>
                        </a:rPr>
                        <a:t>Custom Authentication Flow</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a:effectLst/>
                        </a:rPr>
                        <a:t>Define Auth Challenge</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Determines the next challenge in a custom auth flow</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3176136188"/>
                  </a:ext>
                </a:extLst>
              </a:tr>
              <a:tr h="393760">
                <a:tc vMerge="1">
                  <a:txBody>
                    <a:bodyPr/>
                    <a:lstStyle/>
                    <a:p>
                      <a:endParaRPr lang="en-GB"/>
                    </a:p>
                  </a:txBody>
                  <a:tcPr/>
                </a:tc>
                <a:tc>
                  <a:txBody>
                    <a:bodyPr/>
                    <a:lstStyle/>
                    <a:p>
                      <a:pPr fontAlgn="t" latinLnBrk="0">
                        <a:buNone/>
                      </a:pPr>
                      <a:r>
                        <a:rPr lang="en-GB" sz="900" b="1">
                          <a:effectLst/>
                        </a:rPr>
                        <a:t>Create Auth Challenge</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Creates a challenge in a custom auth flow</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159035279"/>
                  </a:ext>
                </a:extLst>
              </a:tr>
              <a:tr h="393760">
                <a:tc vMerge="1">
                  <a:txBody>
                    <a:bodyPr/>
                    <a:lstStyle/>
                    <a:p>
                      <a:endParaRPr lang="en-GB"/>
                    </a:p>
                  </a:txBody>
                  <a:tcPr/>
                </a:tc>
                <a:tc>
                  <a:txBody>
                    <a:bodyPr/>
                    <a:lstStyle/>
                    <a:p>
                      <a:pPr fontAlgn="t" latinLnBrk="0">
                        <a:buNone/>
                      </a:pPr>
                      <a:r>
                        <a:rPr lang="en-GB" sz="900" b="1">
                          <a:effectLst/>
                        </a:rPr>
                        <a:t>Verify Auth Challenge Response</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Determines if a response is correct in a custom auth flow</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1873677216"/>
                  </a:ext>
                </a:extLst>
              </a:tr>
              <a:tr h="393760">
                <a:tc rowSpan="3">
                  <a:txBody>
                    <a:bodyPr/>
                    <a:lstStyle/>
                    <a:p>
                      <a:pPr fontAlgn="t" latinLnBrk="0">
                        <a:buNone/>
                      </a:pPr>
                      <a:r>
                        <a:rPr lang="en-GB" sz="900" b="1">
                          <a:effectLst/>
                        </a:rPr>
                        <a:t>Authentication Events</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u="none" strike="noStrike">
                          <a:effectLst/>
                          <a:hlinkClick r:id="rId2"/>
                        </a:rPr>
                        <a:t>Pre authentication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Custom validation to accept or deny the sign-in request</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854859237"/>
                  </a:ext>
                </a:extLst>
              </a:tr>
              <a:tr h="393760">
                <a:tc vMerge="1">
                  <a:txBody>
                    <a:bodyPr/>
                    <a:lstStyle/>
                    <a:p>
                      <a:endParaRPr lang="en-GB"/>
                    </a:p>
                  </a:txBody>
                  <a:tcPr/>
                </a:tc>
                <a:tc>
                  <a:txBody>
                    <a:bodyPr/>
                    <a:lstStyle/>
                    <a:p>
                      <a:pPr fontAlgn="t" latinLnBrk="0">
                        <a:buNone/>
                      </a:pPr>
                      <a:r>
                        <a:rPr lang="en-GB" sz="900" b="1" u="none" strike="noStrike">
                          <a:effectLst/>
                          <a:hlinkClick r:id="rId3"/>
                        </a:rPr>
                        <a:t>Post authentication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Logs events for custom analytics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855320267"/>
                  </a:ext>
                </a:extLst>
              </a:tr>
              <a:tr h="393760">
                <a:tc vMerge="1">
                  <a:txBody>
                    <a:bodyPr/>
                    <a:lstStyle/>
                    <a:p>
                      <a:endParaRPr lang="en-GB"/>
                    </a:p>
                  </a:txBody>
                  <a:tcPr/>
                </a:tc>
                <a:tc>
                  <a:txBody>
                    <a:bodyPr/>
                    <a:lstStyle/>
                    <a:p>
                      <a:pPr fontAlgn="t" latinLnBrk="0">
                        <a:buNone/>
                      </a:pPr>
                      <a:r>
                        <a:rPr lang="en-GB" sz="900" b="1" u="none" strike="noStrike">
                          <a:effectLst/>
                          <a:hlinkClick r:id="rId4"/>
                        </a:rPr>
                        <a:t>Pre token generation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Augments or suppresses token claims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2702734268"/>
                  </a:ext>
                </a:extLst>
              </a:tr>
              <a:tr h="566631">
                <a:tc rowSpan="3">
                  <a:txBody>
                    <a:bodyPr/>
                    <a:lstStyle/>
                    <a:p>
                      <a:pPr fontAlgn="t" latinLnBrk="0">
                        <a:buNone/>
                      </a:pPr>
                      <a:r>
                        <a:rPr lang="en-GB" sz="900" b="1">
                          <a:effectLst/>
                        </a:rPr>
                        <a:t>Sign-Up</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u="none" strike="noStrike">
                          <a:effectLst/>
                          <a:hlinkClick r:id="rId5"/>
                        </a:rPr>
                        <a:t>Pre sign-up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Performs custom validation that accepts or denies the sign-up request</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1582654907"/>
                  </a:ext>
                </a:extLst>
              </a:tr>
              <a:tr h="566631">
                <a:tc vMerge="1">
                  <a:txBody>
                    <a:bodyPr/>
                    <a:lstStyle/>
                    <a:p>
                      <a:endParaRPr lang="en-GB"/>
                    </a:p>
                  </a:txBody>
                  <a:tcPr/>
                </a:tc>
                <a:tc>
                  <a:txBody>
                    <a:bodyPr/>
                    <a:lstStyle/>
                    <a:p>
                      <a:pPr fontAlgn="t" latinLnBrk="0">
                        <a:buNone/>
                      </a:pPr>
                      <a:r>
                        <a:rPr lang="en-GB" sz="900" b="1" u="none" strike="noStrike">
                          <a:effectLst/>
                          <a:hlinkClick r:id="rId6"/>
                        </a:rPr>
                        <a:t>Post confirmation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Adds custom welcome messages or event logging for custom analytics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3767590020"/>
                  </a:ext>
                </a:extLst>
              </a:tr>
              <a:tr h="393760">
                <a:tc vMerge="1">
                  <a:txBody>
                    <a:bodyPr/>
                    <a:lstStyle/>
                    <a:p>
                      <a:endParaRPr lang="en-GB"/>
                    </a:p>
                  </a:txBody>
                  <a:tcPr/>
                </a:tc>
                <a:tc>
                  <a:txBody>
                    <a:bodyPr/>
                    <a:lstStyle/>
                    <a:p>
                      <a:pPr fontAlgn="t" latinLnBrk="0">
                        <a:buNone/>
                      </a:pPr>
                      <a:r>
                        <a:rPr lang="en-GB" sz="900" b="1" u="none" strike="noStrike">
                          <a:effectLst/>
                          <a:hlinkClick r:id="rId7"/>
                        </a:rPr>
                        <a:t>Migrate user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Migrates a user from an existing user directory to user pools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2581578515"/>
                  </a:ext>
                </a:extLst>
              </a:tr>
              <a:tr h="566631">
                <a:tc>
                  <a:txBody>
                    <a:bodyPr/>
                    <a:lstStyle/>
                    <a:p>
                      <a:pPr fontAlgn="t" latinLnBrk="0">
                        <a:buNone/>
                      </a:pPr>
                      <a:r>
                        <a:rPr lang="en-GB" sz="900" b="1">
                          <a:effectLst/>
                        </a:rPr>
                        <a:t>Messages</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u="none" strike="noStrike">
                          <a:effectLst/>
                          <a:hlinkClick r:id="rId8"/>
                        </a:rPr>
                        <a:t>Custom message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Performs advanced customization and localization of messages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50028397"/>
                  </a:ext>
                </a:extLst>
              </a:tr>
              <a:tr h="393760">
                <a:tc>
                  <a:txBody>
                    <a:bodyPr/>
                    <a:lstStyle/>
                    <a:p>
                      <a:pPr fontAlgn="t" latinLnBrk="0">
                        <a:buNone/>
                      </a:pPr>
                      <a:r>
                        <a:rPr lang="en-GB" sz="900" b="1">
                          <a:effectLst/>
                        </a:rPr>
                        <a:t>Token Creation</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u="none" strike="noStrike">
                          <a:effectLst/>
                          <a:hlinkClick r:id="rId4"/>
                        </a:rPr>
                        <a:t>Pre token generation Lambda trigger</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a:effectLst/>
                        </a:rPr>
                        <a:t>Adds or removes attributes in ID and access tokens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3751268945"/>
                  </a:ext>
                </a:extLst>
              </a:tr>
              <a:tr h="393760">
                <a:tc>
                  <a:txBody>
                    <a:bodyPr/>
                    <a:lstStyle/>
                    <a:p>
                      <a:pPr fontAlgn="t" latinLnBrk="0">
                        <a:buNone/>
                      </a:pPr>
                      <a:r>
                        <a:rPr lang="en-GB" sz="900" b="1">
                          <a:effectLst/>
                        </a:rPr>
                        <a:t>Email and SMS third-party providers</a:t>
                      </a:r>
                      <a:endParaRPr lang="en-GB" sz="900" b="0">
                        <a:effectLst/>
                      </a:endParaRPr>
                    </a:p>
                  </a:txBody>
                  <a:tcPr marL="95424" marR="95424" marT="19085" marB="19085">
                    <a:lnL>
                      <a:noFill/>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1" u="none" strike="noStrike">
                          <a:effectLst/>
                          <a:hlinkClick r:id="rId9"/>
                        </a:rPr>
                        <a:t>Custom sender Lambda triggers</a:t>
                      </a:r>
                      <a:endParaRPr lang="en-GB" sz="900" b="0">
                        <a:effectLst/>
                      </a:endParaRP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tc>
                  <a:txBody>
                    <a:bodyPr/>
                    <a:lstStyle/>
                    <a:p>
                      <a:pPr fontAlgn="t" latinLnBrk="0">
                        <a:buNone/>
                      </a:pPr>
                      <a:r>
                        <a:rPr lang="en-GB" sz="900" b="0" dirty="0">
                          <a:effectLst/>
                        </a:rPr>
                        <a:t>Uses a third-party provider to send SMS and email messages</a:t>
                      </a:r>
                    </a:p>
                  </a:txBody>
                  <a:tcPr marL="95424" marR="95424" marT="19085" marB="19085">
                    <a:lnL w="9525" cap="flat" cmpd="sng" algn="ctr">
                      <a:solidFill>
                        <a:srgbClr val="737C86"/>
                      </a:solidFill>
                      <a:prstDash val="solid"/>
                      <a:round/>
                      <a:headEnd type="none" w="med" len="med"/>
                      <a:tailEnd type="none" w="med" len="med"/>
                    </a:lnL>
                    <a:lnR w="9525" cap="flat" cmpd="sng" algn="ctr">
                      <a:solidFill>
                        <a:srgbClr val="737C86"/>
                      </a:solidFill>
                      <a:prstDash val="solid"/>
                      <a:round/>
                      <a:headEnd type="none" w="med" len="med"/>
                      <a:tailEnd type="none" w="med" len="med"/>
                    </a:lnR>
                    <a:lnT w="9525" cap="flat" cmpd="sng" algn="ctr">
                      <a:solidFill>
                        <a:srgbClr val="737C86"/>
                      </a:solidFill>
                      <a:prstDash val="solid"/>
                      <a:round/>
                      <a:headEnd type="none" w="med" len="med"/>
                      <a:tailEnd type="none" w="med" len="med"/>
                    </a:lnT>
                    <a:lnB w="9525" cap="flat" cmpd="sng" algn="ctr">
                      <a:solidFill>
                        <a:srgbClr val="737C86"/>
                      </a:solidFill>
                      <a:prstDash val="solid"/>
                      <a:round/>
                      <a:headEnd type="none" w="med" len="med"/>
                      <a:tailEnd type="none" w="med" len="med"/>
                    </a:lnB>
                    <a:noFill/>
                  </a:tcPr>
                </a:tc>
                <a:extLst>
                  <a:ext uri="{0D108BD9-81ED-4DB2-BD59-A6C34878D82A}">
                    <a16:rowId xmlns:a16="http://schemas.microsoft.com/office/drawing/2014/main" val="2267926959"/>
                  </a:ext>
                </a:extLst>
              </a:tr>
            </a:tbl>
          </a:graphicData>
        </a:graphic>
      </p:graphicFrame>
      <p:sp>
        <p:nvSpPr>
          <p:cNvPr id="5" name="Title 1">
            <a:extLst>
              <a:ext uri="{FF2B5EF4-FFF2-40B4-BE49-F238E27FC236}">
                <a16:creationId xmlns:a16="http://schemas.microsoft.com/office/drawing/2014/main" id="{2AB8B6E4-6E0F-5049-D73D-FE9C6981A97E}"/>
              </a:ext>
            </a:extLst>
          </p:cNvPr>
          <p:cNvSpPr>
            <a:spLocks noGrp="1"/>
          </p:cNvSpPr>
          <p:nvPr>
            <p:ph type="title"/>
          </p:nvPr>
        </p:nvSpPr>
        <p:spPr>
          <a:xfrm>
            <a:off x="215164" y="256130"/>
            <a:ext cx="4953601" cy="385321"/>
          </a:xfrm>
        </p:spPr>
        <p:txBody>
          <a:bodyPr>
            <a:normAutofit fontScale="90000"/>
          </a:bodyPr>
          <a:lstStyle/>
          <a:p>
            <a:r>
              <a:rPr lang="en-GB" sz="2400" dirty="0"/>
              <a:t>User pool workflow</a:t>
            </a:r>
          </a:p>
        </p:txBody>
      </p:sp>
    </p:spTree>
    <p:extLst>
      <p:ext uri="{BB962C8B-B14F-4D97-AF65-F5344CB8AC3E}">
        <p14:creationId xmlns:p14="http://schemas.microsoft.com/office/powerpoint/2010/main" val="340027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2773</TotalTime>
  <Words>812</Words>
  <Application>Microsoft Macintosh PowerPoint</Application>
  <PresentationFormat>Widescreen</PresentationFormat>
  <Paragraphs>78</Paragraphs>
  <Slides>11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-apple-system</vt:lpstr>
      <vt:lpstr>Amazon Ember</vt:lpstr>
      <vt:lpstr>Aptos</vt:lpstr>
      <vt:lpstr>Aptos Display</vt:lpstr>
      <vt:lpstr>Arial</vt:lpstr>
      <vt:lpstr>Courier New</vt:lpstr>
      <vt:lpstr>Monaco</vt:lpstr>
      <vt:lpstr>Symbol</vt:lpstr>
      <vt:lpstr>Times New Roman</vt:lpstr>
      <vt:lpstr>Office Theme</vt:lpstr>
      <vt:lpstr>Cognito-based User Authentication flow</vt:lpstr>
      <vt:lpstr>PowerPoint Presentation</vt:lpstr>
      <vt:lpstr>PowerPoint Presentation</vt:lpstr>
      <vt:lpstr>PowerPoint Presentation</vt:lpstr>
      <vt:lpstr>PowerPoint Presentation</vt:lpstr>
      <vt:lpstr>Cognito pre-authentication</vt:lpstr>
      <vt:lpstr>Cognito Managed login</vt:lpstr>
      <vt:lpstr>Cognito post-authentication</vt:lpstr>
      <vt:lpstr>PowerPoint Presentation</vt:lpstr>
      <vt:lpstr>PowerPoint Presentation</vt:lpstr>
      <vt:lpstr>User pool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no-reply</dc:creator>
  <cp:lastModifiedBy>no-reply</cp:lastModifiedBy>
  <cp:revision>21</cp:revision>
  <dcterms:created xsi:type="dcterms:W3CDTF">2025-08-18T16:19:36Z</dcterms:created>
  <dcterms:modified xsi:type="dcterms:W3CDTF">2026-02-19T20:32:57Z</dcterms:modified>
</cp:coreProperties>
</file>