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6"/>
  </p:notesMasterIdLst>
  <p:sldIdLst>
    <p:sldId id="379" r:id="rId2"/>
    <p:sldId id="380" r:id="rId3"/>
    <p:sldId id="377" r:id="rId4"/>
    <p:sldId id="38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58310D1-520F-E340-9DC9-983DD70B5F84}">
          <p14:sldIdLst>
            <p14:sldId id="379"/>
            <p14:sldId id="380"/>
            <p14:sldId id="377"/>
            <p14:sldId id="3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A2FD"/>
    <a:srgbClr val="B9AE30"/>
    <a:srgbClr val="B8AC2F"/>
    <a:srgbClr val="FDBCDA"/>
    <a:srgbClr val="FDD0E7"/>
    <a:srgbClr val="F8CEFD"/>
    <a:srgbClr val="A0C0E1"/>
    <a:srgbClr val="6BA9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44"/>
    <p:restoredTop sz="96827"/>
  </p:normalViewPr>
  <p:slideViewPr>
    <p:cSldViewPr snapToGrid="0" snapToObjects="1">
      <p:cViewPr varScale="1">
        <p:scale>
          <a:sx n="220" d="100"/>
          <a:sy n="220" d="100"/>
        </p:scale>
        <p:origin x="936" y="4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63B5E4-7B7D-514D-B202-4AAF6B51BB9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E4701D-FC48-104F-98C6-7719D862D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9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5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52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1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05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9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45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59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79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195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0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34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3/26/26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7661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88" r:id="rId2"/>
    <p:sldLayoutId id="2147483690" r:id="rId3"/>
    <p:sldLayoutId id="2147483691" r:id="rId4"/>
    <p:sldLayoutId id="2147483692" r:id="rId5"/>
    <p:sldLayoutId id="2147483693" r:id="rId6"/>
    <p:sldLayoutId id="2147483698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FEE528-9EFD-8685-3D81-8F6D9B9EF3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070195"/>
              </p:ext>
            </p:extLst>
          </p:nvPr>
        </p:nvGraphicFramePr>
        <p:xfrm>
          <a:off x="326571" y="964477"/>
          <a:ext cx="11400971" cy="3100129"/>
        </p:xfrm>
        <a:graphic>
          <a:graphicData uri="http://schemas.openxmlformats.org/drawingml/2006/table">
            <a:tbl>
              <a:tblPr/>
              <a:tblGrid>
                <a:gridCol w="1944915">
                  <a:extLst>
                    <a:ext uri="{9D8B030D-6E8A-4147-A177-3AD203B41FA5}">
                      <a16:colId xmlns:a16="http://schemas.microsoft.com/office/drawing/2014/main" val="3459620993"/>
                    </a:ext>
                  </a:extLst>
                </a:gridCol>
                <a:gridCol w="3171371">
                  <a:extLst>
                    <a:ext uri="{9D8B030D-6E8A-4147-A177-3AD203B41FA5}">
                      <a16:colId xmlns:a16="http://schemas.microsoft.com/office/drawing/2014/main" val="341403329"/>
                    </a:ext>
                  </a:extLst>
                </a:gridCol>
                <a:gridCol w="2256972">
                  <a:extLst>
                    <a:ext uri="{9D8B030D-6E8A-4147-A177-3AD203B41FA5}">
                      <a16:colId xmlns:a16="http://schemas.microsoft.com/office/drawing/2014/main" val="2659621696"/>
                    </a:ext>
                  </a:extLst>
                </a:gridCol>
                <a:gridCol w="4027713">
                  <a:extLst>
                    <a:ext uri="{9D8B030D-6E8A-4147-A177-3AD203B41FA5}">
                      <a16:colId xmlns:a16="http://schemas.microsoft.com/office/drawing/2014/main" val="4252019815"/>
                    </a:ext>
                  </a:extLst>
                </a:gridCol>
              </a:tblGrid>
              <a:tr h="296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latin typeface="+mj-lt"/>
                        </a:rPr>
                        <a:t>FCA Reconciliation Rule</a:t>
                      </a: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latin typeface="+mj-lt"/>
                        </a:rPr>
                        <a:t>Requirement</a:t>
                      </a: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latin typeface="+mj-lt"/>
                        </a:rPr>
                        <a:t>KPI</a:t>
                      </a: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latin typeface="+mj-lt"/>
                        </a:rPr>
                        <a:t>Details</a:t>
                      </a: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274233"/>
                  </a:ext>
                </a:extLst>
              </a:tr>
              <a:tr h="519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>
                          <a:latin typeface="+mj-lt"/>
                        </a:rPr>
                        <a:t>Daily Safeguarding reconciliation</a:t>
                      </a: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/>
                        <a:t>confirm customer liabilities = safeguarded funds held.</a:t>
                      </a:r>
                      <a:endParaRPr lang="en-GB" sz="1200" b="0" dirty="0">
                        <a:latin typeface="+mj-lt"/>
                      </a:endParaRP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latin typeface="+mj-lt"/>
                        </a:rPr>
                        <a:t>Internal reconciliation</a:t>
                      </a: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0" dirty="0">
                          <a:latin typeface="+mj-lt"/>
                        </a:rPr>
                        <a:t>Compare internal records of relevant funds owed to customers against safeguarded funds</a:t>
                      </a: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797147"/>
                  </a:ext>
                </a:extLst>
              </a:tr>
              <a:tr h="51925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200" dirty="0">
                        <a:latin typeface="+mj-lt"/>
                      </a:endParaRP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200" dirty="0">
                        <a:latin typeface="+mj-lt"/>
                      </a:endParaRP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latin typeface="+mj-lt"/>
                        </a:rPr>
                        <a:t>External reconciliation</a:t>
                      </a: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Compare safeguarding bank accounts / asset accounts against the amount that should be held there.</a:t>
                      </a: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940529"/>
                  </a:ext>
                </a:extLst>
              </a:tr>
              <a:tr h="519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latin typeface="+mj-lt"/>
                        </a:rPr>
                        <a:t>Books &amp; records</a:t>
                      </a: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latin typeface="+mj-lt"/>
                        </a:rPr>
                        <a:t>1. Map customer liabilities -&gt; safeguarding accounts</a:t>
                      </a:r>
                    </a:p>
                    <a:p>
                      <a:pPr>
                        <a:buNone/>
                      </a:pPr>
                      <a:r>
                        <a:rPr lang="en-GB" sz="1200" dirty="0">
                          <a:latin typeface="+mj-lt"/>
                        </a:rPr>
                        <a:t>2. Records of reconciliation evidence</a:t>
                      </a: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latin typeface="+mj-lt"/>
                        </a:rPr>
                        <a:t>Customer liabilities equals Safeguarding</a:t>
                      </a: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Aims to ensure funds can be quickly identified </a:t>
                      </a:r>
                      <a:endParaRPr lang="en-GB" sz="1200" b="0" dirty="0">
                        <a:latin typeface="+mj-lt"/>
                      </a:endParaRP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101168"/>
                  </a:ext>
                </a:extLst>
              </a:tr>
              <a:tr h="519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latin typeface="+mj-lt"/>
                        </a:rPr>
                        <a:t>Monthly returns</a:t>
                      </a: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latin typeface="+mj-lt"/>
                        </a:rPr>
                        <a:t>Submit monthly safeguarding reports</a:t>
                      </a: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latin typeface="+mj-lt"/>
                        </a:rPr>
                        <a:t>Safeguarding balances</a:t>
                      </a:r>
                    </a:p>
                    <a:p>
                      <a:pPr>
                        <a:buNone/>
                      </a:pPr>
                      <a:r>
                        <a:rPr lang="en-GB" sz="1200" dirty="0">
                          <a:latin typeface="+mj-lt"/>
                        </a:rPr>
                        <a:t>Reconciliation outcomes</a:t>
                      </a: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>
                          <a:latin typeface="+mj-lt"/>
                        </a:rPr>
                        <a:t>Additional regulatory oversight</a:t>
                      </a: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492467"/>
                  </a:ext>
                </a:extLst>
              </a:tr>
              <a:tr h="519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latin typeface="+mj-lt"/>
                        </a:rPr>
                        <a:t>Shortfall Remediation</a:t>
                      </a: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latin typeface="+mj-lt"/>
                        </a:rPr>
                        <a:t>Immediate top up required for reconciliation shortfalls</a:t>
                      </a: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latin typeface="+mj-lt"/>
                        </a:rPr>
                        <a:t>Fixing the gap without delay</a:t>
                      </a:r>
                    </a:p>
                    <a:p>
                      <a:pPr>
                        <a:buNone/>
                      </a:pPr>
                      <a:r>
                        <a:rPr lang="en-GB" sz="1200" dirty="0">
                          <a:latin typeface="+mj-lt"/>
                        </a:rPr>
                        <a:t>Operational funds must cover deficit</a:t>
                      </a: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If reconciliation shows a shortfall, top up safeguarding a/c using own funds</a:t>
                      </a:r>
                    </a:p>
                  </a:txBody>
                  <a:tcPr marL="74180" marR="74180" marT="37090" marB="370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432492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2C4EF91-EFDC-A581-1022-462427A04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1" y="305564"/>
            <a:ext cx="7673389" cy="441015"/>
          </a:xfrm>
        </p:spPr>
        <p:txBody>
          <a:bodyPr>
            <a:normAutofit/>
          </a:bodyPr>
          <a:lstStyle/>
          <a:p>
            <a:r>
              <a:rPr lang="en-GB" sz="2400" dirty="0"/>
              <a:t>FCA requirements</a:t>
            </a:r>
          </a:p>
        </p:txBody>
      </p:sp>
    </p:spTree>
    <p:extLst>
      <p:ext uri="{BB962C8B-B14F-4D97-AF65-F5344CB8AC3E}">
        <p14:creationId xmlns:p14="http://schemas.microsoft.com/office/powerpoint/2010/main" val="1244402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54F68-A57D-3B3E-C21A-AC2CF3C25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AF4DDB-6F2D-B897-A045-229DE3F28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507481"/>
              </p:ext>
            </p:extLst>
          </p:nvPr>
        </p:nvGraphicFramePr>
        <p:xfrm>
          <a:off x="375668" y="2119899"/>
          <a:ext cx="7575193" cy="4287001"/>
        </p:xfrm>
        <a:graphic>
          <a:graphicData uri="http://schemas.openxmlformats.org/drawingml/2006/table">
            <a:tbl>
              <a:tblPr/>
              <a:tblGrid>
                <a:gridCol w="2689208">
                  <a:extLst>
                    <a:ext uri="{9D8B030D-6E8A-4147-A177-3AD203B41FA5}">
                      <a16:colId xmlns:a16="http://schemas.microsoft.com/office/drawing/2014/main" val="2649353066"/>
                    </a:ext>
                  </a:extLst>
                </a:gridCol>
                <a:gridCol w="4885985">
                  <a:extLst>
                    <a:ext uri="{9D8B030D-6E8A-4147-A177-3AD203B41FA5}">
                      <a16:colId xmlns:a16="http://schemas.microsoft.com/office/drawing/2014/main" val="2982619476"/>
                    </a:ext>
                  </a:extLst>
                </a:gridCol>
              </a:tblGrid>
              <a:tr h="296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Capability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Controls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315725"/>
                  </a:ext>
                </a:extLst>
              </a:tr>
              <a:tr h="519257">
                <a:tc>
                  <a:txBody>
                    <a:bodyPr/>
                    <a:lstStyle/>
                    <a:p>
                      <a:r>
                        <a:rPr lang="en-GB" sz="1200" b="0" dirty="0"/>
                        <a:t>Daily liability calculation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/>
                        <a:t>customer wallet balances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/>
                        <a:t>pending payments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/>
                        <a:t>card authorisation holds.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8075890"/>
                  </a:ext>
                </a:extLst>
              </a:tr>
              <a:tr h="519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Daily safeguarding reconciliation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liability vs safeguarding bank accounts.</a:t>
                      </a:r>
                    </a:p>
                    <a:p>
                      <a:pPr>
                        <a:buNone/>
                      </a:pPr>
                      <a:endParaRPr lang="en-GB" sz="1200" dirty="0"/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3571319"/>
                  </a:ext>
                </a:extLst>
              </a:tr>
              <a:tr h="741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Evidence storage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reconciliation snapshots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789951"/>
                  </a:ext>
                </a:extLst>
              </a:tr>
              <a:tr h="519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Shortfall detection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Alerting shown on daily dashboard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47859"/>
                  </a:ext>
                </a:extLst>
              </a:tr>
              <a:tr h="519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Monthly reg reporting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/>
                        <a:t>safeguarding balances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/>
                        <a:t>reconciliation outcomes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95157"/>
                  </a:ext>
                </a:extLst>
              </a:tr>
              <a:tr h="964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Resolution pack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dirty="0"/>
                        <a:t>Safeguarding bank accounts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dirty="0"/>
                        <a:t>Customer funds records 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936179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E52C9EB5-B1B9-6D1B-86B1-DCE3695CDFB3}"/>
              </a:ext>
            </a:extLst>
          </p:cNvPr>
          <p:cNvSpPr txBox="1">
            <a:spLocks/>
          </p:cNvSpPr>
          <p:nvPr/>
        </p:nvSpPr>
        <p:spPr>
          <a:xfrm>
            <a:off x="326571" y="305564"/>
            <a:ext cx="7673389" cy="44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/>
              <a:t>System capability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7D429E-458B-F2C7-5BD1-811EF4B8C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571" y="907382"/>
            <a:ext cx="717523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ledger-driven liabilities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daily safeguarding snapshots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hierarchical reconciliation (bank → tenant → customer → wallet -&gt; Asset).</a:t>
            </a:r>
          </a:p>
        </p:txBody>
      </p:sp>
    </p:spTree>
    <p:extLst>
      <p:ext uri="{BB962C8B-B14F-4D97-AF65-F5344CB8AC3E}">
        <p14:creationId xmlns:p14="http://schemas.microsoft.com/office/powerpoint/2010/main" val="66474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C4FF69F-AAA7-57E9-673E-43690723399D}"/>
              </a:ext>
            </a:extLst>
          </p:cNvPr>
          <p:cNvSpPr/>
          <p:nvPr/>
        </p:nvSpPr>
        <p:spPr>
          <a:xfrm>
            <a:off x="5054741" y="2811338"/>
            <a:ext cx="2205019" cy="1352787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Reconciliation Process</a:t>
            </a:r>
          </a:p>
        </p:txBody>
      </p:sp>
      <p:sp>
        <p:nvSpPr>
          <p:cNvPr id="5" name="Can 4">
            <a:extLst>
              <a:ext uri="{FF2B5EF4-FFF2-40B4-BE49-F238E27FC236}">
                <a16:creationId xmlns:a16="http://schemas.microsoft.com/office/drawing/2014/main" id="{F00025A7-8FC4-943D-D9E8-EB29C666EC8F}"/>
              </a:ext>
            </a:extLst>
          </p:cNvPr>
          <p:cNvSpPr/>
          <p:nvPr/>
        </p:nvSpPr>
        <p:spPr>
          <a:xfrm>
            <a:off x="5433421" y="4659354"/>
            <a:ext cx="1447659" cy="1316377"/>
          </a:xfrm>
          <a:prstGeom prst="can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Internal </a:t>
            </a:r>
          </a:p>
          <a:p>
            <a:pPr algn="ctr"/>
            <a:r>
              <a:rPr lang="en-GB" sz="1200" dirty="0">
                <a:solidFill>
                  <a:schemeClr val="bg1"/>
                </a:solidFill>
              </a:rPr>
              <a:t>ledger-derived</a:t>
            </a:r>
          </a:p>
          <a:p>
            <a:pPr algn="ctr"/>
            <a:r>
              <a:rPr lang="en-GB" sz="1200" dirty="0">
                <a:solidFill>
                  <a:schemeClr val="bg1"/>
                </a:solidFill>
              </a:rPr>
              <a:t>balances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35CEDB9-CA94-F125-BF0C-5DB7BA112A26}"/>
              </a:ext>
            </a:extLst>
          </p:cNvPr>
          <p:cNvSpPr/>
          <p:nvPr/>
        </p:nvSpPr>
        <p:spPr>
          <a:xfrm>
            <a:off x="340821" y="1870508"/>
            <a:ext cx="2205019" cy="1352787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External EOD </a:t>
            </a: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Balances</a:t>
            </a:r>
          </a:p>
        </p:txBody>
      </p:sp>
      <p:cxnSp>
        <p:nvCxnSpPr>
          <p:cNvPr id="8" name="Straight Arrow Connector 95">
            <a:extLst>
              <a:ext uri="{FF2B5EF4-FFF2-40B4-BE49-F238E27FC236}">
                <a16:creationId xmlns:a16="http://schemas.microsoft.com/office/drawing/2014/main" id="{673D3C02-A502-E2B3-78D7-53C352061D3E}"/>
              </a:ext>
            </a:extLst>
          </p:cNvPr>
          <p:cNvCxnSpPr>
            <a:cxnSpLocks/>
            <a:stCxn id="6" idx="3"/>
            <a:endCxn id="49" idx="1"/>
          </p:cNvCxnSpPr>
          <p:nvPr/>
        </p:nvCxnSpPr>
        <p:spPr>
          <a:xfrm>
            <a:off x="2545840" y="2546902"/>
            <a:ext cx="1200871" cy="282641"/>
          </a:xfrm>
          <a:prstGeom prst="curvedConnector2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95">
            <a:extLst>
              <a:ext uri="{FF2B5EF4-FFF2-40B4-BE49-F238E27FC236}">
                <a16:creationId xmlns:a16="http://schemas.microsoft.com/office/drawing/2014/main" id="{749A66EB-9BA2-FD8B-B4B0-D71FB6B1637A}"/>
              </a:ext>
            </a:extLst>
          </p:cNvPr>
          <p:cNvCxnSpPr>
            <a:cxnSpLocks/>
            <a:stCxn id="18" idx="3"/>
            <a:endCxn id="49" idx="3"/>
          </p:cNvCxnSpPr>
          <p:nvPr/>
        </p:nvCxnSpPr>
        <p:spPr>
          <a:xfrm flipV="1">
            <a:off x="2545840" y="4145920"/>
            <a:ext cx="1200871" cy="384543"/>
          </a:xfrm>
          <a:prstGeom prst="curvedConnector2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0AC318-4A24-5CEC-A224-61466932CCCD}"/>
              </a:ext>
            </a:extLst>
          </p:cNvPr>
          <p:cNvCxnSpPr>
            <a:cxnSpLocks/>
            <a:stCxn id="5" idx="1"/>
            <a:endCxn id="4" idx="4"/>
          </p:cNvCxnSpPr>
          <p:nvPr/>
        </p:nvCxnSpPr>
        <p:spPr>
          <a:xfrm flipV="1">
            <a:off x="6157251" y="4164125"/>
            <a:ext cx="0" cy="495229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B73C6FF-2D7E-7F55-6030-668A6A0FD7C0}"/>
              </a:ext>
            </a:extLst>
          </p:cNvPr>
          <p:cNvCxnSpPr>
            <a:cxnSpLocks/>
            <a:stCxn id="49" idx="4"/>
            <a:endCxn id="4" idx="2"/>
          </p:cNvCxnSpPr>
          <p:nvPr/>
        </p:nvCxnSpPr>
        <p:spPr>
          <a:xfrm>
            <a:off x="4470540" y="3487732"/>
            <a:ext cx="584201" cy="0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31A6BE8-91AD-16ED-E408-87968CBACF83}"/>
              </a:ext>
            </a:extLst>
          </p:cNvPr>
          <p:cNvCxnSpPr>
            <a:cxnSpLocks/>
            <a:stCxn id="9" idx="3"/>
            <a:endCxn id="4" idx="0"/>
          </p:cNvCxnSpPr>
          <p:nvPr/>
        </p:nvCxnSpPr>
        <p:spPr>
          <a:xfrm flipH="1">
            <a:off x="6157251" y="1945503"/>
            <a:ext cx="1931" cy="865835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7C4D555-05A1-01EC-132B-3E7E0D0AEBA3}"/>
              </a:ext>
            </a:extLst>
          </p:cNvPr>
          <p:cNvSpPr txBox="1"/>
          <p:nvPr/>
        </p:nvSpPr>
        <p:spPr>
          <a:xfrm>
            <a:off x="7024297" y="4136145"/>
            <a:ext cx="351675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Asset_balances_mv</a:t>
            </a:r>
            <a:endParaRPr lang="en-GB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wallet_balances_v</a:t>
            </a:r>
            <a:endParaRPr lang="en-GB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34290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000" dirty="0" err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customer_balances_mv</a:t>
            </a:r>
            <a:endParaRPr lang="en-GB" sz="10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tenant_balances_mv</a:t>
            </a:r>
            <a:endParaRPr lang="en-GB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0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safeguarding_all_account_balances_v</a:t>
            </a:r>
            <a:endParaRPr lang="en-GB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54657C6-FACA-02B7-24A0-B4845207393F}"/>
              </a:ext>
            </a:extLst>
          </p:cNvPr>
          <p:cNvSpPr/>
          <p:nvPr/>
        </p:nvSpPr>
        <p:spPr>
          <a:xfrm>
            <a:off x="340821" y="3854069"/>
            <a:ext cx="2205019" cy="1352787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External Bank Statements </a:t>
            </a: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(debits, credits, fees etc.)</a:t>
            </a:r>
          </a:p>
        </p:txBody>
      </p:sp>
      <p:sp>
        <p:nvSpPr>
          <p:cNvPr id="49" name="Can 48">
            <a:extLst>
              <a:ext uri="{FF2B5EF4-FFF2-40B4-BE49-F238E27FC236}">
                <a16:creationId xmlns:a16="http://schemas.microsoft.com/office/drawing/2014/main" id="{D35C65F3-64E0-4004-C7F2-0E140A3A1E2B}"/>
              </a:ext>
            </a:extLst>
          </p:cNvPr>
          <p:cNvSpPr/>
          <p:nvPr/>
        </p:nvSpPr>
        <p:spPr>
          <a:xfrm>
            <a:off x="3022881" y="2829543"/>
            <a:ext cx="1447659" cy="1316377"/>
          </a:xfrm>
          <a:prstGeom prst="can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External balance, Bank Statements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5304AC58-1901-32AB-E6D2-3EC7CB326C2C}"/>
              </a:ext>
            </a:extLst>
          </p:cNvPr>
          <p:cNvSpPr/>
          <p:nvPr/>
        </p:nvSpPr>
        <p:spPr>
          <a:xfrm>
            <a:off x="8437828" y="1350309"/>
            <a:ext cx="1554039" cy="916133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Recon UI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B1139C0-6574-2C00-78CA-7B0318A6AA8B}"/>
              </a:ext>
            </a:extLst>
          </p:cNvPr>
          <p:cNvCxnSpPr>
            <a:cxnSpLocks/>
            <a:stCxn id="60" idx="1"/>
            <a:endCxn id="55" idx="2"/>
          </p:cNvCxnSpPr>
          <p:nvPr/>
        </p:nvCxnSpPr>
        <p:spPr>
          <a:xfrm flipV="1">
            <a:off x="9214848" y="2266442"/>
            <a:ext cx="0" cy="563101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an 59">
            <a:extLst>
              <a:ext uri="{FF2B5EF4-FFF2-40B4-BE49-F238E27FC236}">
                <a16:creationId xmlns:a16="http://schemas.microsoft.com/office/drawing/2014/main" id="{59757982-477D-9B93-67AF-CF650B562224}"/>
              </a:ext>
            </a:extLst>
          </p:cNvPr>
          <p:cNvSpPr/>
          <p:nvPr/>
        </p:nvSpPr>
        <p:spPr>
          <a:xfrm>
            <a:off x="8491018" y="2829543"/>
            <a:ext cx="1447659" cy="1316377"/>
          </a:xfrm>
          <a:prstGeom prst="can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Reconciliation daily snapshots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F2D630D-DE19-1424-DFF0-1FE1AB05D6C2}"/>
              </a:ext>
            </a:extLst>
          </p:cNvPr>
          <p:cNvCxnSpPr>
            <a:cxnSpLocks/>
            <a:stCxn id="4" idx="6"/>
            <a:endCxn id="60" idx="2"/>
          </p:cNvCxnSpPr>
          <p:nvPr/>
        </p:nvCxnSpPr>
        <p:spPr>
          <a:xfrm>
            <a:off x="7259760" y="3487732"/>
            <a:ext cx="1231258" cy="0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CCE21512-424A-9066-6D64-165C64DDCA1F}"/>
              </a:ext>
            </a:extLst>
          </p:cNvPr>
          <p:cNvSpPr txBox="1"/>
          <p:nvPr/>
        </p:nvSpPr>
        <p:spPr>
          <a:xfrm>
            <a:off x="4994634" y="6391025"/>
            <a:ext cx="26065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1000"/>
              <a:tabLst>
                <a:tab pos="457200" algn="l"/>
              </a:tabLst>
            </a:pPr>
            <a:r>
              <a:rPr lang="en-GB" sz="10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Ledger journal lines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B8AD67E-A3D6-DAA4-0580-901504CCAB13}"/>
              </a:ext>
            </a:extLst>
          </p:cNvPr>
          <p:cNvCxnSpPr>
            <a:cxnSpLocks/>
          </p:cNvCxnSpPr>
          <p:nvPr/>
        </p:nvCxnSpPr>
        <p:spPr>
          <a:xfrm flipV="1">
            <a:off x="6157251" y="6019273"/>
            <a:ext cx="0" cy="415294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674DBD93-E4AB-3AE5-D491-70A8635F2388}"/>
              </a:ext>
            </a:extLst>
          </p:cNvPr>
          <p:cNvSpPr txBox="1"/>
          <p:nvPr/>
        </p:nvSpPr>
        <p:spPr>
          <a:xfrm>
            <a:off x="3022881" y="2119217"/>
            <a:ext cx="17937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 err="1"/>
              <a:t>external_bank_balances</a:t>
            </a:r>
            <a:r>
              <a:rPr lang="en-GB" sz="1000" dirty="0"/>
              <a:t> </a:t>
            </a:r>
            <a:r>
              <a:rPr lang="en-GB" sz="1000" dirty="0" err="1"/>
              <a:t>safeguarding_account_balances</a:t>
            </a:r>
            <a:endParaRPr lang="en-GB" sz="10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FDF7C89-8E41-D169-4DC1-F6E317B25AB6}"/>
              </a:ext>
            </a:extLst>
          </p:cNvPr>
          <p:cNvSpPr txBox="1"/>
          <p:nvPr/>
        </p:nvSpPr>
        <p:spPr>
          <a:xfrm>
            <a:off x="3026916" y="4520162"/>
            <a:ext cx="16898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 err="1"/>
              <a:t>bank_statements</a:t>
            </a:r>
            <a:endParaRPr lang="en-GB" sz="10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48A76CE-5ECF-A32F-4230-D27D8F0A0DE8}"/>
              </a:ext>
            </a:extLst>
          </p:cNvPr>
          <p:cNvSpPr txBox="1"/>
          <p:nvPr/>
        </p:nvSpPr>
        <p:spPr>
          <a:xfrm>
            <a:off x="341098" y="335362"/>
            <a:ext cx="91654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1000"/>
              <a:tabLst>
                <a:tab pos="457200" algn="l"/>
              </a:tabLst>
            </a:pPr>
            <a:r>
              <a:rPr lang="en-GB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Bank-&gt;Safeguarding-&gt;Tenant-&gt;Customer-&gt;Wallet-&gt;Asset-&gt;Transaction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FB88526-DD15-ABBD-696C-182F9FEAE89E}"/>
              </a:ext>
            </a:extLst>
          </p:cNvPr>
          <p:cNvSpPr txBox="1"/>
          <p:nvPr/>
        </p:nvSpPr>
        <p:spPr>
          <a:xfrm>
            <a:off x="9214847" y="2411223"/>
            <a:ext cx="21530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 err="1"/>
              <a:t>Safeguarding_daily_snapshot</a:t>
            </a:r>
            <a:endParaRPr lang="en-GB" sz="1000" dirty="0"/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48F6F906-4506-2F03-DD67-EAA42E69A949}"/>
              </a:ext>
            </a:extLst>
          </p:cNvPr>
          <p:cNvSpPr/>
          <p:nvPr/>
        </p:nvSpPr>
        <p:spPr>
          <a:xfrm>
            <a:off x="5435352" y="1045668"/>
            <a:ext cx="1447659" cy="899835"/>
          </a:xfrm>
          <a:prstGeom prst="can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Transactions</a:t>
            </a:r>
          </a:p>
        </p:txBody>
      </p:sp>
    </p:spTree>
    <p:extLst>
      <p:ext uri="{BB962C8B-B14F-4D97-AF65-F5344CB8AC3E}">
        <p14:creationId xmlns:p14="http://schemas.microsoft.com/office/powerpoint/2010/main" val="3133192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AE16D-1F7B-DDD7-C54F-19F62B970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FA649A-96DD-419C-4BD0-44CFF4786E56}"/>
              </a:ext>
            </a:extLst>
          </p:cNvPr>
          <p:cNvGraphicFramePr>
            <a:graphicFrameLocks noGrp="1"/>
          </p:cNvGraphicFramePr>
          <p:nvPr/>
        </p:nvGraphicFramePr>
        <p:xfrm>
          <a:off x="628347" y="964477"/>
          <a:ext cx="8674981" cy="4350906"/>
        </p:xfrm>
        <a:graphic>
          <a:graphicData uri="http://schemas.openxmlformats.org/drawingml/2006/table">
            <a:tbl>
              <a:tblPr/>
              <a:tblGrid>
                <a:gridCol w="2891660">
                  <a:extLst>
                    <a:ext uri="{9D8B030D-6E8A-4147-A177-3AD203B41FA5}">
                      <a16:colId xmlns:a16="http://schemas.microsoft.com/office/drawing/2014/main" val="3459620993"/>
                    </a:ext>
                  </a:extLst>
                </a:gridCol>
                <a:gridCol w="4504321">
                  <a:extLst>
                    <a:ext uri="{9D8B030D-6E8A-4147-A177-3AD203B41FA5}">
                      <a16:colId xmlns:a16="http://schemas.microsoft.com/office/drawing/2014/main" val="2659621696"/>
                    </a:ext>
                  </a:extLst>
                </a:gridCol>
                <a:gridCol w="1279000">
                  <a:extLst>
                    <a:ext uri="{9D8B030D-6E8A-4147-A177-3AD203B41FA5}">
                      <a16:colId xmlns:a16="http://schemas.microsoft.com/office/drawing/2014/main" val="4252019815"/>
                    </a:ext>
                  </a:extLst>
                </a:gridCol>
              </a:tblGrid>
              <a:tr h="296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Layer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Primary Table / View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Grain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274233"/>
                  </a:ext>
                </a:extLst>
              </a:tr>
              <a:tr h="519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Reconciliation Run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 err="1">
                          <a:latin typeface="Courier New" panose="02070309020205020404" pitchFamily="49" charset="0"/>
                        </a:rPr>
                        <a:t>reconciliation_runs</a:t>
                      </a:r>
                      <a:endParaRPr lang="en-GB" sz="1500" dirty="0"/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run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797147"/>
                  </a:ext>
                </a:extLst>
              </a:tr>
              <a:tr h="519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Safeguarding Overview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 err="1">
                          <a:latin typeface="Courier New" panose="02070309020205020404" pitchFamily="49" charset="0"/>
                        </a:rPr>
                        <a:t>safeguarding_daily_snapshot</a:t>
                      </a:r>
                      <a:endParaRPr lang="en-GB" sz="1500" dirty="0"/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date × tenant × currency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940529"/>
                  </a:ext>
                </a:extLst>
              </a:tr>
              <a:tr h="741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Tenant Breakdown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 err="1">
                          <a:latin typeface="Courier New" panose="02070309020205020404" pitchFamily="49" charset="0"/>
                        </a:rPr>
                        <a:t>safeguarding_tenant_snapshot_v</a:t>
                      </a:r>
                      <a:endParaRPr lang="en-GB" sz="1500" dirty="0"/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date × tenant × currency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618148"/>
                  </a:ext>
                </a:extLst>
              </a:tr>
              <a:tr h="519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Customer Breakdown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 err="1">
                          <a:latin typeface="Courier New" panose="02070309020205020404" pitchFamily="49" charset="0"/>
                        </a:rPr>
                        <a:t>customer_balances_eod_v</a:t>
                      </a:r>
                      <a:endParaRPr lang="en-GB" sz="1500" dirty="0"/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date × tenant × customer × currency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961396"/>
                  </a:ext>
                </a:extLst>
              </a:tr>
              <a:tr h="519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Wallet Breakdown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latin typeface="Courier New" panose="02070309020205020404" pitchFamily="49" charset="0"/>
                        </a:rPr>
                        <a:t>wallet_all_balances_mv</a:t>
                      </a:r>
                      <a:r>
                        <a:rPr lang="en-GB" sz="1500"/>
                        <a:t> (EOD)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wallet × currency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595807"/>
                  </a:ext>
                </a:extLst>
              </a:tr>
              <a:tr h="964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Transaction Matching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latin typeface="Courier New" panose="02070309020205020404" pitchFamily="49" charset="0"/>
                        </a:rPr>
                        <a:t>ledger_transactions_v</a:t>
                      </a:r>
                      <a:r>
                        <a:rPr lang="en-GB" sz="1500"/>
                        <a:t> + </a:t>
                      </a:r>
                      <a:r>
                        <a:rPr lang="en-GB" sz="1500">
                          <a:latin typeface="Courier New" panose="02070309020205020404" pitchFamily="49" charset="0"/>
                        </a:rPr>
                        <a:t>statement_activity</a:t>
                      </a:r>
                      <a:endParaRPr lang="en-GB" sz="1500"/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transaction</a:t>
                      </a:r>
                    </a:p>
                  </a:txBody>
                  <a:tcPr marL="74180" marR="74180" marT="37090" marB="370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194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273804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VTI">
  <a:themeElements>
    <a:clrScheme name="AnalogousFromRegularSeedRightStep">
      <a:dk1>
        <a:srgbClr val="000000"/>
      </a:dk1>
      <a:lt1>
        <a:srgbClr val="FFFFFF"/>
      </a:lt1>
      <a:dk2>
        <a:srgbClr val="1B2430"/>
      </a:dk2>
      <a:lt2>
        <a:srgbClr val="F3F0F0"/>
      </a:lt2>
      <a:accent1>
        <a:srgbClr val="45AFB0"/>
      </a:accent1>
      <a:accent2>
        <a:srgbClr val="3B7EB1"/>
      </a:accent2>
      <a:accent3>
        <a:srgbClr val="4D5FC3"/>
      </a:accent3>
      <a:accent4>
        <a:srgbClr val="5C3DB2"/>
      </a:accent4>
      <a:accent5>
        <a:srgbClr val="9D4DC3"/>
      </a:accent5>
      <a:accent6>
        <a:srgbClr val="B13BA6"/>
      </a:accent6>
      <a:hlink>
        <a:srgbClr val="BF413F"/>
      </a:hlink>
      <a:folHlink>
        <a:srgbClr val="7F7F7F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441240</TotalTime>
  <Words>374</Words>
  <Application>Microsoft Macintosh PowerPoint</Application>
  <PresentationFormat>Widescreen</PresentationFormat>
  <Paragraphs>90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Courier New</vt:lpstr>
      <vt:lpstr>Gill Sans Nova</vt:lpstr>
      <vt:lpstr>Symbol</vt:lpstr>
      <vt:lpstr>Times New Roman</vt:lpstr>
      <vt:lpstr>TropicVTI</vt:lpstr>
      <vt:lpstr>FCA requirements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payment process</dc:title>
  <dc:creator>Hamid Lahooti</dc:creator>
  <cp:lastModifiedBy>no-reply</cp:lastModifiedBy>
  <cp:revision>756</cp:revision>
  <cp:lastPrinted>2022-04-28T06:37:59Z</cp:lastPrinted>
  <dcterms:created xsi:type="dcterms:W3CDTF">2022-04-22T06:49:27Z</dcterms:created>
  <dcterms:modified xsi:type="dcterms:W3CDTF">2026-03-31T11:01:15Z</dcterms:modified>
</cp:coreProperties>
</file>